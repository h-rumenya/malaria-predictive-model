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5" r:id="rId13"/>
    <p:sldId id="270" r:id="rId14"/>
    <p:sldId id="271" r:id="rId15"/>
    <p:sldId id="267" r:id="rId16"/>
    <p:sldId id="268" r:id="rId17"/>
    <p:sldId id="276" r:id="rId18"/>
    <p:sldId id="273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2E98485-6621-4E7D-B7DA-95E6E80114D1}">
          <p14:sldIdLst>
            <p14:sldId id="256"/>
            <p14:sldId id="257"/>
            <p14:sldId id="258"/>
            <p14:sldId id="259"/>
          </p14:sldIdLst>
        </p14:section>
        <p14:section name="Exploratory Data Analysis" id="{4AFF5E4B-4640-4862-A538-38453EFBF8D4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Modelling" id="{32624C69-9103-4FA2-A1E9-00C0C10E1EEC}">
          <p14:sldIdLst>
            <p14:sldId id="269"/>
            <p14:sldId id="275"/>
            <p14:sldId id="270"/>
            <p14:sldId id="271"/>
            <p14:sldId id="267"/>
            <p14:sldId id="268"/>
          </p14:sldIdLst>
        </p14:section>
        <p14:section name="Deployment" id="{F173554F-BFF7-407F-A073-15B395ACE72D}">
          <p14:sldIdLst>
            <p14:sldId id="276"/>
            <p14:sldId id="273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929" autoAdjust="0"/>
  </p:normalViewPr>
  <p:slideViewPr>
    <p:cSldViewPr snapToGrid="0">
      <p:cViewPr varScale="1">
        <p:scale>
          <a:sx n="59" d="100"/>
          <a:sy n="59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9DAF13-0B1E-45B3-88B6-54235EF524D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9D09DE6-0CAB-4879-A0D2-CE3190AE2B62}">
      <dgm:prSet/>
      <dgm:spPr/>
      <dgm:t>
        <a:bodyPr/>
        <a:lstStyle/>
        <a:p>
          <a:r>
            <a:rPr lang="en-US" b="1"/>
            <a:t>Malaria remains a major public health challenge in Kenya</a:t>
          </a:r>
          <a:r>
            <a:rPr lang="en-US"/>
            <a:t>, with 10 counties accounting for ~95% of the national burden—Turkana among the highest.</a:t>
          </a:r>
        </a:p>
      </dgm:t>
    </dgm:pt>
    <dgm:pt modelId="{5D729DA7-FBDB-48B1-9A99-BB44BB2AFB54}" type="parTrans" cxnId="{41EF8919-8C8B-45A0-98FA-8765D1B0D6A3}">
      <dgm:prSet/>
      <dgm:spPr/>
      <dgm:t>
        <a:bodyPr/>
        <a:lstStyle/>
        <a:p>
          <a:endParaRPr lang="en-US"/>
        </a:p>
      </dgm:t>
    </dgm:pt>
    <dgm:pt modelId="{417838C7-6EDD-4EA0-9CF3-1692F3EDAC6C}" type="sibTrans" cxnId="{41EF8919-8C8B-45A0-98FA-8765D1B0D6A3}">
      <dgm:prSet/>
      <dgm:spPr/>
      <dgm:t>
        <a:bodyPr/>
        <a:lstStyle/>
        <a:p>
          <a:endParaRPr lang="en-US"/>
        </a:p>
      </dgm:t>
    </dgm:pt>
    <dgm:pt modelId="{1E3B629E-85B0-4414-898F-1DCB38AB8A0D}">
      <dgm:prSet/>
      <dgm:spPr/>
      <dgm:t>
        <a:bodyPr/>
        <a:lstStyle/>
        <a:p>
          <a:r>
            <a:rPr lang="en-US" b="1" dirty="0"/>
            <a:t>Kakuma Ward alone manages over 65,000 malaria cases annually</a:t>
          </a:r>
          <a:r>
            <a:rPr lang="en-US" dirty="0"/>
            <a:t>, with increasingly unpredictable seasonal peaks due to climate variability.</a:t>
          </a:r>
        </a:p>
      </dgm:t>
    </dgm:pt>
    <dgm:pt modelId="{DE736A77-A0ED-45F4-8B03-640D2D1C9A76}" type="parTrans" cxnId="{DB66C2E1-60C7-4B2D-9794-6C3AB6C420BD}">
      <dgm:prSet/>
      <dgm:spPr/>
      <dgm:t>
        <a:bodyPr/>
        <a:lstStyle/>
        <a:p>
          <a:endParaRPr lang="en-US"/>
        </a:p>
      </dgm:t>
    </dgm:pt>
    <dgm:pt modelId="{80ADEBD6-0284-4946-8166-9A450D505DA1}" type="sibTrans" cxnId="{DB66C2E1-60C7-4B2D-9794-6C3AB6C420BD}">
      <dgm:prSet/>
      <dgm:spPr/>
      <dgm:t>
        <a:bodyPr/>
        <a:lstStyle/>
        <a:p>
          <a:endParaRPr lang="en-US"/>
        </a:p>
      </dgm:t>
    </dgm:pt>
    <dgm:pt modelId="{B3426904-C2E6-4235-A0CC-6C54D5542542}">
      <dgm:prSet/>
      <dgm:spPr/>
      <dgm:t>
        <a:bodyPr/>
        <a:lstStyle/>
        <a:p>
          <a:r>
            <a:rPr lang="en-US" b="1" dirty="0"/>
            <a:t>Reactive responses in ASAL regions lead to stock-outs, Health Care Worker  burnout, and excess morbidity</a:t>
          </a:r>
          <a:r>
            <a:rPr lang="en-US" dirty="0"/>
            <a:t>, especially among pregnant women and children.</a:t>
          </a:r>
        </a:p>
      </dgm:t>
    </dgm:pt>
    <dgm:pt modelId="{4693FDFD-A393-4DBC-9E51-A8BFDB5CC612}" type="parTrans" cxnId="{E37E262E-1369-47AC-8217-C3021F932F94}">
      <dgm:prSet/>
      <dgm:spPr/>
      <dgm:t>
        <a:bodyPr/>
        <a:lstStyle/>
        <a:p>
          <a:endParaRPr lang="en-US"/>
        </a:p>
      </dgm:t>
    </dgm:pt>
    <dgm:pt modelId="{7046D00A-F3F3-4292-BE54-EBD41C2BF37B}" type="sibTrans" cxnId="{E37E262E-1369-47AC-8217-C3021F932F94}">
      <dgm:prSet/>
      <dgm:spPr/>
      <dgm:t>
        <a:bodyPr/>
        <a:lstStyle/>
        <a:p>
          <a:endParaRPr lang="en-US"/>
        </a:p>
      </dgm:t>
    </dgm:pt>
    <dgm:pt modelId="{AD5C610F-FCAE-4EB4-AACF-06053B004CB2}">
      <dgm:prSet/>
      <dgm:spPr/>
      <dgm:t>
        <a:bodyPr/>
        <a:lstStyle/>
        <a:p>
          <a:r>
            <a:rPr lang="en-US"/>
            <a:t>This capstone proposes a </a:t>
          </a:r>
          <a:r>
            <a:rPr lang="en-US" b="1"/>
            <a:t>climate-informed malaria early warning and response platform</a:t>
          </a:r>
          <a:r>
            <a:rPr lang="en-US"/>
            <a:t>, using weather data and historical trends to forecast outbreaks and guide timely interventions.</a:t>
          </a:r>
        </a:p>
      </dgm:t>
    </dgm:pt>
    <dgm:pt modelId="{BAC3D407-865E-4DCD-A502-6C98BAA075C9}" type="parTrans" cxnId="{B6DD528C-6460-4779-9E00-FDA0E983F830}">
      <dgm:prSet/>
      <dgm:spPr/>
      <dgm:t>
        <a:bodyPr/>
        <a:lstStyle/>
        <a:p>
          <a:endParaRPr lang="en-US"/>
        </a:p>
      </dgm:t>
    </dgm:pt>
    <dgm:pt modelId="{06909476-16A2-4A30-8C98-3DE65BA020AA}" type="sibTrans" cxnId="{B6DD528C-6460-4779-9E00-FDA0E983F830}">
      <dgm:prSet/>
      <dgm:spPr/>
      <dgm:t>
        <a:bodyPr/>
        <a:lstStyle/>
        <a:p>
          <a:endParaRPr lang="en-US"/>
        </a:p>
      </dgm:t>
    </dgm:pt>
    <dgm:pt modelId="{BF39EB57-93DB-4914-94F2-89D2AAEBE5B5}" type="pres">
      <dgm:prSet presAssocID="{D69DAF13-0B1E-45B3-88B6-54235EF524D9}" presName="outerComposite" presStyleCnt="0">
        <dgm:presLayoutVars>
          <dgm:chMax val="5"/>
          <dgm:dir/>
          <dgm:resizeHandles val="exact"/>
        </dgm:presLayoutVars>
      </dgm:prSet>
      <dgm:spPr/>
    </dgm:pt>
    <dgm:pt modelId="{764D5958-F6BD-4BDA-AC5E-02790BC2650D}" type="pres">
      <dgm:prSet presAssocID="{D69DAF13-0B1E-45B3-88B6-54235EF524D9}" presName="dummyMaxCanvas" presStyleCnt="0">
        <dgm:presLayoutVars/>
      </dgm:prSet>
      <dgm:spPr/>
    </dgm:pt>
    <dgm:pt modelId="{6D3B1DDA-1EE2-49B0-B1CB-BA25B73000A7}" type="pres">
      <dgm:prSet presAssocID="{D69DAF13-0B1E-45B3-88B6-54235EF524D9}" presName="FourNodes_1" presStyleLbl="node1" presStyleIdx="0" presStyleCnt="4">
        <dgm:presLayoutVars>
          <dgm:bulletEnabled val="1"/>
        </dgm:presLayoutVars>
      </dgm:prSet>
      <dgm:spPr/>
    </dgm:pt>
    <dgm:pt modelId="{2A22D874-FECB-450D-947B-C6168A85C133}" type="pres">
      <dgm:prSet presAssocID="{D69DAF13-0B1E-45B3-88B6-54235EF524D9}" presName="FourNodes_2" presStyleLbl="node1" presStyleIdx="1" presStyleCnt="4">
        <dgm:presLayoutVars>
          <dgm:bulletEnabled val="1"/>
        </dgm:presLayoutVars>
      </dgm:prSet>
      <dgm:spPr/>
    </dgm:pt>
    <dgm:pt modelId="{ADF0C097-35DC-4144-9CE1-1D6BFC4BD751}" type="pres">
      <dgm:prSet presAssocID="{D69DAF13-0B1E-45B3-88B6-54235EF524D9}" presName="FourNodes_3" presStyleLbl="node1" presStyleIdx="2" presStyleCnt="4">
        <dgm:presLayoutVars>
          <dgm:bulletEnabled val="1"/>
        </dgm:presLayoutVars>
      </dgm:prSet>
      <dgm:spPr/>
    </dgm:pt>
    <dgm:pt modelId="{23650A6C-6088-4870-9098-957EEC4315DB}" type="pres">
      <dgm:prSet presAssocID="{D69DAF13-0B1E-45B3-88B6-54235EF524D9}" presName="FourNodes_4" presStyleLbl="node1" presStyleIdx="3" presStyleCnt="4">
        <dgm:presLayoutVars>
          <dgm:bulletEnabled val="1"/>
        </dgm:presLayoutVars>
      </dgm:prSet>
      <dgm:spPr/>
    </dgm:pt>
    <dgm:pt modelId="{DD65242C-D1C5-4C15-AC5A-EE430E411307}" type="pres">
      <dgm:prSet presAssocID="{D69DAF13-0B1E-45B3-88B6-54235EF524D9}" presName="FourConn_1-2" presStyleLbl="fgAccFollowNode1" presStyleIdx="0" presStyleCnt="3">
        <dgm:presLayoutVars>
          <dgm:bulletEnabled val="1"/>
        </dgm:presLayoutVars>
      </dgm:prSet>
      <dgm:spPr/>
    </dgm:pt>
    <dgm:pt modelId="{27AE3511-BF70-42F1-9C40-3A885D560530}" type="pres">
      <dgm:prSet presAssocID="{D69DAF13-0B1E-45B3-88B6-54235EF524D9}" presName="FourConn_2-3" presStyleLbl="fgAccFollowNode1" presStyleIdx="1" presStyleCnt="3">
        <dgm:presLayoutVars>
          <dgm:bulletEnabled val="1"/>
        </dgm:presLayoutVars>
      </dgm:prSet>
      <dgm:spPr/>
    </dgm:pt>
    <dgm:pt modelId="{FD61852C-8C27-453C-A55F-6062B6F504BE}" type="pres">
      <dgm:prSet presAssocID="{D69DAF13-0B1E-45B3-88B6-54235EF524D9}" presName="FourConn_3-4" presStyleLbl="fgAccFollowNode1" presStyleIdx="2" presStyleCnt="3">
        <dgm:presLayoutVars>
          <dgm:bulletEnabled val="1"/>
        </dgm:presLayoutVars>
      </dgm:prSet>
      <dgm:spPr/>
    </dgm:pt>
    <dgm:pt modelId="{069FAC16-9BD2-4B95-9719-A63C9166DA81}" type="pres">
      <dgm:prSet presAssocID="{D69DAF13-0B1E-45B3-88B6-54235EF524D9}" presName="FourNodes_1_text" presStyleLbl="node1" presStyleIdx="3" presStyleCnt="4">
        <dgm:presLayoutVars>
          <dgm:bulletEnabled val="1"/>
        </dgm:presLayoutVars>
      </dgm:prSet>
      <dgm:spPr/>
    </dgm:pt>
    <dgm:pt modelId="{BC9FE62A-951D-4650-9F68-F80F413F65CE}" type="pres">
      <dgm:prSet presAssocID="{D69DAF13-0B1E-45B3-88B6-54235EF524D9}" presName="FourNodes_2_text" presStyleLbl="node1" presStyleIdx="3" presStyleCnt="4">
        <dgm:presLayoutVars>
          <dgm:bulletEnabled val="1"/>
        </dgm:presLayoutVars>
      </dgm:prSet>
      <dgm:spPr/>
    </dgm:pt>
    <dgm:pt modelId="{E3F03EFB-53F8-4BF2-8626-E8EC798C5217}" type="pres">
      <dgm:prSet presAssocID="{D69DAF13-0B1E-45B3-88B6-54235EF524D9}" presName="FourNodes_3_text" presStyleLbl="node1" presStyleIdx="3" presStyleCnt="4">
        <dgm:presLayoutVars>
          <dgm:bulletEnabled val="1"/>
        </dgm:presLayoutVars>
      </dgm:prSet>
      <dgm:spPr/>
    </dgm:pt>
    <dgm:pt modelId="{014201BD-ECA2-4F41-AF17-0C4CCDD764DC}" type="pres">
      <dgm:prSet presAssocID="{D69DAF13-0B1E-45B3-88B6-54235EF524D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BF66A0F-EE11-40AA-98ED-438658A603DB}" type="presOf" srcId="{1E3B629E-85B0-4414-898F-1DCB38AB8A0D}" destId="{BC9FE62A-951D-4650-9F68-F80F413F65CE}" srcOrd="1" destOrd="0" presId="urn:microsoft.com/office/officeart/2005/8/layout/vProcess5"/>
    <dgm:cxn modelId="{FCF90D16-C1C1-474E-9959-16A60F6E3C57}" type="presOf" srcId="{1E3B629E-85B0-4414-898F-1DCB38AB8A0D}" destId="{2A22D874-FECB-450D-947B-C6168A85C133}" srcOrd="0" destOrd="0" presId="urn:microsoft.com/office/officeart/2005/8/layout/vProcess5"/>
    <dgm:cxn modelId="{41EF8919-8C8B-45A0-98FA-8765D1B0D6A3}" srcId="{D69DAF13-0B1E-45B3-88B6-54235EF524D9}" destId="{69D09DE6-0CAB-4879-A0D2-CE3190AE2B62}" srcOrd="0" destOrd="0" parTransId="{5D729DA7-FBDB-48B1-9A99-BB44BB2AFB54}" sibTransId="{417838C7-6EDD-4EA0-9CF3-1692F3EDAC6C}"/>
    <dgm:cxn modelId="{E37E262E-1369-47AC-8217-C3021F932F94}" srcId="{D69DAF13-0B1E-45B3-88B6-54235EF524D9}" destId="{B3426904-C2E6-4235-A0CC-6C54D5542542}" srcOrd="2" destOrd="0" parTransId="{4693FDFD-A393-4DBC-9E51-A8BFDB5CC612}" sibTransId="{7046D00A-F3F3-4292-BE54-EBD41C2BF37B}"/>
    <dgm:cxn modelId="{9695803E-622D-4017-B68B-006D48E8E114}" type="presOf" srcId="{B3426904-C2E6-4235-A0CC-6C54D5542542}" destId="{E3F03EFB-53F8-4BF2-8626-E8EC798C5217}" srcOrd="1" destOrd="0" presId="urn:microsoft.com/office/officeart/2005/8/layout/vProcess5"/>
    <dgm:cxn modelId="{44353262-A45F-45D2-A8B2-5A6FB16AD87E}" type="presOf" srcId="{D69DAF13-0B1E-45B3-88B6-54235EF524D9}" destId="{BF39EB57-93DB-4914-94F2-89D2AAEBE5B5}" srcOrd="0" destOrd="0" presId="urn:microsoft.com/office/officeart/2005/8/layout/vProcess5"/>
    <dgm:cxn modelId="{1B0ECE64-CBE5-418D-BDEF-52734054DE1C}" type="presOf" srcId="{417838C7-6EDD-4EA0-9CF3-1692F3EDAC6C}" destId="{DD65242C-D1C5-4C15-AC5A-EE430E411307}" srcOrd="0" destOrd="0" presId="urn:microsoft.com/office/officeart/2005/8/layout/vProcess5"/>
    <dgm:cxn modelId="{B6DD528C-6460-4779-9E00-FDA0E983F830}" srcId="{D69DAF13-0B1E-45B3-88B6-54235EF524D9}" destId="{AD5C610F-FCAE-4EB4-AACF-06053B004CB2}" srcOrd="3" destOrd="0" parTransId="{BAC3D407-865E-4DCD-A502-6C98BAA075C9}" sibTransId="{06909476-16A2-4A30-8C98-3DE65BA020AA}"/>
    <dgm:cxn modelId="{D05631A7-7936-41D4-B355-D9B16565F6AF}" type="presOf" srcId="{7046D00A-F3F3-4292-BE54-EBD41C2BF37B}" destId="{FD61852C-8C27-453C-A55F-6062B6F504BE}" srcOrd="0" destOrd="0" presId="urn:microsoft.com/office/officeart/2005/8/layout/vProcess5"/>
    <dgm:cxn modelId="{BEF3D8A8-0215-4697-B588-E7674CEEFEB1}" type="presOf" srcId="{B3426904-C2E6-4235-A0CC-6C54D5542542}" destId="{ADF0C097-35DC-4144-9CE1-1D6BFC4BD751}" srcOrd="0" destOrd="0" presId="urn:microsoft.com/office/officeart/2005/8/layout/vProcess5"/>
    <dgm:cxn modelId="{66B2B9AB-A050-4BEB-902C-42F6D9A23E3A}" type="presOf" srcId="{AD5C610F-FCAE-4EB4-AACF-06053B004CB2}" destId="{23650A6C-6088-4870-9098-957EEC4315DB}" srcOrd="0" destOrd="0" presId="urn:microsoft.com/office/officeart/2005/8/layout/vProcess5"/>
    <dgm:cxn modelId="{6A5CB1B8-FFFA-4665-9040-DCF728AA05E9}" type="presOf" srcId="{69D09DE6-0CAB-4879-A0D2-CE3190AE2B62}" destId="{6D3B1DDA-1EE2-49B0-B1CB-BA25B73000A7}" srcOrd="0" destOrd="0" presId="urn:microsoft.com/office/officeart/2005/8/layout/vProcess5"/>
    <dgm:cxn modelId="{66978ECD-DF47-4B57-BDF3-25CFB26EC2C8}" type="presOf" srcId="{80ADEBD6-0284-4946-8166-9A450D505DA1}" destId="{27AE3511-BF70-42F1-9C40-3A885D560530}" srcOrd="0" destOrd="0" presId="urn:microsoft.com/office/officeart/2005/8/layout/vProcess5"/>
    <dgm:cxn modelId="{CE0018D9-C27F-492F-9273-97FCF34D4243}" type="presOf" srcId="{AD5C610F-FCAE-4EB4-AACF-06053B004CB2}" destId="{014201BD-ECA2-4F41-AF17-0C4CCDD764DC}" srcOrd="1" destOrd="0" presId="urn:microsoft.com/office/officeart/2005/8/layout/vProcess5"/>
    <dgm:cxn modelId="{DB66C2E1-60C7-4B2D-9794-6C3AB6C420BD}" srcId="{D69DAF13-0B1E-45B3-88B6-54235EF524D9}" destId="{1E3B629E-85B0-4414-898F-1DCB38AB8A0D}" srcOrd="1" destOrd="0" parTransId="{DE736A77-A0ED-45F4-8B03-640D2D1C9A76}" sibTransId="{80ADEBD6-0284-4946-8166-9A450D505DA1}"/>
    <dgm:cxn modelId="{85BFB2F1-3168-4213-BD72-06AF2EED5C9B}" type="presOf" srcId="{69D09DE6-0CAB-4879-A0D2-CE3190AE2B62}" destId="{069FAC16-9BD2-4B95-9719-A63C9166DA81}" srcOrd="1" destOrd="0" presId="urn:microsoft.com/office/officeart/2005/8/layout/vProcess5"/>
    <dgm:cxn modelId="{C77A8EDB-20D5-4A55-8B16-817F07EF5372}" type="presParOf" srcId="{BF39EB57-93DB-4914-94F2-89D2AAEBE5B5}" destId="{764D5958-F6BD-4BDA-AC5E-02790BC2650D}" srcOrd="0" destOrd="0" presId="urn:microsoft.com/office/officeart/2005/8/layout/vProcess5"/>
    <dgm:cxn modelId="{4E47447A-BB95-472B-A685-EC96CED10709}" type="presParOf" srcId="{BF39EB57-93DB-4914-94F2-89D2AAEBE5B5}" destId="{6D3B1DDA-1EE2-49B0-B1CB-BA25B73000A7}" srcOrd="1" destOrd="0" presId="urn:microsoft.com/office/officeart/2005/8/layout/vProcess5"/>
    <dgm:cxn modelId="{BBE54607-2C40-4E9F-8F2B-B994054B6484}" type="presParOf" srcId="{BF39EB57-93DB-4914-94F2-89D2AAEBE5B5}" destId="{2A22D874-FECB-450D-947B-C6168A85C133}" srcOrd="2" destOrd="0" presId="urn:microsoft.com/office/officeart/2005/8/layout/vProcess5"/>
    <dgm:cxn modelId="{C5691915-5B71-49BB-81E4-669D4257EC70}" type="presParOf" srcId="{BF39EB57-93DB-4914-94F2-89D2AAEBE5B5}" destId="{ADF0C097-35DC-4144-9CE1-1D6BFC4BD751}" srcOrd="3" destOrd="0" presId="urn:microsoft.com/office/officeart/2005/8/layout/vProcess5"/>
    <dgm:cxn modelId="{D8E2FE10-34EF-4FB2-8453-801370488C27}" type="presParOf" srcId="{BF39EB57-93DB-4914-94F2-89D2AAEBE5B5}" destId="{23650A6C-6088-4870-9098-957EEC4315DB}" srcOrd="4" destOrd="0" presId="urn:microsoft.com/office/officeart/2005/8/layout/vProcess5"/>
    <dgm:cxn modelId="{16260755-A22F-471A-ABB7-4F8D7D8BE0B5}" type="presParOf" srcId="{BF39EB57-93DB-4914-94F2-89D2AAEBE5B5}" destId="{DD65242C-D1C5-4C15-AC5A-EE430E411307}" srcOrd="5" destOrd="0" presId="urn:microsoft.com/office/officeart/2005/8/layout/vProcess5"/>
    <dgm:cxn modelId="{3C39D7E8-D6B7-478C-AC8F-1A9F5EB754DB}" type="presParOf" srcId="{BF39EB57-93DB-4914-94F2-89D2AAEBE5B5}" destId="{27AE3511-BF70-42F1-9C40-3A885D560530}" srcOrd="6" destOrd="0" presId="urn:microsoft.com/office/officeart/2005/8/layout/vProcess5"/>
    <dgm:cxn modelId="{3813FEE9-4D96-46D5-87B6-6D61BFFF1E96}" type="presParOf" srcId="{BF39EB57-93DB-4914-94F2-89D2AAEBE5B5}" destId="{FD61852C-8C27-453C-A55F-6062B6F504BE}" srcOrd="7" destOrd="0" presId="urn:microsoft.com/office/officeart/2005/8/layout/vProcess5"/>
    <dgm:cxn modelId="{D0A66D0F-9E4C-414D-A7DC-E0BA0E10ECF1}" type="presParOf" srcId="{BF39EB57-93DB-4914-94F2-89D2AAEBE5B5}" destId="{069FAC16-9BD2-4B95-9719-A63C9166DA81}" srcOrd="8" destOrd="0" presId="urn:microsoft.com/office/officeart/2005/8/layout/vProcess5"/>
    <dgm:cxn modelId="{9B1E79C0-F48D-448E-BE2B-7175CEEE2AD0}" type="presParOf" srcId="{BF39EB57-93DB-4914-94F2-89D2AAEBE5B5}" destId="{BC9FE62A-951D-4650-9F68-F80F413F65CE}" srcOrd="9" destOrd="0" presId="urn:microsoft.com/office/officeart/2005/8/layout/vProcess5"/>
    <dgm:cxn modelId="{0352121A-D37E-4274-833D-60C43CFCA1F0}" type="presParOf" srcId="{BF39EB57-93DB-4914-94F2-89D2AAEBE5B5}" destId="{E3F03EFB-53F8-4BF2-8626-E8EC798C5217}" srcOrd="10" destOrd="0" presId="urn:microsoft.com/office/officeart/2005/8/layout/vProcess5"/>
    <dgm:cxn modelId="{CF51D383-54F7-4D6B-A3B1-46273288877D}" type="presParOf" srcId="{BF39EB57-93DB-4914-94F2-89D2AAEBE5B5}" destId="{014201BD-ECA2-4F41-AF17-0C4CCDD764D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828F0B-0E71-4CE3-90A3-0AF76ED35D9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B018028-59DD-4AB1-9478-DAEA5BB33FD2}">
      <dgm:prSet custT="1"/>
      <dgm:spPr/>
      <dgm:t>
        <a:bodyPr/>
        <a:lstStyle/>
        <a:p>
          <a:r>
            <a:rPr lang="en-US" sz="1100" b="1" dirty="0"/>
            <a:t>Preprocessing Workflow</a:t>
          </a:r>
          <a:br>
            <a:rPr lang="en-US" sz="1100" dirty="0"/>
          </a:br>
          <a:r>
            <a:rPr lang="en-US" sz="1100" dirty="0"/>
            <a:t>Temporal alignment by week/location; impute rare gaps with flags; apply log1p transform;,, and residuals; engineer lags and rolling statistics.</a:t>
          </a:r>
        </a:p>
      </dgm:t>
    </dgm:pt>
    <dgm:pt modelId="{756C3E4C-C656-4DD5-A6DE-49A263F5F3FC}" type="parTrans" cxnId="{420FB5F9-1369-4B3A-A31B-B5DE0497E9BC}">
      <dgm:prSet/>
      <dgm:spPr/>
      <dgm:t>
        <a:bodyPr/>
        <a:lstStyle/>
        <a:p>
          <a:endParaRPr lang="en-US" sz="1800"/>
        </a:p>
      </dgm:t>
    </dgm:pt>
    <dgm:pt modelId="{B898246B-533D-428E-A73F-925AE34EA90F}" type="sibTrans" cxnId="{420FB5F9-1369-4B3A-A31B-B5DE0497E9BC}">
      <dgm:prSet/>
      <dgm:spPr/>
      <dgm:t>
        <a:bodyPr/>
        <a:lstStyle/>
        <a:p>
          <a:endParaRPr lang="en-US" sz="1800"/>
        </a:p>
      </dgm:t>
    </dgm:pt>
    <dgm:pt modelId="{2CE0C789-BADD-4041-A490-F5EE5F70C9EA}">
      <dgm:prSet custT="1"/>
      <dgm:spPr/>
      <dgm:t>
        <a:bodyPr/>
        <a:lstStyle/>
        <a:p>
          <a:r>
            <a:rPr lang="en-US" sz="1100" b="1" dirty="0"/>
            <a:t>Cleaning Challenges &amp; Solutions</a:t>
          </a:r>
          <a:br>
            <a:rPr lang="en-US" sz="1100" dirty="0"/>
          </a:br>
          <a:r>
            <a:rPr lang="en-US" sz="1100" dirty="0"/>
            <a:t>Handle reporting backfills, outliers, heteroscedasticity, and multicollinearity, multiplicative and additive decomposition, regularization, </a:t>
          </a:r>
        </a:p>
      </dgm:t>
    </dgm:pt>
    <dgm:pt modelId="{404B84F4-9B1E-4EEF-BD27-65C2EBA8FD35}" type="parTrans" cxnId="{8E1379D3-E587-40B1-8265-EF922D271417}">
      <dgm:prSet/>
      <dgm:spPr/>
      <dgm:t>
        <a:bodyPr/>
        <a:lstStyle/>
        <a:p>
          <a:endParaRPr lang="en-US" sz="1800"/>
        </a:p>
      </dgm:t>
    </dgm:pt>
    <dgm:pt modelId="{8BFC8B79-40EF-4E49-B8A3-A78FD73B9F1D}" type="sibTrans" cxnId="{8E1379D3-E587-40B1-8265-EF922D271417}">
      <dgm:prSet/>
      <dgm:spPr/>
      <dgm:t>
        <a:bodyPr/>
        <a:lstStyle/>
        <a:p>
          <a:endParaRPr lang="en-US" sz="1800"/>
        </a:p>
      </dgm:t>
    </dgm:pt>
    <dgm:pt modelId="{B1BCA298-4399-4452-846D-6B08648ECFAE}">
      <dgm:prSet custT="1"/>
      <dgm:spPr/>
      <dgm:t>
        <a:bodyPr/>
        <a:lstStyle/>
        <a:p>
          <a:r>
            <a:rPr lang="en-US" sz="1100" b="1"/>
            <a:t>Minimum Dataset Size</a:t>
          </a:r>
          <a:br>
            <a:rPr lang="en-US" sz="1100"/>
          </a:br>
          <a:r>
            <a:rPr lang="en-US" sz="1100"/>
            <a:t>At least </a:t>
          </a:r>
          <a:r>
            <a:rPr lang="en-US" sz="1100" b="1"/>
            <a:t>300 weekly observations</a:t>
          </a:r>
          <a:r>
            <a:rPr lang="en-US" sz="1100"/>
            <a:t> post-cleaning.</a:t>
          </a:r>
        </a:p>
      </dgm:t>
    </dgm:pt>
    <dgm:pt modelId="{D0177629-3AC4-4C12-BB57-F1D49C2F77D9}" type="parTrans" cxnId="{D00CCFE1-B32E-4F9D-BFA3-7F4B0CB17D43}">
      <dgm:prSet/>
      <dgm:spPr/>
      <dgm:t>
        <a:bodyPr/>
        <a:lstStyle/>
        <a:p>
          <a:endParaRPr lang="en-US" sz="1800"/>
        </a:p>
      </dgm:t>
    </dgm:pt>
    <dgm:pt modelId="{168EBB9C-4B28-4F0B-9304-489E8415C0A4}" type="sibTrans" cxnId="{D00CCFE1-B32E-4F9D-BFA3-7F4B0CB17D43}">
      <dgm:prSet/>
      <dgm:spPr/>
      <dgm:t>
        <a:bodyPr/>
        <a:lstStyle/>
        <a:p>
          <a:endParaRPr lang="en-US" sz="1800"/>
        </a:p>
      </dgm:t>
    </dgm:pt>
    <dgm:pt modelId="{076F55EA-05C0-4D29-9CC3-35BF74AE1845}">
      <dgm:prSet custT="1"/>
      <dgm:spPr/>
      <dgm:t>
        <a:bodyPr/>
        <a:lstStyle/>
        <a:p>
          <a:r>
            <a:rPr lang="en-US" sz="1100" b="1"/>
            <a:t>Visualization Techniques</a:t>
          </a:r>
          <a:br>
            <a:rPr lang="en-US" sz="1100"/>
          </a:br>
          <a:r>
            <a:rPr lang="en-US" sz="1100"/>
            <a:t>Rolling means, seasonal profiles (mean ± SD), anomaly heatmaps (z-scores), ACF/PACF plots, lagged correlations, and STL decomposition panels.</a:t>
          </a:r>
        </a:p>
      </dgm:t>
    </dgm:pt>
    <dgm:pt modelId="{4C8F6C64-DF4F-4E13-948B-E2002E7A909F}" type="parTrans" cxnId="{2B3E2D1B-56A0-4D95-AC1D-CBD80FCFDE07}">
      <dgm:prSet/>
      <dgm:spPr/>
      <dgm:t>
        <a:bodyPr/>
        <a:lstStyle/>
        <a:p>
          <a:endParaRPr lang="en-US" sz="1800"/>
        </a:p>
      </dgm:t>
    </dgm:pt>
    <dgm:pt modelId="{832F3322-F7C5-4A28-A0C0-51BAD29AB684}" type="sibTrans" cxnId="{2B3E2D1B-56A0-4D95-AC1D-CBD80FCFDE07}">
      <dgm:prSet/>
      <dgm:spPr/>
      <dgm:t>
        <a:bodyPr/>
        <a:lstStyle/>
        <a:p>
          <a:endParaRPr lang="en-US" sz="1800"/>
        </a:p>
      </dgm:t>
    </dgm:pt>
    <dgm:pt modelId="{8BBF9E0B-065B-46EF-98EE-2266CF392C7B}" type="pres">
      <dgm:prSet presAssocID="{A2828F0B-0E71-4CE3-90A3-0AF76ED35D9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4937622-8241-43A5-B81B-9F9A8ECFC1F3}" type="pres">
      <dgm:prSet presAssocID="{FB018028-59DD-4AB1-9478-DAEA5BB33FD2}" presName="hierRoot1" presStyleCnt="0"/>
      <dgm:spPr/>
    </dgm:pt>
    <dgm:pt modelId="{AB9A160B-84C4-49C9-823B-782F020F3348}" type="pres">
      <dgm:prSet presAssocID="{FB018028-59DD-4AB1-9478-DAEA5BB33FD2}" presName="composite" presStyleCnt="0"/>
      <dgm:spPr/>
    </dgm:pt>
    <dgm:pt modelId="{4C5FF7CC-570D-4210-AFF4-4A90B7FEFC51}" type="pres">
      <dgm:prSet presAssocID="{FB018028-59DD-4AB1-9478-DAEA5BB33FD2}" presName="background" presStyleLbl="node0" presStyleIdx="0" presStyleCnt="4"/>
      <dgm:spPr/>
    </dgm:pt>
    <dgm:pt modelId="{89ACEA34-F427-4352-A38F-DA1478CC01D4}" type="pres">
      <dgm:prSet presAssocID="{FB018028-59DD-4AB1-9478-DAEA5BB33FD2}" presName="text" presStyleLbl="fgAcc0" presStyleIdx="0" presStyleCnt="4">
        <dgm:presLayoutVars>
          <dgm:chPref val="3"/>
        </dgm:presLayoutVars>
      </dgm:prSet>
      <dgm:spPr/>
    </dgm:pt>
    <dgm:pt modelId="{193F71CE-AC54-4441-AEC9-E6A371D3FA78}" type="pres">
      <dgm:prSet presAssocID="{FB018028-59DD-4AB1-9478-DAEA5BB33FD2}" presName="hierChild2" presStyleCnt="0"/>
      <dgm:spPr/>
    </dgm:pt>
    <dgm:pt modelId="{59CB64D1-286D-47C8-8007-84247519BC53}" type="pres">
      <dgm:prSet presAssocID="{2CE0C789-BADD-4041-A490-F5EE5F70C9EA}" presName="hierRoot1" presStyleCnt="0"/>
      <dgm:spPr/>
    </dgm:pt>
    <dgm:pt modelId="{03FFBEE1-99DC-4699-AF0E-E4F8B81BEB9D}" type="pres">
      <dgm:prSet presAssocID="{2CE0C789-BADD-4041-A490-F5EE5F70C9EA}" presName="composite" presStyleCnt="0"/>
      <dgm:spPr/>
    </dgm:pt>
    <dgm:pt modelId="{B38F64BC-A957-4E66-BA96-826FEF9021F7}" type="pres">
      <dgm:prSet presAssocID="{2CE0C789-BADD-4041-A490-F5EE5F70C9EA}" presName="background" presStyleLbl="node0" presStyleIdx="1" presStyleCnt="4"/>
      <dgm:spPr/>
    </dgm:pt>
    <dgm:pt modelId="{E22F7AF5-7699-4061-9267-1BCA47A530F2}" type="pres">
      <dgm:prSet presAssocID="{2CE0C789-BADD-4041-A490-F5EE5F70C9EA}" presName="text" presStyleLbl="fgAcc0" presStyleIdx="1" presStyleCnt="4">
        <dgm:presLayoutVars>
          <dgm:chPref val="3"/>
        </dgm:presLayoutVars>
      </dgm:prSet>
      <dgm:spPr/>
    </dgm:pt>
    <dgm:pt modelId="{AC48339A-C47D-4762-9802-AF7CF03D0F94}" type="pres">
      <dgm:prSet presAssocID="{2CE0C789-BADD-4041-A490-F5EE5F70C9EA}" presName="hierChild2" presStyleCnt="0"/>
      <dgm:spPr/>
    </dgm:pt>
    <dgm:pt modelId="{ED2DD875-1179-4A69-ABA6-CCA3CDDDEBDD}" type="pres">
      <dgm:prSet presAssocID="{B1BCA298-4399-4452-846D-6B08648ECFAE}" presName="hierRoot1" presStyleCnt="0"/>
      <dgm:spPr/>
    </dgm:pt>
    <dgm:pt modelId="{1881DA43-067C-4165-B7E0-9FBBC06FA1D1}" type="pres">
      <dgm:prSet presAssocID="{B1BCA298-4399-4452-846D-6B08648ECFAE}" presName="composite" presStyleCnt="0"/>
      <dgm:spPr/>
    </dgm:pt>
    <dgm:pt modelId="{FD80509E-2ADA-4E4B-92C0-C66B33BBA8D6}" type="pres">
      <dgm:prSet presAssocID="{B1BCA298-4399-4452-846D-6B08648ECFAE}" presName="background" presStyleLbl="node0" presStyleIdx="2" presStyleCnt="4"/>
      <dgm:spPr/>
    </dgm:pt>
    <dgm:pt modelId="{5230EFB3-49C1-4B3C-AAD7-E0071FB92064}" type="pres">
      <dgm:prSet presAssocID="{B1BCA298-4399-4452-846D-6B08648ECFAE}" presName="text" presStyleLbl="fgAcc0" presStyleIdx="2" presStyleCnt="4">
        <dgm:presLayoutVars>
          <dgm:chPref val="3"/>
        </dgm:presLayoutVars>
      </dgm:prSet>
      <dgm:spPr/>
    </dgm:pt>
    <dgm:pt modelId="{FC4E7223-30D4-462C-8F0D-14B45E9C53A5}" type="pres">
      <dgm:prSet presAssocID="{B1BCA298-4399-4452-846D-6B08648ECFAE}" presName="hierChild2" presStyleCnt="0"/>
      <dgm:spPr/>
    </dgm:pt>
    <dgm:pt modelId="{E481D27D-F8EF-4112-A84C-D9EC98AC0527}" type="pres">
      <dgm:prSet presAssocID="{076F55EA-05C0-4D29-9CC3-35BF74AE1845}" presName="hierRoot1" presStyleCnt="0"/>
      <dgm:spPr/>
    </dgm:pt>
    <dgm:pt modelId="{2D21A988-C2C8-4E30-9858-4E9C416EDBAE}" type="pres">
      <dgm:prSet presAssocID="{076F55EA-05C0-4D29-9CC3-35BF74AE1845}" presName="composite" presStyleCnt="0"/>
      <dgm:spPr/>
    </dgm:pt>
    <dgm:pt modelId="{19325496-176F-49EB-B595-9F705FFBF057}" type="pres">
      <dgm:prSet presAssocID="{076F55EA-05C0-4D29-9CC3-35BF74AE1845}" presName="background" presStyleLbl="node0" presStyleIdx="3" presStyleCnt="4"/>
      <dgm:spPr/>
    </dgm:pt>
    <dgm:pt modelId="{3D4F7D94-1C51-448D-BD05-5ADF73DA4A78}" type="pres">
      <dgm:prSet presAssocID="{076F55EA-05C0-4D29-9CC3-35BF74AE1845}" presName="text" presStyleLbl="fgAcc0" presStyleIdx="3" presStyleCnt="4">
        <dgm:presLayoutVars>
          <dgm:chPref val="3"/>
        </dgm:presLayoutVars>
      </dgm:prSet>
      <dgm:spPr/>
    </dgm:pt>
    <dgm:pt modelId="{C327EEB0-2790-4DBB-8BA3-E95E88CD02CD}" type="pres">
      <dgm:prSet presAssocID="{076F55EA-05C0-4D29-9CC3-35BF74AE1845}" presName="hierChild2" presStyleCnt="0"/>
      <dgm:spPr/>
    </dgm:pt>
  </dgm:ptLst>
  <dgm:cxnLst>
    <dgm:cxn modelId="{2B3E2D1B-56A0-4D95-AC1D-CBD80FCFDE07}" srcId="{A2828F0B-0E71-4CE3-90A3-0AF76ED35D9D}" destId="{076F55EA-05C0-4D29-9CC3-35BF74AE1845}" srcOrd="3" destOrd="0" parTransId="{4C8F6C64-DF4F-4E13-948B-E2002E7A909F}" sibTransId="{832F3322-F7C5-4A28-A0C0-51BAD29AB684}"/>
    <dgm:cxn modelId="{97894B30-25B6-4DE5-AE79-58F8702064B1}" type="presOf" srcId="{2CE0C789-BADD-4041-A490-F5EE5F70C9EA}" destId="{E22F7AF5-7699-4061-9267-1BCA47A530F2}" srcOrd="0" destOrd="0" presId="urn:microsoft.com/office/officeart/2005/8/layout/hierarchy1"/>
    <dgm:cxn modelId="{A25A405B-77D1-4A19-B1A4-B4CF8A448749}" type="presOf" srcId="{076F55EA-05C0-4D29-9CC3-35BF74AE1845}" destId="{3D4F7D94-1C51-448D-BD05-5ADF73DA4A78}" srcOrd="0" destOrd="0" presId="urn:microsoft.com/office/officeart/2005/8/layout/hierarchy1"/>
    <dgm:cxn modelId="{71C6A282-CC80-42A6-AD3D-0EDD8A63CBEE}" type="presOf" srcId="{FB018028-59DD-4AB1-9478-DAEA5BB33FD2}" destId="{89ACEA34-F427-4352-A38F-DA1478CC01D4}" srcOrd="0" destOrd="0" presId="urn:microsoft.com/office/officeart/2005/8/layout/hierarchy1"/>
    <dgm:cxn modelId="{8E6DB483-DE99-471C-A771-2E40BE2CCA4A}" type="presOf" srcId="{A2828F0B-0E71-4CE3-90A3-0AF76ED35D9D}" destId="{8BBF9E0B-065B-46EF-98EE-2266CF392C7B}" srcOrd="0" destOrd="0" presId="urn:microsoft.com/office/officeart/2005/8/layout/hierarchy1"/>
    <dgm:cxn modelId="{CDEE77A1-6849-4777-B97F-9769A1ED09AD}" type="presOf" srcId="{B1BCA298-4399-4452-846D-6B08648ECFAE}" destId="{5230EFB3-49C1-4B3C-AAD7-E0071FB92064}" srcOrd="0" destOrd="0" presId="urn:microsoft.com/office/officeart/2005/8/layout/hierarchy1"/>
    <dgm:cxn modelId="{8E1379D3-E587-40B1-8265-EF922D271417}" srcId="{A2828F0B-0E71-4CE3-90A3-0AF76ED35D9D}" destId="{2CE0C789-BADD-4041-A490-F5EE5F70C9EA}" srcOrd="1" destOrd="0" parTransId="{404B84F4-9B1E-4EEF-BD27-65C2EBA8FD35}" sibTransId="{8BFC8B79-40EF-4E49-B8A3-A78FD73B9F1D}"/>
    <dgm:cxn modelId="{D00CCFE1-B32E-4F9D-BFA3-7F4B0CB17D43}" srcId="{A2828F0B-0E71-4CE3-90A3-0AF76ED35D9D}" destId="{B1BCA298-4399-4452-846D-6B08648ECFAE}" srcOrd="2" destOrd="0" parTransId="{D0177629-3AC4-4C12-BB57-F1D49C2F77D9}" sibTransId="{168EBB9C-4B28-4F0B-9304-489E8415C0A4}"/>
    <dgm:cxn modelId="{420FB5F9-1369-4B3A-A31B-B5DE0497E9BC}" srcId="{A2828F0B-0E71-4CE3-90A3-0AF76ED35D9D}" destId="{FB018028-59DD-4AB1-9478-DAEA5BB33FD2}" srcOrd="0" destOrd="0" parTransId="{756C3E4C-C656-4DD5-A6DE-49A263F5F3FC}" sibTransId="{B898246B-533D-428E-A73F-925AE34EA90F}"/>
    <dgm:cxn modelId="{4F194803-82BD-4B6F-8838-28D9C48E09DF}" type="presParOf" srcId="{8BBF9E0B-065B-46EF-98EE-2266CF392C7B}" destId="{54937622-8241-43A5-B81B-9F9A8ECFC1F3}" srcOrd="0" destOrd="0" presId="urn:microsoft.com/office/officeart/2005/8/layout/hierarchy1"/>
    <dgm:cxn modelId="{FA1C9004-659F-44CA-A35E-67E0BBF4C49B}" type="presParOf" srcId="{54937622-8241-43A5-B81B-9F9A8ECFC1F3}" destId="{AB9A160B-84C4-49C9-823B-782F020F3348}" srcOrd="0" destOrd="0" presId="urn:microsoft.com/office/officeart/2005/8/layout/hierarchy1"/>
    <dgm:cxn modelId="{3CD8B8D3-06EA-4ACA-AF27-292125E01338}" type="presParOf" srcId="{AB9A160B-84C4-49C9-823B-782F020F3348}" destId="{4C5FF7CC-570D-4210-AFF4-4A90B7FEFC51}" srcOrd="0" destOrd="0" presId="urn:microsoft.com/office/officeart/2005/8/layout/hierarchy1"/>
    <dgm:cxn modelId="{D1638C8E-1870-4B9B-8061-C6C972BE49D2}" type="presParOf" srcId="{AB9A160B-84C4-49C9-823B-782F020F3348}" destId="{89ACEA34-F427-4352-A38F-DA1478CC01D4}" srcOrd="1" destOrd="0" presId="urn:microsoft.com/office/officeart/2005/8/layout/hierarchy1"/>
    <dgm:cxn modelId="{BCE9FB64-C7DB-40EF-84FA-D8D5B9DDAA52}" type="presParOf" srcId="{54937622-8241-43A5-B81B-9F9A8ECFC1F3}" destId="{193F71CE-AC54-4441-AEC9-E6A371D3FA78}" srcOrd="1" destOrd="0" presId="urn:microsoft.com/office/officeart/2005/8/layout/hierarchy1"/>
    <dgm:cxn modelId="{90078AA7-6938-4402-A30F-B764D8411320}" type="presParOf" srcId="{8BBF9E0B-065B-46EF-98EE-2266CF392C7B}" destId="{59CB64D1-286D-47C8-8007-84247519BC53}" srcOrd="1" destOrd="0" presId="urn:microsoft.com/office/officeart/2005/8/layout/hierarchy1"/>
    <dgm:cxn modelId="{017DBB30-9080-4E7C-8837-E0134B6C9FEF}" type="presParOf" srcId="{59CB64D1-286D-47C8-8007-84247519BC53}" destId="{03FFBEE1-99DC-4699-AF0E-E4F8B81BEB9D}" srcOrd="0" destOrd="0" presId="urn:microsoft.com/office/officeart/2005/8/layout/hierarchy1"/>
    <dgm:cxn modelId="{8645FD13-0F44-4CA3-B6F5-07689DD0DF9E}" type="presParOf" srcId="{03FFBEE1-99DC-4699-AF0E-E4F8B81BEB9D}" destId="{B38F64BC-A957-4E66-BA96-826FEF9021F7}" srcOrd="0" destOrd="0" presId="urn:microsoft.com/office/officeart/2005/8/layout/hierarchy1"/>
    <dgm:cxn modelId="{099BEC3C-9EAF-4DBE-B8EE-CDEDC644CCE0}" type="presParOf" srcId="{03FFBEE1-99DC-4699-AF0E-E4F8B81BEB9D}" destId="{E22F7AF5-7699-4061-9267-1BCA47A530F2}" srcOrd="1" destOrd="0" presId="urn:microsoft.com/office/officeart/2005/8/layout/hierarchy1"/>
    <dgm:cxn modelId="{3182C717-D35E-4CDA-850A-C3A3EB697B02}" type="presParOf" srcId="{59CB64D1-286D-47C8-8007-84247519BC53}" destId="{AC48339A-C47D-4762-9802-AF7CF03D0F94}" srcOrd="1" destOrd="0" presId="urn:microsoft.com/office/officeart/2005/8/layout/hierarchy1"/>
    <dgm:cxn modelId="{D889BE62-0CE7-4E4C-8D32-529EE135C1E5}" type="presParOf" srcId="{8BBF9E0B-065B-46EF-98EE-2266CF392C7B}" destId="{ED2DD875-1179-4A69-ABA6-CCA3CDDDEBDD}" srcOrd="2" destOrd="0" presId="urn:microsoft.com/office/officeart/2005/8/layout/hierarchy1"/>
    <dgm:cxn modelId="{30088B3D-4B1A-499F-9655-29D131EBDC0B}" type="presParOf" srcId="{ED2DD875-1179-4A69-ABA6-CCA3CDDDEBDD}" destId="{1881DA43-067C-4165-B7E0-9FBBC06FA1D1}" srcOrd="0" destOrd="0" presId="urn:microsoft.com/office/officeart/2005/8/layout/hierarchy1"/>
    <dgm:cxn modelId="{75CA25A6-F76C-42E5-ACEA-0EEF3EBA032B}" type="presParOf" srcId="{1881DA43-067C-4165-B7E0-9FBBC06FA1D1}" destId="{FD80509E-2ADA-4E4B-92C0-C66B33BBA8D6}" srcOrd="0" destOrd="0" presId="urn:microsoft.com/office/officeart/2005/8/layout/hierarchy1"/>
    <dgm:cxn modelId="{C5EFC6E5-159C-42C0-9ABD-8725BB46AC5F}" type="presParOf" srcId="{1881DA43-067C-4165-B7E0-9FBBC06FA1D1}" destId="{5230EFB3-49C1-4B3C-AAD7-E0071FB92064}" srcOrd="1" destOrd="0" presId="urn:microsoft.com/office/officeart/2005/8/layout/hierarchy1"/>
    <dgm:cxn modelId="{03286541-728E-4C87-936A-EE916A6266DF}" type="presParOf" srcId="{ED2DD875-1179-4A69-ABA6-CCA3CDDDEBDD}" destId="{FC4E7223-30D4-462C-8F0D-14B45E9C53A5}" srcOrd="1" destOrd="0" presId="urn:microsoft.com/office/officeart/2005/8/layout/hierarchy1"/>
    <dgm:cxn modelId="{3CD60EE1-6549-4704-8CDF-8689F21E7955}" type="presParOf" srcId="{8BBF9E0B-065B-46EF-98EE-2266CF392C7B}" destId="{E481D27D-F8EF-4112-A84C-D9EC98AC0527}" srcOrd="3" destOrd="0" presId="urn:microsoft.com/office/officeart/2005/8/layout/hierarchy1"/>
    <dgm:cxn modelId="{1366A86F-FEBC-49A0-BE72-A77C38B190D1}" type="presParOf" srcId="{E481D27D-F8EF-4112-A84C-D9EC98AC0527}" destId="{2D21A988-C2C8-4E30-9858-4E9C416EDBAE}" srcOrd="0" destOrd="0" presId="urn:microsoft.com/office/officeart/2005/8/layout/hierarchy1"/>
    <dgm:cxn modelId="{FF69D9A2-A76B-4BDA-8845-C92819F39C1A}" type="presParOf" srcId="{2D21A988-C2C8-4E30-9858-4E9C416EDBAE}" destId="{19325496-176F-49EB-B595-9F705FFBF057}" srcOrd="0" destOrd="0" presId="urn:microsoft.com/office/officeart/2005/8/layout/hierarchy1"/>
    <dgm:cxn modelId="{A8D35859-0B72-41B6-BAB1-120AF37C1507}" type="presParOf" srcId="{2D21A988-C2C8-4E30-9858-4E9C416EDBAE}" destId="{3D4F7D94-1C51-448D-BD05-5ADF73DA4A78}" srcOrd="1" destOrd="0" presId="urn:microsoft.com/office/officeart/2005/8/layout/hierarchy1"/>
    <dgm:cxn modelId="{BA009ADC-77A9-4F9E-9557-5844DFED4152}" type="presParOf" srcId="{E481D27D-F8EF-4112-A84C-D9EC98AC0527}" destId="{C327EEB0-2790-4DBB-8BA3-E95E88CD02C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43B9E7-BE7F-49BA-A8AB-A6B02CA1E7C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BCB2C6-9A6F-4571-8D3E-2383D68AB8AD}">
      <dgm:prSet phldrT="[Text]" phldr="0"/>
      <dgm:spPr/>
      <dgm:t>
        <a:bodyPr/>
        <a:lstStyle/>
        <a:p>
          <a:r>
            <a:rPr lang="en-US" dirty="0"/>
            <a:t>Case</a:t>
          </a:r>
        </a:p>
      </dgm:t>
    </dgm:pt>
    <dgm:pt modelId="{7A54303B-D913-444A-9F2A-2F5D9B0F5FEF}" type="parTrans" cxnId="{ED0966C9-0FCF-4E43-B361-2C6CDB9E9B5C}">
      <dgm:prSet/>
      <dgm:spPr/>
      <dgm:t>
        <a:bodyPr/>
        <a:lstStyle/>
        <a:p>
          <a:endParaRPr lang="en-US"/>
        </a:p>
      </dgm:t>
    </dgm:pt>
    <dgm:pt modelId="{76399EF4-E29B-4DFC-BF73-9963BBDBDD1B}" type="sibTrans" cxnId="{ED0966C9-0FCF-4E43-B361-2C6CDB9E9B5C}">
      <dgm:prSet/>
      <dgm:spPr/>
      <dgm:t>
        <a:bodyPr/>
        <a:lstStyle/>
        <a:p>
          <a:endParaRPr lang="en-US"/>
        </a:p>
      </dgm:t>
    </dgm:pt>
    <dgm:pt modelId="{E57D9595-F4E8-490B-A928-7F5038B25507}">
      <dgm:prSet phldrT="[Text]" phldr="0"/>
      <dgm:spPr/>
      <dgm:t>
        <a:bodyPr/>
        <a:lstStyle/>
        <a:p>
          <a:r>
            <a:rPr lang="en-US" dirty="0"/>
            <a:t>Month</a:t>
          </a:r>
        </a:p>
      </dgm:t>
    </dgm:pt>
    <dgm:pt modelId="{F13F37D6-62AE-49EC-8AA9-A2224C53C360}" type="parTrans" cxnId="{1C19E078-8089-405A-89D7-252600FBDB96}">
      <dgm:prSet/>
      <dgm:spPr/>
      <dgm:t>
        <a:bodyPr/>
        <a:lstStyle/>
        <a:p>
          <a:endParaRPr lang="en-US"/>
        </a:p>
      </dgm:t>
    </dgm:pt>
    <dgm:pt modelId="{15F9602C-E202-4DA2-9FE8-76A00F512374}" type="sibTrans" cxnId="{1C19E078-8089-405A-89D7-252600FBDB96}">
      <dgm:prSet/>
      <dgm:spPr/>
      <dgm:t>
        <a:bodyPr/>
        <a:lstStyle/>
        <a:p>
          <a:endParaRPr lang="en-US"/>
        </a:p>
      </dgm:t>
    </dgm:pt>
    <dgm:pt modelId="{BE9CF121-2960-41A4-8030-ADAD441D6DA7}">
      <dgm:prSet phldrT="[Text]" phldr="0"/>
      <dgm:spPr/>
      <dgm:t>
        <a:bodyPr/>
        <a:lstStyle/>
        <a:p>
          <a:r>
            <a:rPr lang="en-US" dirty="0"/>
            <a:t>Weather</a:t>
          </a:r>
        </a:p>
      </dgm:t>
    </dgm:pt>
    <dgm:pt modelId="{A5549FA2-A41F-4B29-806E-D38FEB7D659F}" type="parTrans" cxnId="{78A472E0-8B37-45DF-BE3F-FF8FCC177B27}">
      <dgm:prSet/>
      <dgm:spPr/>
      <dgm:t>
        <a:bodyPr/>
        <a:lstStyle/>
        <a:p>
          <a:endParaRPr lang="en-US"/>
        </a:p>
      </dgm:t>
    </dgm:pt>
    <dgm:pt modelId="{AFAEB9D4-9281-42B1-BD4E-F54BDA9D5C55}" type="sibTrans" cxnId="{78A472E0-8B37-45DF-BE3F-FF8FCC177B27}">
      <dgm:prSet/>
      <dgm:spPr/>
      <dgm:t>
        <a:bodyPr/>
        <a:lstStyle/>
        <a:p>
          <a:endParaRPr lang="en-US"/>
        </a:p>
      </dgm:t>
    </dgm:pt>
    <dgm:pt modelId="{A25BB744-854C-41EB-9734-05EA8C8EC369}">
      <dgm:prSet phldrT="[Text]" phldr="0"/>
      <dgm:spPr/>
      <dgm:t>
        <a:bodyPr/>
        <a:lstStyle/>
        <a:p>
          <a:r>
            <a:rPr lang="en-US" dirty="0" err="1"/>
            <a:t>sin_month</a:t>
          </a:r>
          <a:endParaRPr lang="en-US" dirty="0"/>
        </a:p>
        <a:p>
          <a:r>
            <a:rPr lang="en-US" dirty="0" err="1"/>
            <a:t>cos_month</a:t>
          </a:r>
          <a:endParaRPr lang="en-US" dirty="0"/>
        </a:p>
      </dgm:t>
    </dgm:pt>
    <dgm:pt modelId="{E80E17B5-30FD-452E-905A-9C5DFAA1D4E4}" type="parTrans" cxnId="{A7B99662-8D95-4673-8FA1-B20964487BBF}">
      <dgm:prSet/>
      <dgm:spPr/>
      <dgm:t>
        <a:bodyPr/>
        <a:lstStyle/>
        <a:p>
          <a:endParaRPr lang="en-US"/>
        </a:p>
      </dgm:t>
    </dgm:pt>
    <dgm:pt modelId="{5C186FEA-87E4-4649-80DB-C3E18743F339}" type="sibTrans" cxnId="{A7B99662-8D95-4673-8FA1-B20964487BBF}">
      <dgm:prSet/>
      <dgm:spPr/>
      <dgm:t>
        <a:bodyPr/>
        <a:lstStyle/>
        <a:p>
          <a:endParaRPr lang="en-US"/>
        </a:p>
      </dgm:t>
    </dgm:pt>
    <dgm:pt modelId="{96BF3DBD-659F-4AE0-B367-75532EF74F40}">
      <dgm:prSet phldrT="[Text]" phldr="0"/>
      <dgm:spPr/>
      <dgm:t>
        <a:bodyPr/>
        <a:lstStyle/>
        <a:p>
          <a:r>
            <a:rPr lang="en-US" dirty="0"/>
            <a:t>Feature engineering</a:t>
          </a:r>
        </a:p>
      </dgm:t>
    </dgm:pt>
    <dgm:pt modelId="{A72C6978-BB66-4958-9F1F-3E43C8BACFE4}" type="parTrans" cxnId="{2F60B202-5EDC-4034-ADC3-2E861A39A43B}">
      <dgm:prSet/>
      <dgm:spPr/>
      <dgm:t>
        <a:bodyPr/>
        <a:lstStyle/>
        <a:p>
          <a:endParaRPr lang="en-US"/>
        </a:p>
      </dgm:t>
    </dgm:pt>
    <dgm:pt modelId="{A0664E1F-A26C-4F4D-9BEA-C702F4ED75A5}" type="sibTrans" cxnId="{2F60B202-5EDC-4034-ADC3-2E861A39A43B}">
      <dgm:prSet/>
      <dgm:spPr/>
      <dgm:t>
        <a:bodyPr/>
        <a:lstStyle/>
        <a:p>
          <a:endParaRPr lang="en-US"/>
        </a:p>
      </dgm:t>
    </dgm:pt>
    <dgm:pt modelId="{175A0F7A-E0CE-4D30-BE0A-6725FE6FD270}">
      <dgm:prSet phldrT="[Text]" phldr="0"/>
      <dgm:spPr/>
      <dgm:t>
        <a:bodyPr/>
        <a:lstStyle/>
        <a:p>
          <a:r>
            <a:rPr lang="en-US" dirty="0"/>
            <a:t>Combined positive _positive_roll_mean_4</a:t>
          </a:r>
        </a:p>
      </dgm:t>
    </dgm:pt>
    <dgm:pt modelId="{CC6E39DE-1F29-406F-A63D-27B960F101CF}" type="parTrans" cxnId="{A4ADCAE9-0A69-4E8E-87C6-061036E2E980}">
      <dgm:prSet/>
      <dgm:spPr/>
      <dgm:t>
        <a:bodyPr/>
        <a:lstStyle/>
        <a:p>
          <a:endParaRPr lang="en-US"/>
        </a:p>
      </dgm:t>
    </dgm:pt>
    <dgm:pt modelId="{512D9207-24C2-4958-8311-1441E25F089A}" type="sibTrans" cxnId="{A4ADCAE9-0A69-4E8E-87C6-061036E2E980}">
      <dgm:prSet/>
      <dgm:spPr/>
      <dgm:t>
        <a:bodyPr/>
        <a:lstStyle/>
        <a:p>
          <a:endParaRPr lang="en-US"/>
        </a:p>
      </dgm:t>
    </dgm:pt>
    <dgm:pt modelId="{876B2CAA-2C21-4F3D-A7FA-4E44E4C59DE3}">
      <dgm:prSet/>
      <dgm:spPr/>
      <dgm:t>
        <a:bodyPr/>
        <a:lstStyle/>
        <a:p>
          <a:r>
            <a:rPr lang="en-US" dirty="0"/>
            <a:t>Train test split: </a:t>
          </a:r>
        </a:p>
        <a:p>
          <a:r>
            <a:rPr lang="en-US" dirty="0"/>
            <a:t>Train: Before July 1</a:t>
          </a:r>
          <a:r>
            <a:rPr lang="en-US" baseline="30000" dirty="0"/>
            <a:t>st</a:t>
          </a:r>
          <a:r>
            <a:rPr lang="en-US" dirty="0"/>
            <a:t> 2024</a:t>
          </a:r>
        </a:p>
        <a:p>
          <a:r>
            <a:rPr lang="en-US" dirty="0"/>
            <a:t>Test: After July 1</a:t>
          </a:r>
          <a:r>
            <a:rPr lang="en-US" baseline="30000" dirty="0"/>
            <a:t>st</a:t>
          </a:r>
          <a:r>
            <a:rPr lang="en-US" dirty="0"/>
            <a:t> 2024</a:t>
          </a:r>
        </a:p>
      </dgm:t>
    </dgm:pt>
    <dgm:pt modelId="{FEFE9C85-6B32-464E-9026-DC2ECFC1FF1E}" type="parTrans" cxnId="{20C26DF9-01D5-4C00-A5DA-BA68D0C527A3}">
      <dgm:prSet/>
      <dgm:spPr/>
      <dgm:t>
        <a:bodyPr/>
        <a:lstStyle/>
        <a:p>
          <a:endParaRPr lang="en-US"/>
        </a:p>
      </dgm:t>
    </dgm:pt>
    <dgm:pt modelId="{082CA9FC-2B7D-4261-8FE9-00BDE1ED0C3E}" type="sibTrans" cxnId="{20C26DF9-01D5-4C00-A5DA-BA68D0C527A3}">
      <dgm:prSet/>
      <dgm:spPr/>
      <dgm:t>
        <a:bodyPr/>
        <a:lstStyle/>
        <a:p>
          <a:endParaRPr lang="en-US"/>
        </a:p>
      </dgm:t>
    </dgm:pt>
    <dgm:pt modelId="{E0F88DB5-45BE-47B0-8CFC-52496E1706E2}">
      <dgm:prSet phldrT="[Text]" phldr="0"/>
      <dgm:spPr/>
      <dgm:t>
        <a:bodyPr/>
        <a:lstStyle/>
        <a:p>
          <a:r>
            <a:rPr lang="en-US" dirty="0"/>
            <a:t>Rain_mm_lag_4* Soil moisture</a:t>
          </a:r>
        </a:p>
      </dgm:t>
    </dgm:pt>
    <dgm:pt modelId="{81EAD4F3-EA30-43F0-885C-ADF079ACCC0A}" type="parTrans" cxnId="{D3B64D17-307B-48CC-B76B-80B6B925F2A7}">
      <dgm:prSet/>
      <dgm:spPr/>
      <dgm:t>
        <a:bodyPr/>
        <a:lstStyle/>
        <a:p>
          <a:endParaRPr lang="en-US"/>
        </a:p>
      </dgm:t>
    </dgm:pt>
    <dgm:pt modelId="{BC2E2544-258D-491A-BD66-50DC77EF70F7}" type="sibTrans" cxnId="{D3B64D17-307B-48CC-B76B-80B6B925F2A7}">
      <dgm:prSet/>
      <dgm:spPr/>
      <dgm:t>
        <a:bodyPr/>
        <a:lstStyle/>
        <a:p>
          <a:endParaRPr lang="en-US"/>
        </a:p>
      </dgm:t>
    </dgm:pt>
    <dgm:pt modelId="{42EA6E10-F9FB-40DB-9860-0B97260633BC}">
      <dgm:prSet phldrT="[Text]" phldr="0"/>
      <dgm:spPr/>
      <dgm:t>
        <a:bodyPr/>
        <a:lstStyle/>
        <a:p>
          <a:r>
            <a:rPr lang="en-US" dirty="0" err="1"/>
            <a:t>Ratio_lag</a:t>
          </a:r>
          <a:endParaRPr lang="en-US" dirty="0"/>
        </a:p>
      </dgm:t>
    </dgm:pt>
    <dgm:pt modelId="{FAC9BBB3-11F4-4998-A32E-B619C8EFD462}" type="parTrans" cxnId="{06B84805-BBEB-485F-B7AA-B8282699B6B3}">
      <dgm:prSet/>
      <dgm:spPr/>
      <dgm:t>
        <a:bodyPr/>
        <a:lstStyle/>
        <a:p>
          <a:endParaRPr lang="en-US"/>
        </a:p>
      </dgm:t>
    </dgm:pt>
    <dgm:pt modelId="{EB10ADBF-5CED-443D-A3E3-C4A78415EEAE}" type="sibTrans" cxnId="{06B84805-BBEB-485F-B7AA-B8282699B6B3}">
      <dgm:prSet/>
      <dgm:spPr/>
      <dgm:t>
        <a:bodyPr/>
        <a:lstStyle/>
        <a:p>
          <a:endParaRPr lang="en-US"/>
        </a:p>
      </dgm:t>
    </dgm:pt>
    <dgm:pt modelId="{58167991-B8F2-4918-A7BF-FE278802F17E}">
      <dgm:prSet/>
      <dgm:spPr/>
      <dgm:t>
        <a:bodyPr/>
        <a:lstStyle/>
        <a:p>
          <a:endParaRPr lang="en-US" dirty="0"/>
        </a:p>
        <a:p>
          <a:r>
            <a:rPr lang="en-US" dirty="0"/>
            <a:t>Hyperparameter Tuning using </a:t>
          </a:r>
          <a:r>
            <a:rPr lang="en-US" dirty="0" err="1"/>
            <a:t>Gridsearch</a:t>
          </a:r>
          <a:r>
            <a:rPr lang="en-US" dirty="0"/>
            <a:t> CV</a:t>
          </a:r>
        </a:p>
      </dgm:t>
    </dgm:pt>
    <dgm:pt modelId="{EF0B11E5-5528-461C-A99B-9F479ACA32FA}" type="parTrans" cxnId="{A0FECCB4-0477-4BBE-B8D1-9E951C9436F9}">
      <dgm:prSet/>
      <dgm:spPr/>
      <dgm:t>
        <a:bodyPr/>
        <a:lstStyle/>
        <a:p>
          <a:endParaRPr lang="en-US"/>
        </a:p>
      </dgm:t>
    </dgm:pt>
    <dgm:pt modelId="{6990059C-5F24-4FAC-90BB-55E7E75C347A}" type="sibTrans" cxnId="{A0FECCB4-0477-4BBE-B8D1-9E951C9436F9}">
      <dgm:prSet/>
      <dgm:spPr/>
      <dgm:t>
        <a:bodyPr/>
        <a:lstStyle/>
        <a:p>
          <a:endParaRPr lang="en-US"/>
        </a:p>
      </dgm:t>
    </dgm:pt>
    <dgm:pt modelId="{B29137E4-D5E6-41DD-8C6B-8E16B874FEAD}" type="pres">
      <dgm:prSet presAssocID="{0543B9E7-BE7F-49BA-A8AB-A6B02CA1E7C5}" presName="diagram" presStyleCnt="0">
        <dgm:presLayoutVars>
          <dgm:dir/>
          <dgm:resizeHandles val="exact"/>
        </dgm:presLayoutVars>
      </dgm:prSet>
      <dgm:spPr/>
    </dgm:pt>
    <dgm:pt modelId="{70DC8D92-2C9F-46D7-989E-40B36BC098CC}" type="pres">
      <dgm:prSet presAssocID="{95BCB2C6-9A6F-4571-8D3E-2383D68AB8AD}" presName="node" presStyleLbl="node1" presStyleIdx="0" presStyleCnt="10" custScaleX="84420" custScaleY="31097" custLinFactNeighborX="16" custLinFactNeighborY="20073">
        <dgm:presLayoutVars>
          <dgm:bulletEnabled val="1"/>
        </dgm:presLayoutVars>
      </dgm:prSet>
      <dgm:spPr/>
    </dgm:pt>
    <dgm:pt modelId="{75F88012-4D3C-473D-94C3-530AAC00BE94}" type="pres">
      <dgm:prSet presAssocID="{76399EF4-E29B-4DFC-BF73-9963BBDBDD1B}" presName="sibTrans" presStyleCnt="0"/>
      <dgm:spPr/>
    </dgm:pt>
    <dgm:pt modelId="{49C948C6-C0A2-41DA-BD6D-F2999AFAD053}" type="pres">
      <dgm:prSet presAssocID="{E57D9595-F4E8-490B-A928-7F5038B25507}" presName="node" presStyleLbl="node1" presStyleIdx="1" presStyleCnt="10" custScaleX="85845" custScaleY="32566" custLinFactNeighborX="3510" custLinFactNeighborY="20073">
        <dgm:presLayoutVars>
          <dgm:bulletEnabled val="1"/>
        </dgm:presLayoutVars>
      </dgm:prSet>
      <dgm:spPr/>
    </dgm:pt>
    <dgm:pt modelId="{DE69B70B-7771-4F86-B139-A7C427779476}" type="pres">
      <dgm:prSet presAssocID="{15F9602C-E202-4DA2-9FE8-76A00F512374}" presName="sibTrans" presStyleCnt="0"/>
      <dgm:spPr/>
    </dgm:pt>
    <dgm:pt modelId="{89B9FA1E-CF86-4B15-B893-54EA105AF16D}" type="pres">
      <dgm:prSet presAssocID="{BE9CF121-2960-41A4-8030-ADAD441D6DA7}" presName="node" presStyleLbl="node1" presStyleIdx="2" presStyleCnt="10" custScaleX="71949" custScaleY="31831" custLinFactNeighborX="5107" custLinFactNeighborY="20073">
        <dgm:presLayoutVars>
          <dgm:bulletEnabled val="1"/>
        </dgm:presLayoutVars>
      </dgm:prSet>
      <dgm:spPr/>
    </dgm:pt>
    <dgm:pt modelId="{4D349FA2-A553-42B1-8E22-375FA7498662}" type="pres">
      <dgm:prSet presAssocID="{AFAEB9D4-9281-42B1-BD4E-F54BDA9D5C55}" presName="sibTrans" presStyleCnt="0"/>
      <dgm:spPr/>
    </dgm:pt>
    <dgm:pt modelId="{D51C1BB6-4BDA-43AB-99F8-64E718B9A272}" type="pres">
      <dgm:prSet presAssocID="{96BF3DBD-659F-4AE0-B367-75532EF74F40}" presName="node" presStyleLbl="node1" presStyleIdx="3" presStyleCnt="10" custScaleX="260486" custScaleY="34050" custLinFactNeighborX="-871" custLinFactNeighborY="17897">
        <dgm:presLayoutVars>
          <dgm:bulletEnabled val="1"/>
        </dgm:presLayoutVars>
      </dgm:prSet>
      <dgm:spPr/>
    </dgm:pt>
    <dgm:pt modelId="{A8D22141-DCB5-4B92-83A3-228129EA96AD}" type="pres">
      <dgm:prSet presAssocID="{A0664E1F-A26C-4F4D-9BEA-C702F4ED75A5}" presName="sibTrans" presStyleCnt="0"/>
      <dgm:spPr/>
    </dgm:pt>
    <dgm:pt modelId="{AC3ECEAB-3509-4127-B00E-4DDA4A6F5395}" type="pres">
      <dgm:prSet presAssocID="{A25BB744-854C-41EB-9734-05EA8C8EC369}" presName="node" presStyleLbl="node1" presStyleIdx="4" presStyleCnt="10" custScaleX="61549" custScaleY="41473" custLinFactNeighborX="-25482" custLinFactNeighborY="22288">
        <dgm:presLayoutVars>
          <dgm:bulletEnabled val="1"/>
        </dgm:presLayoutVars>
      </dgm:prSet>
      <dgm:spPr/>
    </dgm:pt>
    <dgm:pt modelId="{1EF2C092-9D6E-4BA4-BD04-57DA81ED56CA}" type="pres">
      <dgm:prSet presAssocID="{5C186FEA-87E4-4649-80DB-C3E18743F339}" presName="sibTrans" presStyleCnt="0"/>
      <dgm:spPr/>
    </dgm:pt>
    <dgm:pt modelId="{C62BE3CB-F414-4DB0-B773-478C66E02504}" type="pres">
      <dgm:prSet presAssocID="{175A0F7A-E0CE-4D30-BE0A-6725FE6FD270}" presName="node" presStyleLbl="node1" presStyleIdx="5" presStyleCnt="10" custScaleX="66896" custScaleY="43140" custLinFactNeighborX="-26738" custLinFactNeighborY="23122">
        <dgm:presLayoutVars>
          <dgm:bulletEnabled val="1"/>
        </dgm:presLayoutVars>
      </dgm:prSet>
      <dgm:spPr/>
    </dgm:pt>
    <dgm:pt modelId="{5C8B5E6E-7CB7-4BD6-93C7-DED988EC4DC5}" type="pres">
      <dgm:prSet presAssocID="{512D9207-24C2-4958-8311-1441E25F089A}" presName="sibTrans" presStyleCnt="0"/>
      <dgm:spPr/>
    </dgm:pt>
    <dgm:pt modelId="{4B5D761B-7B16-42FE-B466-A29091D10A9F}" type="pres">
      <dgm:prSet presAssocID="{E0F88DB5-45BE-47B0-8CFC-52496E1706E2}" presName="node" presStyleLbl="node1" presStyleIdx="6" presStyleCnt="10" custScaleX="59854" custScaleY="42789" custLinFactNeighborX="-32509" custLinFactNeighborY="22946">
        <dgm:presLayoutVars>
          <dgm:bulletEnabled val="1"/>
        </dgm:presLayoutVars>
      </dgm:prSet>
      <dgm:spPr/>
    </dgm:pt>
    <dgm:pt modelId="{0827913A-D612-49B8-8623-712B39760FD6}" type="pres">
      <dgm:prSet presAssocID="{BC2E2544-258D-491A-BD66-50DC77EF70F7}" presName="sibTrans" presStyleCnt="0"/>
      <dgm:spPr/>
    </dgm:pt>
    <dgm:pt modelId="{0517FD7C-9307-4D74-83EC-3B211258FA50}" type="pres">
      <dgm:prSet presAssocID="{42EA6E10-F9FB-40DB-9860-0B97260633BC}" presName="node" presStyleLbl="node1" presStyleIdx="7" presStyleCnt="10" custScaleX="56393" custScaleY="40664" custLinFactX="58212" custLinFactNeighborX="100000" custLinFactNeighborY="-37968">
        <dgm:presLayoutVars>
          <dgm:bulletEnabled val="1"/>
        </dgm:presLayoutVars>
      </dgm:prSet>
      <dgm:spPr/>
    </dgm:pt>
    <dgm:pt modelId="{E7AC2818-8FC3-4466-80BC-5BCDAC00FBE0}" type="pres">
      <dgm:prSet presAssocID="{EB10ADBF-5CED-443D-A3E3-C4A78415EEAE}" presName="sibTrans" presStyleCnt="0"/>
      <dgm:spPr/>
    </dgm:pt>
    <dgm:pt modelId="{C68A4954-03F3-424D-83BB-5605A08834EF}" type="pres">
      <dgm:prSet presAssocID="{876B2CAA-2C21-4F3D-A7FA-4E44E4C59DE3}" presName="node" presStyleLbl="node1" presStyleIdx="8" presStyleCnt="10" custScaleY="41762" custLinFactNeighborX="-45117" custLinFactNeighborY="21322">
        <dgm:presLayoutVars>
          <dgm:bulletEnabled val="1"/>
        </dgm:presLayoutVars>
      </dgm:prSet>
      <dgm:spPr/>
    </dgm:pt>
    <dgm:pt modelId="{9F8D46BF-E080-4978-8C2B-4432A94CA8CB}" type="pres">
      <dgm:prSet presAssocID="{082CA9FC-2B7D-4261-8FE9-00BDE1ED0C3E}" presName="sibTrans" presStyleCnt="0"/>
      <dgm:spPr/>
    </dgm:pt>
    <dgm:pt modelId="{7A97EFE6-6D89-4EDD-90A5-2E555366EA8B}" type="pres">
      <dgm:prSet presAssocID="{58167991-B8F2-4918-A7BF-FE278802F17E}" presName="node" presStyleLbl="node1" presStyleIdx="9" presStyleCnt="10" custScaleY="27957" custLinFactNeighborX="-10035" custLinFactNeighborY="20619">
        <dgm:presLayoutVars>
          <dgm:bulletEnabled val="1"/>
        </dgm:presLayoutVars>
      </dgm:prSet>
      <dgm:spPr/>
    </dgm:pt>
  </dgm:ptLst>
  <dgm:cxnLst>
    <dgm:cxn modelId="{2F60B202-5EDC-4034-ADC3-2E861A39A43B}" srcId="{0543B9E7-BE7F-49BA-A8AB-A6B02CA1E7C5}" destId="{96BF3DBD-659F-4AE0-B367-75532EF74F40}" srcOrd="3" destOrd="0" parTransId="{A72C6978-BB66-4958-9F1F-3E43C8BACFE4}" sibTransId="{A0664E1F-A26C-4F4D-9BEA-C702F4ED75A5}"/>
    <dgm:cxn modelId="{06B84805-BBEB-485F-B7AA-B8282699B6B3}" srcId="{0543B9E7-BE7F-49BA-A8AB-A6B02CA1E7C5}" destId="{42EA6E10-F9FB-40DB-9860-0B97260633BC}" srcOrd="7" destOrd="0" parTransId="{FAC9BBB3-11F4-4998-A32E-B619C8EFD462}" sibTransId="{EB10ADBF-5CED-443D-A3E3-C4A78415EEAE}"/>
    <dgm:cxn modelId="{23E48C09-5E5D-457E-8103-8BD5C01F873C}" type="presOf" srcId="{BE9CF121-2960-41A4-8030-ADAD441D6DA7}" destId="{89B9FA1E-CF86-4B15-B893-54EA105AF16D}" srcOrd="0" destOrd="0" presId="urn:microsoft.com/office/officeart/2005/8/layout/default"/>
    <dgm:cxn modelId="{D3B64D17-307B-48CC-B76B-80B6B925F2A7}" srcId="{0543B9E7-BE7F-49BA-A8AB-A6B02CA1E7C5}" destId="{E0F88DB5-45BE-47B0-8CFC-52496E1706E2}" srcOrd="6" destOrd="0" parTransId="{81EAD4F3-EA30-43F0-885C-ADF079ACCC0A}" sibTransId="{BC2E2544-258D-491A-BD66-50DC77EF70F7}"/>
    <dgm:cxn modelId="{B6001529-64F6-4CA2-85D6-E1BB79F7C0D1}" type="presOf" srcId="{E57D9595-F4E8-490B-A928-7F5038B25507}" destId="{49C948C6-C0A2-41DA-BD6D-F2999AFAD053}" srcOrd="0" destOrd="0" presId="urn:microsoft.com/office/officeart/2005/8/layout/default"/>
    <dgm:cxn modelId="{9B642A61-684D-490C-A696-7495490CF0DF}" type="presOf" srcId="{95BCB2C6-9A6F-4571-8D3E-2383D68AB8AD}" destId="{70DC8D92-2C9F-46D7-989E-40B36BC098CC}" srcOrd="0" destOrd="0" presId="urn:microsoft.com/office/officeart/2005/8/layout/default"/>
    <dgm:cxn modelId="{A7B99662-8D95-4673-8FA1-B20964487BBF}" srcId="{0543B9E7-BE7F-49BA-A8AB-A6B02CA1E7C5}" destId="{A25BB744-854C-41EB-9734-05EA8C8EC369}" srcOrd="4" destOrd="0" parTransId="{E80E17B5-30FD-452E-905A-9C5DFAA1D4E4}" sibTransId="{5C186FEA-87E4-4649-80DB-C3E18743F339}"/>
    <dgm:cxn modelId="{DFC0506B-87E6-46FD-9367-8E4076B7487B}" type="presOf" srcId="{876B2CAA-2C21-4F3D-A7FA-4E44E4C59DE3}" destId="{C68A4954-03F3-424D-83BB-5605A08834EF}" srcOrd="0" destOrd="0" presId="urn:microsoft.com/office/officeart/2005/8/layout/default"/>
    <dgm:cxn modelId="{8931EE76-C8DA-4FB6-8FB0-4403D44C5B5D}" type="presOf" srcId="{E0F88DB5-45BE-47B0-8CFC-52496E1706E2}" destId="{4B5D761B-7B16-42FE-B466-A29091D10A9F}" srcOrd="0" destOrd="0" presId="urn:microsoft.com/office/officeart/2005/8/layout/default"/>
    <dgm:cxn modelId="{1C19E078-8089-405A-89D7-252600FBDB96}" srcId="{0543B9E7-BE7F-49BA-A8AB-A6B02CA1E7C5}" destId="{E57D9595-F4E8-490B-A928-7F5038B25507}" srcOrd="1" destOrd="0" parTransId="{F13F37D6-62AE-49EC-8AA9-A2224C53C360}" sibTransId="{15F9602C-E202-4DA2-9FE8-76A00F512374}"/>
    <dgm:cxn modelId="{23D1B489-7D27-4EDD-9449-035E838A3124}" type="presOf" srcId="{A25BB744-854C-41EB-9734-05EA8C8EC369}" destId="{AC3ECEAB-3509-4127-B00E-4DDA4A6F5395}" srcOrd="0" destOrd="0" presId="urn:microsoft.com/office/officeart/2005/8/layout/default"/>
    <dgm:cxn modelId="{173D7A98-AFA7-41C0-B280-B301767914D7}" type="presOf" srcId="{42EA6E10-F9FB-40DB-9860-0B97260633BC}" destId="{0517FD7C-9307-4D74-83EC-3B211258FA50}" srcOrd="0" destOrd="0" presId="urn:microsoft.com/office/officeart/2005/8/layout/default"/>
    <dgm:cxn modelId="{A0FECCB4-0477-4BBE-B8D1-9E951C9436F9}" srcId="{0543B9E7-BE7F-49BA-A8AB-A6B02CA1E7C5}" destId="{58167991-B8F2-4918-A7BF-FE278802F17E}" srcOrd="9" destOrd="0" parTransId="{EF0B11E5-5528-461C-A99B-9F479ACA32FA}" sibTransId="{6990059C-5F24-4FAC-90BB-55E7E75C347A}"/>
    <dgm:cxn modelId="{ED0966C9-0FCF-4E43-B361-2C6CDB9E9B5C}" srcId="{0543B9E7-BE7F-49BA-A8AB-A6B02CA1E7C5}" destId="{95BCB2C6-9A6F-4571-8D3E-2383D68AB8AD}" srcOrd="0" destOrd="0" parTransId="{7A54303B-D913-444A-9F2A-2F5D9B0F5FEF}" sibTransId="{76399EF4-E29B-4DFC-BF73-9963BBDBDD1B}"/>
    <dgm:cxn modelId="{6561D2CE-BDAB-4C6C-9588-B88205B47041}" type="presOf" srcId="{0543B9E7-BE7F-49BA-A8AB-A6B02CA1E7C5}" destId="{B29137E4-D5E6-41DD-8C6B-8E16B874FEAD}" srcOrd="0" destOrd="0" presId="urn:microsoft.com/office/officeart/2005/8/layout/default"/>
    <dgm:cxn modelId="{78A472E0-8B37-45DF-BE3F-FF8FCC177B27}" srcId="{0543B9E7-BE7F-49BA-A8AB-A6B02CA1E7C5}" destId="{BE9CF121-2960-41A4-8030-ADAD441D6DA7}" srcOrd="2" destOrd="0" parTransId="{A5549FA2-A41F-4B29-806E-D38FEB7D659F}" sibTransId="{AFAEB9D4-9281-42B1-BD4E-F54BDA9D5C55}"/>
    <dgm:cxn modelId="{9F210BE8-FA18-49EC-A956-24E81819C6CC}" type="presOf" srcId="{58167991-B8F2-4918-A7BF-FE278802F17E}" destId="{7A97EFE6-6D89-4EDD-90A5-2E555366EA8B}" srcOrd="0" destOrd="0" presId="urn:microsoft.com/office/officeart/2005/8/layout/default"/>
    <dgm:cxn modelId="{00B7EEE8-C4D4-4345-B776-3A20BD942BAE}" type="presOf" srcId="{96BF3DBD-659F-4AE0-B367-75532EF74F40}" destId="{D51C1BB6-4BDA-43AB-99F8-64E718B9A272}" srcOrd="0" destOrd="0" presId="urn:microsoft.com/office/officeart/2005/8/layout/default"/>
    <dgm:cxn modelId="{A4ADCAE9-0A69-4E8E-87C6-061036E2E980}" srcId="{0543B9E7-BE7F-49BA-A8AB-A6B02CA1E7C5}" destId="{175A0F7A-E0CE-4D30-BE0A-6725FE6FD270}" srcOrd="5" destOrd="0" parTransId="{CC6E39DE-1F29-406F-A63D-27B960F101CF}" sibTransId="{512D9207-24C2-4958-8311-1441E25F089A}"/>
    <dgm:cxn modelId="{6AEB5CEF-BDAB-4B0C-B3CE-831749BD7B11}" type="presOf" srcId="{175A0F7A-E0CE-4D30-BE0A-6725FE6FD270}" destId="{C62BE3CB-F414-4DB0-B773-478C66E02504}" srcOrd="0" destOrd="0" presId="urn:microsoft.com/office/officeart/2005/8/layout/default"/>
    <dgm:cxn modelId="{20C26DF9-01D5-4C00-A5DA-BA68D0C527A3}" srcId="{0543B9E7-BE7F-49BA-A8AB-A6B02CA1E7C5}" destId="{876B2CAA-2C21-4F3D-A7FA-4E44E4C59DE3}" srcOrd="8" destOrd="0" parTransId="{FEFE9C85-6B32-464E-9026-DC2ECFC1FF1E}" sibTransId="{082CA9FC-2B7D-4261-8FE9-00BDE1ED0C3E}"/>
    <dgm:cxn modelId="{3E33BA02-DC8E-46E8-9A0A-02ECF870BD20}" type="presParOf" srcId="{B29137E4-D5E6-41DD-8C6B-8E16B874FEAD}" destId="{70DC8D92-2C9F-46D7-989E-40B36BC098CC}" srcOrd="0" destOrd="0" presId="urn:microsoft.com/office/officeart/2005/8/layout/default"/>
    <dgm:cxn modelId="{959E05C3-2DAA-44D6-8057-87A01A2260C1}" type="presParOf" srcId="{B29137E4-D5E6-41DD-8C6B-8E16B874FEAD}" destId="{75F88012-4D3C-473D-94C3-530AAC00BE94}" srcOrd="1" destOrd="0" presId="urn:microsoft.com/office/officeart/2005/8/layout/default"/>
    <dgm:cxn modelId="{BFEB6D31-04F2-4F7B-9827-2F9520869B25}" type="presParOf" srcId="{B29137E4-D5E6-41DD-8C6B-8E16B874FEAD}" destId="{49C948C6-C0A2-41DA-BD6D-F2999AFAD053}" srcOrd="2" destOrd="0" presId="urn:microsoft.com/office/officeart/2005/8/layout/default"/>
    <dgm:cxn modelId="{D26DA1E5-88A0-47C6-9482-9D1124EE1DD8}" type="presParOf" srcId="{B29137E4-D5E6-41DD-8C6B-8E16B874FEAD}" destId="{DE69B70B-7771-4F86-B139-A7C427779476}" srcOrd="3" destOrd="0" presId="urn:microsoft.com/office/officeart/2005/8/layout/default"/>
    <dgm:cxn modelId="{922294D1-9C0E-4BBC-871B-FA17F37FCC5C}" type="presParOf" srcId="{B29137E4-D5E6-41DD-8C6B-8E16B874FEAD}" destId="{89B9FA1E-CF86-4B15-B893-54EA105AF16D}" srcOrd="4" destOrd="0" presId="urn:microsoft.com/office/officeart/2005/8/layout/default"/>
    <dgm:cxn modelId="{0C86EE0F-0300-4016-B819-324E0FECC9E1}" type="presParOf" srcId="{B29137E4-D5E6-41DD-8C6B-8E16B874FEAD}" destId="{4D349FA2-A553-42B1-8E22-375FA7498662}" srcOrd="5" destOrd="0" presId="urn:microsoft.com/office/officeart/2005/8/layout/default"/>
    <dgm:cxn modelId="{86FB3A3A-37A9-4D6D-B6EC-63DCFAD0F03D}" type="presParOf" srcId="{B29137E4-D5E6-41DD-8C6B-8E16B874FEAD}" destId="{D51C1BB6-4BDA-43AB-99F8-64E718B9A272}" srcOrd="6" destOrd="0" presId="urn:microsoft.com/office/officeart/2005/8/layout/default"/>
    <dgm:cxn modelId="{F6DA9FF2-E48D-4286-B559-979C37DC748E}" type="presParOf" srcId="{B29137E4-D5E6-41DD-8C6B-8E16B874FEAD}" destId="{A8D22141-DCB5-4B92-83A3-228129EA96AD}" srcOrd="7" destOrd="0" presId="urn:microsoft.com/office/officeart/2005/8/layout/default"/>
    <dgm:cxn modelId="{7DED6B01-6B42-414A-A133-E4904AD876B3}" type="presParOf" srcId="{B29137E4-D5E6-41DD-8C6B-8E16B874FEAD}" destId="{AC3ECEAB-3509-4127-B00E-4DDA4A6F5395}" srcOrd="8" destOrd="0" presId="urn:microsoft.com/office/officeart/2005/8/layout/default"/>
    <dgm:cxn modelId="{E00E366D-5CFE-484A-9529-CFD7D29F89DA}" type="presParOf" srcId="{B29137E4-D5E6-41DD-8C6B-8E16B874FEAD}" destId="{1EF2C092-9D6E-4BA4-BD04-57DA81ED56CA}" srcOrd="9" destOrd="0" presId="urn:microsoft.com/office/officeart/2005/8/layout/default"/>
    <dgm:cxn modelId="{594C1825-9513-4B45-9590-F34D65764151}" type="presParOf" srcId="{B29137E4-D5E6-41DD-8C6B-8E16B874FEAD}" destId="{C62BE3CB-F414-4DB0-B773-478C66E02504}" srcOrd="10" destOrd="0" presId="urn:microsoft.com/office/officeart/2005/8/layout/default"/>
    <dgm:cxn modelId="{77194854-BCFE-4528-A38C-FF8EAB65A1CA}" type="presParOf" srcId="{B29137E4-D5E6-41DD-8C6B-8E16B874FEAD}" destId="{5C8B5E6E-7CB7-4BD6-93C7-DED988EC4DC5}" srcOrd="11" destOrd="0" presId="urn:microsoft.com/office/officeart/2005/8/layout/default"/>
    <dgm:cxn modelId="{EAAACFF4-EDEF-4722-8733-8FFE58A70046}" type="presParOf" srcId="{B29137E4-D5E6-41DD-8C6B-8E16B874FEAD}" destId="{4B5D761B-7B16-42FE-B466-A29091D10A9F}" srcOrd="12" destOrd="0" presId="urn:microsoft.com/office/officeart/2005/8/layout/default"/>
    <dgm:cxn modelId="{CD26D6EF-0356-465C-826A-AD112D9FFAAB}" type="presParOf" srcId="{B29137E4-D5E6-41DD-8C6B-8E16B874FEAD}" destId="{0827913A-D612-49B8-8623-712B39760FD6}" srcOrd="13" destOrd="0" presId="urn:microsoft.com/office/officeart/2005/8/layout/default"/>
    <dgm:cxn modelId="{0FFB769B-206A-4F83-A8AD-FA2B67B7B00B}" type="presParOf" srcId="{B29137E4-D5E6-41DD-8C6B-8E16B874FEAD}" destId="{0517FD7C-9307-4D74-83EC-3B211258FA50}" srcOrd="14" destOrd="0" presId="urn:microsoft.com/office/officeart/2005/8/layout/default"/>
    <dgm:cxn modelId="{659B3EA6-8EE0-4DAD-8984-01F7F1CCFBD1}" type="presParOf" srcId="{B29137E4-D5E6-41DD-8C6B-8E16B874FEAD}" destId="{E7AC2818-8FC3-4466-80BC-5BCDAC00FBE0}" srcOrd="15" destOrd="0" presId="urn:microsoft.com/office/officeart/2005/8/layout/default"/>
    <dgm:cxn modelId="{7CAEAA61-72F1-42C7-A5C0-D59418CD8F13}" type="presParOf" srcId="{B29137E4-D5E6-41DD-8C6B-8E16B874FEAD}" destId="{C68A4954-03F3-424D-83BB-5605A08834EF}" srcOrd="16" destOrd="0" presId="urn:microsoft.com/office/officeart/2005/8/layout/default"/>
    <dgm:cxn modelId="{FC56F169-F23A-4232-8F50-960C94246C48}" type="presParOf" srcId="{B29137E4-D5E6-41DD-8C6B-8E16B874FEAD}" destId="{9F8D46BF-E080-4978-8C2B-4432A94CA8CB}" srcOrd="17" destOrd="0" presId="urn:microsoft.com/office/officeart/2005/8/layout/default"/>
    <dgm:cxn modelId="{E0DD2048-BD06-44DA-BEF9-B391596C3C07}" type="presParOf" srcId="{B29137E4-D5E6-41DD-8C6B-8E16B874FEAD}" destId="{7A97EFE6-6D89-4EDD-90A5-2E555366EA8B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3B1DDA-1EE2-49B0-B1CB-BA25B73000A7}">
      <dsp:nvSpPr>
        <dsp:cNvPr id="0" name=""/>
        <dsp:cNvSpPr/>
      </dsp:nvSpPr>
      <dsp:spPr>
        <a:xfrm>
          <a:off x="0" y="0"/>
          <a:ext cx="8553449" cy="82283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Malaria remains a major public health challenge in Kenya</a:t>
          </a:r>
          <a:r>
            <a:rPr lang="en-US" sz="1600" kern="1200"/>
            <a:t>, with 10 counties accounting for ~95% of the national burden—Turkana among the highest.</a:t>
          </a:r>
        </a:p>
      </dsp:txBody>
      <dsp:txXfrm>
        <a:off x="24100" y="24100"/>
        <a:ext cx="7596019" cy="774633"/>
      </dsp:txXfrm>
    </dsp:sp>
    <dsp:sp modelId="{2A22D874-FECB-450D-947B-C6168A85C133}">
      <dsp:nvSpPr>
        <dsp:cNvPr id="0" name=""/>
        <dsp:cNvSpPr/>
      </dsp:nvSpPr>
      <dsp:spPr>
        <a:xfrm>
          <a:off x="716351" y="972439"/>
          <a:ext cx="8553449" cy="822833"/>
        </a:xfrm>
        <a:prstGeom prst="roundRect">
          <a:avLst>
            <a:gd name="adj" fmla="val 10000"/>
          </a:avLst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Kakuma Ward alone manages over 65,000 malaria cases annually</a:t>
          </a:r>
          <a:r>
            <a:rPr lang="en-US" sz="1600" kern="1200" dirty="0"/>
            <a:t>, with increasingly unpredictable seasonal peaks due to climate variability.</a:t>
          </a:r>
        </a:p>
      </dsp:txBody>
      <dsp:txXfrm>
        <a:off x="740451" y="996539"/>
        <a:ext cx="7254056" cy="774633"/>
      </dsp:txXfrm>
    </dsp:sp>
    <dsp:sp modelId="{ADF0C097-35DC-4144-9CE1-1D6BFC4BD751}">
      <dsp:nvSpPr>
        <dsp:cNvPr id="0" name=""/>
        <dsp:cNvSpPr/>
      </dsp:nvSpPr>
      <dsp:spPr>
        <a:xfrm>
          <a:off x="1422010" y="1944878"/>
          <a:ext cx="8553449" cy="822833"/>
        </a:xfrm>
        <a:prstGeom prst="roundRect">
          <a:avLst>
            <a:gd name="adj" fmla="val 10000"/>
          </a:avLst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Reactive responses in ASAL regions lead to stock-outs, Health Care Worker  burnout, and excess morbidity</a:t>
          </a:r>
          <a:r>
            <a:rPr lang="en-US" sz="1600" kern="1200" dirty="0"/>
            <a:t>, especially among pregnant women and children.</a:t>
          </a:r>
        </a:p>
      </dsp:txBody>
      <dsp:txXfrm>
        <a:off x="1446110" y="1968978"/>
        <a:ext cx="7264748" cy="774633"/>
      </dsp:txXfrm>
    </dsp:sp>
    <dsp:sp modelId="{23650A6C-6088-4870-9098-957EEC4315DB}">
      <dsp:nvSpPr>
        <dsp:cNvPr id="0" name=""/>
        <dsp:cNvSpPr/>
      </dsp:nvSpPr>
      <dsp:spPr>
        <a:xfrm>
          <a:off x="2138362" y="2917316"/>
          <a:ext cx="8553449" cy="822833"/>
        </a:xfrm>
        <a:prstGeom prst="roundRect">
          <a:avLst>
            <a:gd name="adj" fmla="val 10000"/>
          </a:avLst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capstone proposes a </a:t>
          </a:r>
          <a:r>
            <a:rPr lang="en-US" sz="1600" b="1" kern="1200"/>
            <a:t>climate-informed malaria early warning and response platform</a:t>
          </a:r>
          <a:r>
            <a:rPr lang="en-US" sz="1600" kern="1200"/>
            <a:t>, using weather data and historical trends to forecast outbreaks and guide timely interventions.</a:t>
          </a:r>
        </a:p>
      </dsp:txBody>
      <dsp:txXfrm>
        <a:off x="2162462" y="2941416"/>
        <a:ext cx="7254056" cy="774633"/>
      </dsp:txXfrm>
    </dsp:sp>
    <dsp:sp modelId="{DD65242C-D1C5-4C15-AC5A-EE430E411307}">
      <dsp:nvSpPr>
        <dsp:cNvPr id="0" name=""/>
        <dsp:cNvSpPr/>
      </dsp:nvSpPr>
      <dsp:spPr>
        <a:xfrm>
          <a:off x="8018608" y="630215"/>
          <a:ext cx="534841" cy="5348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138947" y="630215"/>
        <a:ext cx="294163" cy="402468"/>
      </dsp:txXfrm>
    </dsp:sp>
    <dsp:sp modelId="{27AE3511-BF70-42F1-9C40-3A885D560530}">
      <dsp:nvSpPr>
        <dsp:cNvPr id="0" name=""/>
        <dsp:cNvSpPr/>
      </dsp:nvSpPr>
      <dsp:spPr>
        <a:xfrm>
          <a:off x="8734959" y="1602654"/>
          <a:ext cx="534841" cy="5348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57348"/>
            <a:satOff val="-4819"/>
            <a:lumOff val="-25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57348"/>
              <a:satOff val="-4819"/>
              <a:lumOff val="-25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855298" y="1602654"/>
        <a:ext cx="294163" cy="402468"/>
      </dsp:txXfrm>
    </dsp:sp>
    <dsp:sp modelId="{FD61852C-8C27-453C-A55F-6062B6F504BE}">
      <dsp:nvSpPr>
        <dsp:cNvPr id="0" name=""/>
        <dsp:cNvSpPr/>
      </dsp:nvSpPr>
      <dsp:spPr>
        <a:xfrm>
          <a:off x="9440619" y="2575093"/>
          <a:ext cx="534841" cy="5348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14695"/>
            <a:satOff val="-9638"/>
            <a:lumOff val="-51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14695"/>
              <a:satOff val="-9638"/>
              <a:lumOff val="-51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560958" y="2575093"/>
        <a:ext cx="294163" cy="4024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FF7CC-570D-4210-AFF4-4A90B7FEFC51}">
      <dsp:nvSpPr>
        <dsp:cNvPr id="0" name=""/>
        <dsp:cNvSpPr/>
      </dsp:nvSpPr>
      <dsp:spPr>
        <a:xfrm>
          <a:off x="3132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ACEA34-F427-4352-A38F-DA1478CC01D4}">
      <dsp:nvSpPr>
        <dsp:cNvPr id="0" name=""/>
        <dsp:cNvSpPr/>
      </dsp:nvSpPr>
      <dsp:spPr>
        <a:xfrm>
          <a:off x="251633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Preprocessing Workflow</a:t>
          </a:r>
          <a:br>
            <a:rPr lang="en-US" sz="1100" kern="1200" dirty="0"/>
          </a:br>
          <a:r>
            <a:rPr lang="en-US" sz="1100" kern="1200" dirty="0"/>
            <a:t>Temporal alignment by week/location; impute rare gaps with flags; apply log1p transform;,, and residuals; engineer lags and rolling statistics.</a:t>
          </a:r>
        </a:p>
      </dsp:txBody>
      <dsp:txXfrm>
        <a:off x="293229" y="1319617"/>
        <a:ext cx="2153317" cy="1336991"/>
      </dsp:txXfrm>
    </dsp:sp>
    <dsp:sp modelId="{B38F64BC-A957-4E66-BA96-826FEF9021F7}">
      <dsp:nvSpPr>
        <dsp:cNvPr id="0" name=""/>
        <dsp:cNvSpPr/>
      </dsp:nvSpPr>
      <dsp:spPr>
        <a:xfrm>
          <a:off x="2736644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2F7AF5-7699-4061-9267-1BCA47A530F2}">
      <dsp:nvSpPr>
        <dsp:cNvPr id="0" name=""/>
        <dsp:cNvSpPr/>
      </dsp:nvSpPr>
      <dsp:spPr>
        <a:xfrm>
          <a:off x="2985145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Cleaning Challenges &amp; Solutions</a:t>
          </a:r>
          <a:br>
            <a:rPr lang="en-US" sz="1100" kern="1200" dirty="0"/>
          </a:br>
          <a:r>
            <a:rPr lang="en-US" sz="1100" kern="1200" dirty="0"/>
            <a:t>Handle reporting backfills, outliers, heteroscedasticity, and multicollinearity, multiplicative and additive decomposition, regularization, </a:t>
          </a:r>
        </a:p>
      </dsp:txBody>
      <dsp:txXfrm>
        <a:off x="3026741" y="1319617"/>
        <a:ext cx="2153317" cy="1336991"/>
      </dsp:txXfrm>
    </dsp:sp>
    <dsp:sp modelId="{FD80509E-2ADA-4E4B-92C0-C66B33BBA8D6}">
      <dsp:nvSpPr>
        <dsp:cNvPr id="0" name=""/>
        <dsp:cNvSpPr/>
      </dsp:nvSpPr>
      <dsp:spPr>
        <a:xfrm>
          <a:off x="5470156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0EFB3-49C1-4B3C-AAD7-E0071FB92064}">
      <dsp:nvSpPr>
        <dsp:cNvPr id="0" name=""/>
        <dsp:cNvSpPr/>
      </dsp:nvSpPr>
      <dsp:spPr>
        <a:xfrm>
          <a:off x="5718657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Minimum Dataset Size</a:t>
          </a:r>
          <a:br>
            <a:rPr lang="en-US" sz="1100" kern="1200"/>
          </a:br>
          <a:r>
            <a:rPr lang="en-US" sz="1100" kern="1200"/>
            <a:t>At least </a:t>
          </a:r>
          <a:r>
            <a:rPr lang="en-US" sz="1100" b="1" kern="1200"/>
            <a:t>300 weekly observations</a:t>
          </a:r>
          <a:r>
            <a:rPr lang="en-US" sz="1100" kern="1200"/>
            <a:t> post-cleaning.</a:t>
          </a:r>
        </a:p>
      </dsp:txBody>
      <dsp:txXfrm>
        <a:off x="5760253" y="1319617"/>
        <a:ext cx="2153317" cy="1336991"/>
      </dsp:txXfrm>
    </dsp:sp>
    <dsp:sp modelId="{19325496-176F-49EB-B595-9F705FFBF057}">
      <dsp:nvSpPr>
        <dsp:cNvPr id="0" name=""/>
        <dsp:cNvSpPr/>
      </dsp:nvSpPr>
      <dsp:spPr>
        <a:xfrm>
          <a:off x="8203668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F7D94-1C51-448D-BD05-5ADF73DA4A78}">
      <dsp:nvSpPr>
        <dsp:cNvPr id="0" name=""/>
        <dsp:cNvSpPr/>
      </dsp:nvSpPr>
      <dsp:spPr>
        <a:xfrm>
          <a:off x="8452169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Visualization Techniques</a:t>
          </a:r>
          <a:br>
            <a:rPr lang="en-US" sz="1100" kern="1200"/>
          </a:br>
          <a:r>
            <a:rPr lang="en-US" sz="1100" kern="1200"/>
            <a:t>Rolling means, seasonal profiles (mean ± SD), anomaly heatmaps (z-scores), ACF/PACF plots, lagged correlations, and STL decomposition panels.</a:t>
          </a:r>
        </a:p>
      </dsp:txBody>
      <dsp:txXfrm>
        <a:off x="8493765" y="1319617"/>
        <a:ext cx="2153317" cy="13369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DC8D92-2C9F-46D7-989E-40B36BC098CC}">
      <dsp:nvSpPr>
        <dsp:cNvPr id="0" name=""/>
        <dsp:cNvSpPr/>
      </dsp:nvSpPr>
      <dsp:spPr>
        <a:xfrm>
          <a:off x="952" y="1009980"/>
          <a:ext cx="3504364" cy="7745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Case</a:t>
          </a:r>
        </a:p>
      </dsp:txBody>
      <dsp:txXfrm>
        <a:off x="952" y="1009980"/>
        <a:ext cx="3504364" cy="774521"/>
      </dsp:txXfrm>
    </dsp:sp>
    <dsp:sp modelId="{49C948C6-C0A2-41DA-BD6D-F2999AFAD053}">
      <dsp:nvSpPr>
        <dsp:cNvPr id="0" name=""/>
        <dsp:cNvSpPr/>
      </dsp:nvSpPr>
      <dsp:spPr>
        <a:xfrm>
          <a:off x="4065467" y="991686"/>
          <a:ext cx="3563517" cy="8111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Month</a:t>
          </a:r>
        </a:p>
      </dsp:txBody>
      <dsp:txXfrm>
        <a:off x="4065467" y="991686"/>
        <a:ext cx="3563517" cy="811109"/>
      </dsp:txXfrm>
    </dsp:sp>
    <dsp:sp modelId="{89B9FA1E-CF86-4B15-B893-54EA105AF16D}">
      <dsp:nvSpPr>
        <dsp:cNvPr id="0" name=""/>
        <dsp:cNvSpPr/>
      </dsp:nvSpPr>
      <dsp:spPr>
        <a:xfrm>
          <a:off x="7898680" y="1000839"/>
          <a:ext cx="2986679" cy="7928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Weather</a:t>
          </a:r>
        </a:p>
      </dsp:txBody>
      <dsp:txXfrm>
        <a:off x="7898680" y="1000839"/>
        <a:ext cx="2986679" cy="792803"/>
      </dsp:txXfrm>
    </dsp:sp>
    <dsp:sp modelId="{D51C1BB6-4BDA-43AB-99F8-64E718B9A272}">
      <dsp:nvSpPr>
        <dsp:cNvPr id="0" name=""/>
        <dsp:cNvSpPr/>
      </dsp:nvSpPr>
      <dsp:spPr>
        <a:xfrm>
          <a:off x="0" y="2163709"/>
          <a:ext cx="10813051" cy="8480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Feature engineering</a:t>
          </a:r>
        </a:p>
      </dsp:txBody>
      <dsp:txXfrm>
        <a:off x="0" y="2163709"/>
        <a:ext cx="10813051" cy="848071"/>
      </dsp:txXfrm>
    </dsp:sp>
    <dsp:sp modelId="{AC3ECEAB-3509-4127-B00E-4DDA4A6F5395}">
      <dsp:nvSpPr>
        <dsp:cNvPr id="0" name=""/>
        <dsp:cNvSpPr/>
      </dsp:nvSpPr>
      <dsp:spPr>
        <a:xfrm>
          <a:off x="61538" y="3557016"/>
          <a:ext cx="2554964" cy="1032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sin_month</a:t>
          </a:r>
          <a:endParaRPr lang="en-U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cos_month</a:t>
          </a:r>
          <a:endParaRPr lang="en-US" sz="1600" kern="1200" dirty="0"/>
        </a:p>
      </dsp:txBody>
      <dsp:txXfrm>
        <a:off x="61538" y="3557016"/>
        <a:ext cx="2554964" cy="1032953"/>
      </dsp:txXfrm>
    </dsp:sp>
    <dsp:sp modelId="{C62BE3CB-F414-4DB0-B773-478C66E02504}">
      <dsp:nvSpPr>
        <dsp:cNvPr id="0" name=""/>
        <dsp:cNvSpPr/>
      </dsp:nvSpPr>
      <dsp:spPr>
        <a:xfrm>
          <a:off x="2979475" y="3557028"/>
          <a:ext cx="2776924" cy="10744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Combined positive _positive_roll_mean_4</a:t>
          </a:r>
        </a:p>
      </dsp:txBody>
      <dsp:txXfrm>
        <a:off x="2979475" y="3557028"/>
        <a:ext cx="2776924" cy="1074472"/>
      </dsp:txXfrm>
    </dsp:sp>
    <dsp:sp modelId="{4B5D761B-7B16-42FE-B466-A29091D10A9F}">
      <dsp:nvSpPr>
        <dsp:cNvPr id="0" name=""/>
        <dsp:cNvSpPr/>
      </dsp:nvSpPr>
      <dsp:spPr>
        <a:xfrm>
          <a:off x="5931950" y="3557016"/>
          <a:ext cx="2484603" cy="10657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Rain_mm_lag_4* Soil moisture</a:t>
          </a:r>
        </a:p>
      </dsp:txBody>
      <dsp:txXfrm>
        <a:off x="5931950" y="3557016"/>
        <a:ext cx="2484603" cy="1065730"/>
      </dsp:txXfrm>
    </dsp:sp>
    <dsp:sp modelId="{0517FD7C-9307-4D74-83EC-3B211258FA50}">
      <dsp:nvSpPr>
        <dsp:cNvPr id="0" name=""/>
        <dsp:cNvSpPr/>
      </dsp:nvSpPr>
      <dsp:spPr>
        <a:xfrm>
          <a:off x="8544426" y="3538738"/>
          <a:ext cx="2340933" cy="10128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Ratio_lag</a:t>
          </a:r>
          <a:endParaRPr lang="en-US" sz="1600" kern="1200" dirty="0"/>
        </a:p>
      </dsp:txBody>
      <dsp:txXfrm>
        <a:off x="8544426" y="3538738"/>
        <a:ext cx="2340933" cy="1012803"/>
      </dsp:txXfrm>
    </dsp:sp>
    <dsp:sp modelId="{C68A4954-03F3-424D-83BB-5605A08834EF}">
      <dsp:nvSpPr>
        <dsp:cNvPr id="0" name=""/>
        <dsp:cNvSpPr/>
      </dsp:nvSpPr>
      <dsp:spPr>
        <a:xfrm>
          <a:off x="2872294" y="5001779"/>
          <a:ext cx="4151106" cy="10401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Train test split: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Train: Before July 1</a:t>
          </a:r>
          <a:r>
            <a:rPr lang="en-US" sz="1600" kern="1200" baseline="30000" dirty="0"/>
            <a:t>st</a:t>
          </a:r>
          <a:r>
            <a:rPr lang="en-US" sz="1600" kern="1200" dirty="0"/>
            <a:t> 2024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Test: After July 1</a:t>
          </a:r>
          <a:r>
            <a:rPr lang="en-US" sz="1600" kern="1200" baseline="30000" dirty="0"/>
            <a:t>st</a:t>
          </a:r>
          <a:r>
            <a:rPr lang="en-US" sz="1600" kern="1200" dirty="0"/>
            <a:t> 2024</a:t>
          </a:r>
        </a:p>
      </dsp:txBody>
      <dsp:txXfrm>
        <a:off x="2872294" y="5001779"/>
        <a:ext cx="4151106" cy="1040151"/>
      </dsp:txXfrm>
    </dsp:sp>
    <dsp:sp modelId="{7A97EFE6-6D89-4EDD-90A5-2E555366EA8B}">
      <dsp:nvSpPr>
        <dsp:cNvPr id="0" name=""/>
        <dsp:cNvSpPr/>
      </dsp:nvSpPr>
      <dsp:spPr>
        <a:xfrm>
          <a:off x="2950563" y="6417717"/>
          <a:ext cx="4151106" cy="6963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Hyperparameter Tuning using </a:t>
          </a:r>
          <a:r>
            <a:rPr lang="en-US" sz="1600" kern="1200" dirty="0" err="1"/>
            <a:t>Gridsearch</a:t>
          </a:r>
          <a:r>
            <a:rPr lang="en-US" sz="1600" kern="1200" dirty="0"/>
            <a:t> CV</a:t>
          </a:r>
        </a:p>
      </dsp:txBody>
      <dsp:txXfrm>
        <a:off x="2950563" y="6417717"/>
        <a:ext cx="4151106" cy="696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69C71-FB76-48DE-A4B1-CB1334D4C22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9B88B-3CB7-4870-AE6B-435724C3E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37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9B88B-3CB7-4870-AE6B-435724C3E8E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55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/>
              <a:t>Seasonality Features</a:t>
            </a:r>
            <a:endParaRPr lang="en-US" dirty="0"/>
          </a:p>
          <a:p>
            <a:pPr lvl="1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sin_month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cos_month</a:t>
            </a:r>
            <a:r>
              <a:rPr lang="en-US" dirty="0"/>
              <a:t>: Capture annual cycles in malaria transmission.</a:t>
            </a:r>
          </a:p>
          <a:p>
            <a:pPr lvl="0"/>
            <a:r>
              <a:rPr lang="en-US" b="1" dirty="0"/>
              <a:t> Rolling Statistics</a:t>
            </a:r>
            <a:endParaRPr lang="en-US" dirty="0"/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Combined_positive_roll_mean_4</a:t>
            </a:r>
            <a:r>
              <a:rPr lang="en-US" dirty="0"/>
              <a:t>: 4-week moving average of cases.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Combined_positive_roll_std_4</a:t>
            </a:r>
            <a:r>
              <a:rPr lang="en-US" dirty="0"/>
              <a:t>: 4-week variability.</a:t>
            </a:r>
          </a:p>
          <a:p>
            <a:r>
              <a:rPr lang="en-US" b="1" dirty="0"/>
              <a:t> Lagged Features</a:t>
            </a:r>
            <a:endParaRPr lang="en-US" dirty="0"/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rain_mm_lag_4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humidity_lag_5</a:t>
            </a:r>
            <a:r>
              <a:rPr lang="en-US" dirty="0"/>
              <a:t>: Reflect delayed impact of weather on mosquito breeding.</a:t>
            </a:r>
          </a:p>
          <a:p>
            <a:r>
              <a:rPr lang="en-US" b="1" dirty="0"/>
              <a:t> Interaction Terms</a:t>
            </a:r>
            <a:endParaRPr lang="en-US" dirty="0"/>
          </a:p>
          <a:p>
            <a:pPr lvl="1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rain_mm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×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soil_moisture</a:t>
            </a:r>
            <a:r>
              <a:rPr lang="en-US" dirty="0"/>
              <a:t>: Models joint effect on vector habitat suitability.</a:t>
            </a:r>
          </a:p>
          <a:p>
            <a:r>
              <a:rPr lang="en-US" b="1" dirty="0"/>
              <a:t>Ratio Features</a:t>
            </a:r>
            <a:endParaRPr lang="en-US" dirty="0"/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ratio_lag_1</a:t>
            </a:r>
            <a:r>
              <a:rPr lang="en-US" dirty="0"/>
              <a:t>: Next week’s cases ÷ this week’s cases.</a:t>
            </a:r>
          </a:p>
          <a:p>
            <a:pPr lvl="1"/>
            <a:r>
              <a:rPr lang="en-US" dirty="0"/>
              <a:t>Flags potential spikes (≥50% increase).</a:t>
            </a:r>
          </a:p>
          <a:p>
            <a:endParaRPr lang="en-US" dirty="0"/>
          </a:p>
          <a:p>
            <a:r>
              <a:rPr lang="en-US" b="1" dirty="0"/>
              <a:t>Model Tuning</a:t>
            </a:r>
          </a:p>
          <a:p>
            <a:r>
              <a:rPr lang="en-US" b="1" dirty="0"/>
              <a:t>Train/Test Split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Train: Before July 1, 2024</a:t>
            </a:r>
          </a:p>
          <a:p>
            <a:pPr lvl="1"/>
            <a:r>
              <a:rPr lang="en-US" dirty="0"/>
              <a:t>Test: July 1, 2024 onward</a:t>
            </a:r>
          </a:p>
          <a:p>
            <a:r>
              <a:rPr lang="en-US" b="1" dirty="0"/>
              <a:t>Hyperparameter Optimization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Used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GridSearchCV</a:t>
            </a:r>
            <a:r>
              <a:rPr lang="en-US" dirty="0"/>
              <a:t> to tune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max_depth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n_estimators</a:t>
            </a:r>
            <a:r>
              <a:rPr lang="en-US" dirty="0"/>
              <a:t>, 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9B88B-3CB7-4870-AE6B-435724C3E8E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86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0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49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5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22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84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05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9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2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9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7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3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85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s/photo/940159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osquito on skin">
            <a:extLst>
              <a:ext uri="{FF2B5EF4-FFF2-40B4-BE49-F238E27FC236}">
                <a16:creationId xmlns:a16="http://schemas.microsoft.com/office/drawing/2014/main" id="{65D4F05B-C040-D079-2A17-9B8745F0FA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61" b="459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24D10C-3C5A-0458-5A16-FBF894144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75147"/>
            <a:ext cx="7978385" cy="916234"/>
          </a:xfrm>
        </p:spPr>
        <p:txBody>
          <a:bodyPr anchor="ctr">
            <a:normAutofit/>
          </a:bodyPr>
          <a:lstStyle/>
          <a:p>
            <a:r>
              <a:rPr lang="en-US" sz="3600" dirty="0"/>
              <a:t>Malaria Predictive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8AA4B-756D-10BB-BD40-2667C15BE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426" y="196597"/>
            <a:ext cx="3634494" cy="868139"/>
          </a:xfrm>
        </p:spPr>
        <p:txBody>
          <a:bodyPr anchor="ctr">
            <a:normAutofit/>
          </a:bodyPr>
          <a:lstStyle/>
          <a:p>
            <a:pPr algn="r"/>
            <a:r>
              <a:rPr lang="en-US" sz="1800" dirty="0"/>
              <a:t>Group 2</a:t>
            </a:r>
          </a:p>
        </p:txBody>
      </p:sp>
    </p:spTree>
    <p:extLst>
      <p:ext uri="{BB962C8B-B14F-4D97-AF65-F5344CB8AC3E}">
        <p14:creationId xmlns:p14="http://schemas.microsoft.com/office/powerpoint/2010/main" val="3716443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37885-5722-8E43-16F8-C3EE1A03C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Business underst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nding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5C484F-ED87-6944-6876-5F162171C3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1876025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Google Shape;265;p30">
            <a:extLst>
              <a:ext uri="{FF2B5EF4-FFF2-40B4-BE49-F238E27FC236}">
                <a16:creationId xmlns:a16="http://schemas.microsoft.com/office/drawing/2014/main" id="{53F7D275-4A7C-525C-70B7-0313CC90C658}"/>
              </a:ext>
            </a:extLst>
          </p:cNvPr>
          <p:cNvSpPr/>
          <p:nvPr/>
        </p:nvSpPr>
        <p:spPr>
          <a:xfrm>
            <a:off x="5165556" y="673114"/>
            <a:ext cx="727236" cy="473048"/>
          </a:xfrm>
          <a:custGeom>
            <a:avLst/>
            <a:gdLst/>
            <a:ahLst/>
            <a:cxnLst/>
            <a:rect l="l" t="t" r="r" b="b"/>
            <a:pathLst>
              <a:path w="7184" h="4673" extrusionOk="0">
                <a:moveTo>
                  <a:pt x="3808" y="954"/>
                </a:moveTo>
                <a:lnTo>
                  <a:pt x="3769" y="993"/>
                </a:lnTo>
                <a:cubicBezTo>
                  <a:pt x="3749" y="983"/>
                  <a:pt x="3729" y="983"/>
                  <a:pt x="3710" y="973"/>
                </a:cubicBezTo>
                <a:cubicBezTo>
                  <a:pt x="3739" y="963"/>
                  <a:pt x="3769" y="963"/>
                  <a:pt x="3808" y="954"/>
                </a:cubicBezTo>
                <a:close/>
                <a:moveTo>
                  <a:pt x="4809" y="188"/>
                </a:moveTo>
                <a:cubicBezTo>
                  <a:pt x="4818" y="188"/>
                  <a:pt x="4818" y="188"/>
                  <a:pt x="4818" y="198"/>
                </a:cubicBezTo>
                <a:lnTo>
                  <a:pt x="4543" y="1170"/>
                </a:lnTo>
                <a:lnTo>
                  <a:pt x="4338" y="1140"/>
                </a:lnTo>
                <a:cubicBezTo>
                  <a:pt x="4171" y="1111"/>
                  <a:pt x="4004" y="1091"/>
                  <a:pt x="3837" y="1061"/>
                </a:cubicBezTo>
                <a:lnTo>
                  <a:pt x="3856" y="1052"/>
                </a:lnTo>
                <a:cubicBezTo>
                  <a:pt x="3876" y="1052"/>
                  <a:pt x="3886" y="1042"/>
                  <a:pt x="3906" y="1042"/>
                </a:cubicBezTo>
                <a:cubicBezTo>
                  <a:pt x="3896" y="1042"/>
                  <a:pt x="3886" y="1032"/>
                  <a:pt x="3876" y="1032"/>
                </a:cubicBezTo>
                <a:lnTo>
                  <a:pt x="4809" y="188"/>
                </a:lnTo>
                <a:close/>
                <a:moveTo>
                  <a:pt x="5956" y="1307"/>
                </a:moveTo>
                <a:cubicBezTo>
                  <a:pt x="5956" y="1307"/>
                  <a:pt x="5967" y="1307"/>
                  <a:pt x="5967" y="1317"/>
                </a:cubicBezTo>
                <a:lnTo>
                  <a:pt x="5986" y="1503"/>
                </a:lnTo>
                <a:cubicBezTo>
                  <a:pt x="5967" y="1503"/>
                  <a:pt x="5956" y="1503"/>
                  <a:pt x="5947" y="1493"/>
                </a:cubicBezTo>
                <a:cubicBezTo>
                  <a:pt x="5878" y="1474"/>
                  <a:pt x="5819" y="1464"/>
                  <a:pt x="5760" y="1444"/>
                </a:cubicBezTo>
                <a:lnTo>
                  <a:pt x="5956" y="1307"/>
                </a:lnTo>
                <a:close/>
                <a:moveTo>
                  <a:pt x="5456" y="1641"/>
                </a:moveTo>
                <a:cubicBezTo>
                  <a:pt x="5642" y="1680"/>
                  <a:pt x="5829" y="1719"/>
                  <a:pt x="6006" y="1758"/>
                </a:cubicBezTo>
                <a:lnTo>
                  <a:pt x="6065" y="2230"/>
                </a:lnTo>
                <a:cubicBezTo>
                  <a:pt x="5967" y="2141"/>
                  <a:pt x="5869" y="2053"/>
                  <a:pt x="5790" y="1994"/>
                </a:cubicBezTo>
                <a:lnTo>
                  <a:pt x="5760" y="1778"/>
                </a:lnTo>
                <a:cubicBezTo>
                  <a:pt x="5754" y="1738"/>
                  <a:pt x="5724" y="1711"/>
                  <a:pt x="5690" y="1711"/>
                </a:cubicBezTo>
                <a:cubicBezTo>
                  <a:pt x="5674" y="1711"/>
                  <a:pt x="5658" y="1716"/>
                  <a:pt x="5642" y="1729"/>
                </a:cubicBezTo>
                <a:cubicBezTo>
                  <a:pt x="5613" y="1748"/>
                  <a:pt x="5574" y="1778"/>
                  <a:pt x="5525" y="1807"/>
                </a:cubicBezTo>
                <a:cubicBezTo>
                  <a:pt x="5476" y="1778"/>
                  <a:pt x="5417" y="1739"/>
                  <a:pt x="5358" y="1709"/>
                </a:cubicBezTo>
                <a:lnTo>
                  <a:pt x="5456" y="1641"/>
                </a:lnTo>
                <a:close/>
                <a:moveTo>
                  <a:pt x="4899" y="0"/>
                </a:moveTo>
                <a:cubicBezTo>
                  <a:pt x="4895" y="0"/>
                  <a:pt x="4891" y="1"/>
                  <a:pt x="4887" y="2"/>
                </a:cubicBezTo>
                <a:cubicBezTo>
                  <a:pt x="4711" y="41"/>
                  <a:pt x="4210" y="551"/>
                  <a:pt x="3847" y="915"/>
                </a:cubicBezTo>
                <a:cubicBezTo>
                  <a:pt x="3788" y="895"/>
                  <a:pt x="3729" y="885"/>
                  <a:pt x="3670" y="885"/>
                </a:cubicBezTo>
                <a:cubicBezTo>
                  <a:pt x="3729" y="856"/>
                  <a:pt x="3798" y="836"/>
                  <a:pt x="3867" y="836"/>
                </a:cubicBezTo>
                <a:cubicBezTo>
                  <a:pt x="3769" y="806"/>
                  <a:pt x="3665" y="792"/>
                  <a:pt x="3561" y="792"/>
                </a:cubicBezTo>
                <a:cubicBezTo>
                  <a:pt x="3320" y="792"/>
                  <a:pt x="3074" y="869"/>
                  <a:pt x="2875" y="1013"/>
                </a:cubicBezTo>
                <a:cubicBezTo>
                  <a:pt x="2925" y="954"/>
                  <a:pt x="2973" y="895"/>
                  <a:pt x="3013" y="836"/>
                </a:cubicBezTo>
                <a:lnTo>
                  <a:pt x="3013" y="836"/>
                </a:lnTo>
                <a:cubicBezTo>
                  <a:pt x="2895" y="904"/>
                  <a:pt x="2787" y="1002"/>
                  <a:pt x="2699" y="1111"/>
                </a:cubicBezTo>
                <a:cubicBezTo>
                  <a:pt x="2552" y="934"/>
                  <a:pt x="2365" y="699"/>
                  <a:pt x="2267" y="561"/>
                </a:cubicBezTo>
                <a:cubicBezTo>
                  <a:pt x="2249" y="539"/>
                  <a:pt x="2223" y="529"/>
                  <a:pt x="2198" y="529"/>
                </a:cubicBezTo>
                <a:cubicBezTo>
                  <a:pt x="2167" y="529"/>
                  <a:pt x="2136" y="544"/>
                  <a:pt x="2120" y="571"/>
                </a:cubicBezTo>
                <a:lnTo>
                  <a:pt x="1482" y="2033"/>
                </a:lnTo>
                <a:lnTo>
                  <a:pt x="0" y="3309"/>
                </a:lnTo>
                <a:lnTo>
                  <a:pt x="0" y="3309"/>
                </a:lnTo>
                <a:lnTo>
                  <a:pt x="1560" y="2073"/>
                </a:lnTo>
                <a:lnTo>
                  <a:pt x="2179" y="767"/>
                </a:lnTo>
                <a:cubicBezTo>
                  <a:pt x="2179" y="762"/>
                  <a:pt x="2181" y="760"/>
                  <a:pt x="2184" y="760"/>
                </a:cubicBezTo>
                <a:cubicBezTo>
                  <a:pt x="2186" y="760"/>
                  <a:pt x="2188" y="762"/>
                  <a:pt x="2188" y="767"/>
                </a:cubicBezTo>
                <a:lnTo>
                  <a:pt x="2581" y="1277"/>
                </a:lnTo>
                <a:cubicBezTo>
                  <a:pt x="2571" y="1307"/>
                  <a:pt x="2552" y="1336"/>
                  <a:pt x="2542" y="1356"/>
                </a:cubicBezTo>
                <a:cubicBezTo>
                  <a:pt x="2532" y="1307"/>
                  <a:pt x="2512" y="1258"/>
                  <a:pt x="2502" y="1209"/>
                </a:cubicBezTo>
                <a:cubicBezTo>
                  <a:pt x="2454" y="1277"/>
                  <a:pt x="2443" y="1366"/>
                  <a:pt x="2473" y="1434"/>
                </a:cubicBezTo>
                <a:cubicBezTo>
                  <a:pt x="2493" y="1493"/>
                  <a:pt x="2532" y="1543"/>
                  <a:pt x="2591" y="1562"/>
                </a:cubicBezTo>
                <a:cubicBezTo>
                  <a:pt x="2576" y="1559"/>
                  <a:pt x="2561" y="1558"/>
                  <a:pt x="2546" y="1558"/>
                </a:cubicBezTo>
                <a:cubicBezTo>
                  <a:pt x="2464" y="1558"/>
                  <a:pt x="2384" y="1602"/>
                  <a:pt x="2326" y="1660"/>
                </a:cubicBezTo>
                <a:cubicBezTo>
                  <a:pt x="2257" y="1748"/>
                  <a:pt x="2228" y="1866"/>
                  <a:pt x="2198" y="1974"/>
                </a:cubicBezTo>
                <a:cubicBezTo>
                  <a:pt x="2179" y="2073"/>
                  <a:pt x="2149" y="2180"/>
                  <a:pt x="2129" y="2278"/>
                </a:cubicBezTo>
                <a:lnTo>
                  <a:pt x="2140" y="2278"/>
                </a:lnTo>
                <a:lnTo>
                  <a:pt x="2090" y="2661"/>
                </a:lnTo>
                <a:cubicBezTo>
                  <a:pt x="2090" y="2661"/>
                  <a:pt x="1913" y="2975"/>
                  <a:pt x="1884" y="3034"/>
                </a:cubicBezTo>
                <a:cubicBezTo>
                  <a:pt x="1865" y="3102"/>
                  <a:pt x="1305" y="4506"/>
                  <a:pt x="1305" y="4506"/>
                </a:cubicBezTo>
                <a:lnTo>
                  <a:pt x="1364" y="4506"/>
                </a:lnTo>
                <a:cubicBezTo>
                  <a:pt x="1364" y="4506"/>
                  <a:pt x="1904" y="3142"/>
                  <a:pt x="1933" y="3122"/>
                </a:cubicBezTo>
                <a:cubicBezTo>
                  <a:pt x="1972" y="3102"/>
                  <a:pt x="2198" y="2740"/>
                  <a:pt x="2198" y="2740"/>
                </a:cubicBezTo>
                <a:lnTo>
                  <a:pt x="2345" y="2249"/>
                </a:lnTo>
                <a:cubicBezTo>
                  <a:pt x="2365" y="2249"/>
                  <a:pt x="2395" y="2239"/>
                  <a:pt x="2414" y="2230"/>
                </a:cubicBezTo>
                <a:cubicBezTo>
                  <a:pt x="2512" y="2190"/>
                  <a:pt x="2591" y="2131"/>
                  <a:pt x="2620" y="2033"/>
                </a:cubicBezTo>
                <a:cubicBezTo>
                  <a:pt x="2640" y="1994"/>
                  <a:pt x="2640" y="1945"/>
                  <a:pt x="2669" y="1905"/>
                </a:cubicBezTo>
                <a:cubicBezTo>
                  <a:pt x="2684" y="1877"/>
                  <a:pt x="2718" y="1854"/>
                  <a:pt x="2747" y="1854"/>
                </a:cubicBezTo>
                <a:cubicBezTo>
                  <a:pt x="2758" y="1854"/>
                  <a:pt x="2769" y="1858"/>
                  <a:pt x="2777" y="1866"/>
                </a:cubicBezTo>
                <a:cubicBezTo>
                  <a:pt x="2757" y="2003"/>
                  <a:pt x="2866" y="2131"/>
                  <a:pt x="3003" y="2171"/>
                </a:cubicBezTo>
                <a:cubicBezTo>
                  <a:pt x="3037" y="2181"/>
                  <a:pt x="3071" y="2186"/>
                  <a:pt x="3107" y="2186"/>
                </a:cubicBezTo>
                <a:cubicBezTo>
                  <a:pt x="3205" y="2186"/>
                  <a:pt x="3306" y="2147"/>
                  <a:pt x="3385" y="2082"/>
                </a:cubicBezTo>
                <a:cubicBezTo>
                  <a:pt x="3455" y="2014"/>
                  <a:pt x="3513" y="1935"/>
                  <a:pt x="3553" y="1846"/>
                </a:cubicBezTo>
                <a:cubicBezTo>
                  <a:pt x="3798" y="2141"/>
                  <a:pt x="4151" y="2544"/>
                  <a:pt x="4495" y="2749"/>
                </a:cubicBezTo>
                <a:lnTo>
                  <a:pt x="4681" y="4241"/>
                </a:lnTo>
                <a:lnTo>
                  <a:pt x="4554" y="2788"/>
                </a:lnTo>
                <a:lnTo>
                  <a:pt x="4554" y="2788"/>
                </a:lnTo>
                <a:cubicBezTo>
                  <a:pt x="4622" y="2828"/>
                  <a:pt x="4681" y="2858"/>
                  <a:pt x="4740" y="2877"/>
                </a:cubicBezTo>
                <a:cubicBezTo>
                  <a:pt x="4909" y="2926"/>
                  <a:pt x="5046" y="2946"/>
                  <a:pt x="5160" y="2946"/>
                </a:cubicBezTo>
                <a:cubicBezTo>
                  <a:pt x="5502" y="2946"/>
                  <a:pt x="5633" y="2769"/>
                  <a:pt x="5780" y="2681"/>
                </a:cubicBezTo>
                <a:lnTo>
                  <a:pt x="5869" y="3220"/>
                </a:lnTo>
                <a:lnTo>
                  <a:pt x="6918" y="4673"/>
                </a:lnTo>
                <a:lnTo>
                  <a:pt x="6918" y="4673"/>
                </a:lnTo>
                <a:lnTo>
                  <a:pt x="5947" y="3201"/>
                </a:lnTo>
                <a:lnTo>
                  <a:pt x="5878" y="2631"/>
                </a:lnTo>
                <a:cubicBezTo>
                  <a:pt x="5904" y="2623"/>
                  <a:pt x="5935" y="2618"/>
                  <a:pt x="5968" y="2618"/>
                </a:cubicBezTo>
                <a:cubicBezTo>
                  <a:pt x="6009" y="2618"/>
                  <a:pt x="6055" y="2625"/>
                  <a:pt x="6104" y="2642"/>
                </a:cubicBezTo>
                <a:lnTo>
                  <a:pt x="6124" y="2759"/>
                </a:lnTo>
                <a:lnTo>
                  <a:pt x="7184" y="4437"/>
                </a:lnTo>
                <a:lnTo>
                  <a:pt x="6202" y="2740"/>
                </a:lnTo>
                <a:lnTo>
                  <a:pt x="6202" y="2671"/>
                </a:lnTo>
                <a:cubicBezTo>
                  <a:pt x="6261" y="2701"/>
                  <a:pt x="6320" y="2730"/>
                  <a:pt x="6388" y="2779"/>
                </a:cubicBezTo>
                <a:cubicBezTo>
                  <a:pt x="6401" y="2786"/>
                  <a:pt x="6414" y="2790"/>
                  <a:pt x="6426" y="2790"/>
                </a:cubicBezTo>
                <a:cubicBezTo>
                  <a:pt x="6479" y="2790"/>
                  <a:pt x="6517" y="2729"/>
                  <a:pt x="6477" y="2681"/>
                </a:cubicBezTo>
                <a:cubicBezTo>
                  <a:pt x="6388" y="2563"/>
                  <a:pt x="6281" y="2445"/>
                  <a:pt x="6172" y="2337"/>
                </a:cubicBezTo>
                <a:lnTo>
                  <a:pt x="6133" y="1778"/>
                </a:lnTo>
                <a:lnTo>
                  <a:pt x="6133" y="1778"/>
                </a:lnTo>
                <a:cubicBezTo>
                  <a:pt x="6340" y="1817"/>
                  <a:pt x="6545" y="1866"/>
                  <a:pt x="6761" y="1905"/>
                </a:cubicBezTo>
                <a:cubicBezTo>
                  <a:pt x="6777" y="1908"/>
                  <a:pt x="6793" y="1911"/>
                  <a:pt x="6808" y="1911"/>
                </a:cubicBezTo>
                <a:cubicBezTo>
                  <a:pt x="6843" y="1911"/>
                  <a:pt x="6872" y="1900"/>
                  <a:pt x="6879" y="1866"/>
                </a:cubicBezTo>
                <a:cubicBezTo>
                  <a:pt x="6889" y="1827"/>
                  <a:pt x="6840" y="1798"/>
                  <a:pt x="6800" y="1778"/>
                </a:cubicBezTo>
                <a:cubicBezTo>
                  <a:pt x="6575" y="1689"/>
                  <a:pt x="6340" y="1621"/>
                  <a:pt x="6114" y="1543"/>
                </a:cubicBezTo>
                <a:lnTo>
                  <a:pt x="6084" y="1159"/>
                </a:lnTo>
                <a:cubicBezTo>
                  <a:pt x="6077" y="1109"/>
                  <a:pt x="6038" y="1080"/>
                  <a:pt x="5998" y="1080"/>
                </a:cubicBezTo>
                <a:cubicBezTo>
                  <a:pt x="5984" y="1080"/>
                  <a:pt x="5969" y="1083"/>
                  <a:pt x="5956" y="1091"/>
                </a:cubicBezTo>
                <a:cubicBezTo>
                  <a:pt x="5849" y="1170"/>
                  <a:pt x="5672" y="1277"/>
                  <a:pt x="5515" y="1375"/>
                </a:cubicBezTo>
                <a:cubicBezTo>
                  <a:pt x="5230" y="1307"/>
                  <a:pt x="4936" y="1248"/>
                  <a:pt x="4652" y="1189"/>
                </a:cubicBezTo>
                <a:lnTo>
                  <a:pt x="4966" y="100"/>
                </a:lnTo>
                <a:cubicBezTo>
                  <a:pt x="4984" y="46"/>
                  <a:pt x="4944" y="0"/>
                  <a:pt x="4899" y="0"/>
                </a:cubicBezTo>
                <a:close/>
              </a:path>
            </a:pathLst>
          </a:custGeom>
          <a:solidFill>
            <a:srgbClr val="E0D7D3">
              <a:alpha val="6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8984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819D-602B-828A-29FC-04662F04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t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underst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nding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B033E-CC04-E15D-B0BF-8E0262052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Data Acquisition: We used publicly available data from District Health Information System (DHIS 2) and Open-</a:t>
            </a:r>
            <a:r>
              <a:rPr lang="en-US" b="1" dirty="0" err="1"/>
              <a:t>Meteo</a:t>
            </a:r>
            <a:endParaRPr lang="en-US" b="1" dirty="0"/>
          </a:p>
          <a:p>
            <a:pPr lvl="1"/>
            <a:r>
              <a:rPr lang="en-US" b="1" dirty="0"/>
              <a:t>Malaria Case Data</a:t>
            </a:r>
            <a:br>
              <a:rPr lang="en-US" dirty="0"/>
            </a:br>
            <a:r>
              <a:rPr lang="en-US" dirty="0"/>
              <a:t>The data was extracted from facility-level records in </a:t>
            </a:r>
            <a:r>
              <a:rPr lang="en-US" b="1" dirty="0"/>
              <a:t>DHIS2</a:t>
            </a:r>
            <a:r>
              <a:rPr lang="en-US" dirty="0"/>
              <a:t>, including case counts and malaria positivity rates for Kakuma Ward.</a:t>
            </a:r>
          </a:p>
          <a:p>
            <a:pPr lvl="1"/>
            <a:r>
              <a:rPr lang="en-US" b="1" dirty="0"/>
              <a:t>Weather Data</a:t>
            </a:r>
            <a:br>
              <a:rPr lang="en-US" dirty="0"/>
            </a:br>
            <a:r>
              <a:rPr lang="en-US" dirty="0"/>
              <a:t>Pulled from </a:t>
            </a:r>
            <a:r>
              <a:rPr lang="en-US" b="1" dirty="0"/>
              <a:t>Open-</a:t>
            </a:r>
            <a:r>
              <a:rPr lang="en-US" b="1" dirty="0" err="1"/>
              <a:t>Meteo</a:t>
            </a:r>
            <a:r>
              <a:rPr lang="en-US" b="1" dirty="0"/>
              <a:t> APIs</a:t>
            </a:r>
            <a:r>
              <a:rPr lang="en-US" dirty="0"/>
              <a:t>, covering key variables:</a:t>
            </a:r>
          </a:p>
          <a:p>
            <a:pPr lvl="2"/>
            <a:r>
              <a:rPr lang="en-US" dirty="0"/>
              <a:t>Rainfall</a:t>
            </a:r>
          </a:p>
          <a:p>
            <a:pPr lvl="2"/>
            <a:r>
              <a:rPr lang="en-US" dirty="0"/>
              <a:t>Temperature</a:t>
            </a:r>
          </a:p>
          <a:p>
            <a:pPr lvl="2"/>
            <a:r>
              <a:rPr lang="en-US" dirty="0"/>
              <a:t>Humidity</a:t>
            </a:r>
          </a:p>
          <a:p>
            <a:pPr lvl="2"/>
            <a:r>
              <a:rPr lang="en-US" dirty="0"/>
              <a:t>Wind speed</a:t>
            </a:r>
          </a:p>
          <a:p>
            <a:pPr lvl="2"/>
            <a:r>
              <a:rPr lang="en-US" dirty="0"/>
              <a:t>Soil moisture</a:t>
            </a:r>
          </a:p>
          <a:p>
            <a:endParaRPr lang="en-US" dirty="0"/>
          </a:p>
        </p:txBody>
      </p:sp>
      <p:sp>
        <p:nvSpPr>
          <p:cNvPr id="4" name="Google Shape;265;p30">
            <a:extLst>
              <a:ext uri="{FF2B5EF4-FFF2-40B4-BE49-F238E27FC236}">
                <a16:creationId xmlns:a16="http://schemas.microsoft.com/office/drawing/2014/main" id="{ACBFB60C-FCDD-2D6A-37E9-F7A1BAE58DEE}"/>
              </a:ext>
            </a:extLst>
          </p:cNvPr>
          <p:cNvSpPr/>
          <p:nvPr/>
        </p:nvSpPr>
        <p:spPr>
          <a:xfrm>
            <a:off x="4150572" y="783944"/>
            <a:ext cx="727236" cy="473048"/>
          </a:xfrm>
          <a:custGeom>
            <a:avLst/>
            <a:gdLst/>
            <a:ahLst/>
            <a:cxnLst/>
            <a:rect l="l" t="t" r="r" b="b"/>
            <a:pathLst>
              <a:path w="7184" h="4673" extrusionOk="0">
                <a:moveTo>
                  <a:pt x="3808" y="954"/>
                </a:moveTo>
                <a:lnTo>
                  <a:pt x="3769" y="993"/>
                </a:lnTo>
                <a:cubicBezTo>
                  <a:pt x="3749" y="983"/>
                  <a:pt x="3729" y="983"/>
                  <a:pt x="3710" y="973"/>
                </a:cubicBezTo>
                <a:cubicBezTo>
                  <a:pt x="3739" y="963"/>
                  <a:pt x="3769" y="963"/>
                  <a:pt x="3808" y="954"/>
                </a:cubicBezTo>
                <a:close/>
                <a:moveTo>
                  <a:pt x="4809" y="188"/>
                </a:moveTo>
                <a:cubicBezTo>
                  <a:pt x="4818" y="188"/>
                  <a:pt x="4818" y="188"/>
                  <a:pt x="4818" y="198"/>
                </a:cubicBezTo>
                <a:lnTo>
                  <a:pt x="4543" y="1170"/>
                </a:lnTo>
                <a:lnTo>
                  <a:pt x="4338" y="1140"/>
                </a:lnTo>
                <a:cubicBezTo>
                  <a:pt x="4171" y="1111"/>
                  <a:pt x="4004" y="1091"/>
                  <a:pt x="3837" y="1061"/>
                </a:cubicBezTo>
                <a:lnTo>
                  <a:pt x="3856" y="1052"/>
                </a:lnTo>
                <a:cubicBezTo>
                  <a:pt x="3876" y="1052"/>
                  <a:pt x="3886" y="1042"/>
                  <a:pt x="3906" y="1042"/>
                </a:cubicBezTo>
                <a:cubicBezTo>
                  <a:pt x="3896" y="1042"/>
                  <a:pt x="3886" y="1032"/>
                  <a:pt x="3876" y="1032"/>
                </a:cubicBezTo>
                <a:lnTo>
                  <a:pt x="4809" y="188"/>
                </a:lnTo>
                <a:close/>
                <a:moveTo>
                  <a:pt x="5956" y="1307"/>
                </a:moveTo>
                <a:cubicBezTo>
                  <a:pt x="5956" y="1307"/>
                  <a:pt x="5967" y="1307"/>
                  <a:pt x="5967" y="1317"/>
                </a:cubicBezTo>
                <a:lnTo>
                  <a:pt x="5986" y="1503"/>
                </a:lnTo>
                <a:cubicBezTo>
                  <a:pt x="5967" y="1503"/>
                  <a:pt x="5956" y="1503"/>
                  <a:pt x="5947" y="1493"/>
                </a:cubicBezTo>
                <a:cubicBezTo>
                  <a:pt x="5878" y="1474"/>
                  <a:pt x="5819" y="1464"/>
                  <a:pt x="5760" y="1444"/>
                </a:cubicBezTo>
                <a:lnTo>
                  <a:pt x="5956" y="1307"/>
                </a:lnTo>
                <a:close/>
                <a:moveTo>
                  <a:pt x="5456" y="1641"/>
                </a:moveTo>
                <a:cubicBezTo>
                  <a:pt x="5642" y="1680"/>
                  <a:pt x="5829" y="1719"/>
                  <a:pt x="6006" y="1758"/>
                </a:cubicBezTo>
                <a:lnTo>
                  <a:pt x="6065" y="2230"/>
                </a:lnTo>
                <a:cubicBezTo>
                  <a:pt x="5967" y="2141"/>
                  <a:pt x="5869" y="2053"/>
                  <a:pt x="5790" y="1994"/>
                </a:cubicBezTo>
                <a:lnTo>
                  <a:pt x="5760" y="1778"/>
                </a:lnTo>
                <a:cubicBezTo>
                  <a:pt x="5754" y="1738"/>
                  <a:pt x="5724" y="1711"/>
                  <a:pt x="5690" y="1711"/>
                </a:cubicBezTo>
                <a:cubicBezTo>
                  <a:pt x="5674" y="1711"/>
                  <a:pt x="5658" y="1716"/>
                  <a:pt x="5642" y="1729"/>
                </a:cubicBezTo>
                <a:cubicBezTo>
                  <a:pt x="5613" y="1748"/>
                  <a:pt x="5574" y="1778"/>
                  <a:pt x="5525" y="1807"/>
                </a:cubicBezTo>
                <a:cubicBezTo>
                  <a:pt x="5476" y="1778"/>
                  <a:pt x="5417" y="1739"/>
                  <a:pt x="5358" y="1709"/>
                </a:cubicBezTo>
                <a:lnTo>
                  <a:pt x="5456" y="1641"/>
                </a:lnTo>
                <a:close/>
                <a:moveTo>
                  <a:pt x="4899" y="0"/>
                </a:moveTo>
                <a:cubicBezTo>
                  <a:pt x="4895" y="0"/>
                  <a:pt x="4891" y="1"/>
                  <a:pt x="4887" y="2"/>
                </a:cubicBezTo>
                <a:cubicBezTo>
                  <a:pt x="4711" y="41"/>
                  <a:pt x="4210" y="551"/>
                  <a:pt x="3847" y="915"/>
                </a:cubicBezTo>
                <a:cubicBezTo>
                  <a:pt x="3788" y="895"/>
                  <a:pt x="3729" y="885"/>
                  <a:pt x="3670" y="885"/>
                </a:cubicBezTo>
                <a:cubicBezTo>
                  <a:pt x="3729" y="856"/>
                  <a:pt x="3798" y="836"/>
                  <a:pt x="3867" y="836"/>
                </a:cubicBezTo>
                <a:cubicBezTo>
                  <a:pt x="3769" y="806"/>
                  <a:pt x="3665" y="792"/>
                  <a:pt x="3561" y="792"/>
                </a:cubicBezTo>
                <a:cubicBezTo>
                  <a:pt x="3320" y="792"/>
                  <a:pt x="3074" y="869"/>
                  <a:pt x="2875" y="1013"/>
                </a:cubicBezTo>
                <a:cubicBezTo>
                  <a:pt x="2925" y="954"/>
                  <a:pt x="2973" y="895"/>
                  <a:pt x="3013" y="836"/>
                </a:cubicBezTo>
                <a:lnTo>
                  <a:pt x="3013" y="836"/>
                </a:lnTo>
                <a:cubicBezTo>
                  <a:pt x="2895" y="904"/>
                  <a:pt x="2787" y="1002"/>
                  <a:pt x="2699" y="1111"/>
                </a:cubicBezTo>
                <a:cubicBezTo>
                  <a:pt x="2552" y="934"/>
                  <a:pt x="2365" y="699"/>
                  <a:pt x="2267" y="561"/>
                </a:cubicBezTo>
                <a:cubicBezTo>
                  <a:pt x="2249" y="539"/>
                  <a:pt x="2223" y="529"/>
                  <a:pt x="2198" y="529"/>
                </a:cubicBezTo>
                <a:cubicBezTo>
                  <a:pt x="2167" y="529"/>
                  <a:pt x="2136" y="544"/>
                  <a:pt x="2120" y="571"/>
                </a:cubicBezTo>
                <a:lnTo>
                  <a:pt x="1482" y="2033"/>
                </a:lnTo>
                <a:lnTo>
                  <a:pt x="0" y="3309"/>
                </a:lnTo>
                <a:lnTo>
                  <a:pt x="0" y="3309"/>
                </a:lnTo>
                <a:lnTo>
                  <a:pt x="1560" y="2073"/>
                </a:lnTo>
                <a:lnTo>
                  <a:pt x="2179" y="767"/>
                </a:lnTo>
                <a:cubicBezTo>
                  <a:pt x="2179" y="762"/>
                  <a:pt x="2181" y="760"/>
                  <a:pt x="2184" y="760"/>
                </a:cubicBezTo>
                <a:cubicBezTo>
                  <a:pt x="2186" y="760"/>
                  <a:pt x="2188" y="762"/>
                  <a:pt x="2188" y="767"/>
                </a:cubicBezTo>
                <a:lnTo>
                  <a:pt x="2581" y="1277"/>
                </a:lnTo>
                <a:cubicBezTo>
                  <a:pt x="2571" y="1307"/>
                  <a:pt x="2552" y="1336"/>
                  <a:pt x="2542" y="1356"/>
                </a:cubicBezTo>
                <a:cubicBezTo>
                  <a:pt x="2532" y="1307"/>
                  <a:pt x="2512" y="1258"/>
                  <a:pt x="2502" y="1209"/>
                </a:cubicBezTo>
                <a:cubicBezTo>
                  <a:pt x="2454" y="1277"/>
                  <a:pt x="2443" y="1366"/>
                  <a:pt x="2473" y="1434"/>
                </a:cubicBezTo>
                <a:cubicBezTo>
                  <a:pt x="2493" y="1493"/>
                  <a:pt x="2532" y="1543"/>
                  <a:pt x="2591" y="1562"/>
                </a:cubicBezTo>
                <a:cubicBezTo>
                  <a:pt x="2576" y="1559"/>
                  <a:pt x="2561" y="1558"/>
                  <a:pt x="2546" y="1558"/>
                </a:cubicBezTo>
                <a:cubicBezTo>
                  <a:pt x="2464" y="1558"/>
                  <a:pt x="2384" y="1602"/>
                  <a:pt x="2326" y="1660"/>
                </a:cubicBezTo>
                <a:cubicBezTo>
                  <a:pt x="2257" y="1748"/>
                  <a:pt x="2228" y="1866"/>
                  <a:pt x="2198" y="1974"/>
                </a:cubicBezTo>
                <a:cubicBezTo>
                  <a:pt x="2179" y="2073"/>
                  <a:pt x="2149" y="2180"/>
                  <a:pt x="2129" y="2278"/>
                </a:cubicBezTo>
                <a:lnTo>
                  <a:pt x="2140" y="2278"/>
                </a:lnTo>
                <a:lnTo>
                  <a:pt x="2090" y="2661"/>
                </a:lnTo>
                <a:cubicBezTo>
                  <a:pt x="2090" y="2661"/>
                  <a:pt x="1913" y="2975"/>
                  <a:pt x="1884" y="3034"/>
                </a:cubicBezTo>
                <a:cubicBezTo>
                  <a:pt x="1865" y="3102"/>
                  <a:pt x="1305" y="4506"/>
                  <a:pt x="1305" y="4506"/>
                </a:cubicBezTo>
                <a:lnTo>
                  <a:pt x="1364" y="4506"/>
                </a:lnTo>
                <a:cubicBezTo>
                  <a:pt x="1364" y="4506"/>
                  <a:pt x="1904" y="3142"/>
                  <a:pt x="1933" y="3122"/>
                </a:cubicBezTo>
                <a:cubicBezTo>
                  <a:pt x="1972" y="3102"/>
                  <a:pt x="2198" y="2740"/>
                  <a:pt x="2198" y="2740"/>
                </a:cubicBezTo>
                <a:lnTo>
                  <a:pt x="2345" y="2249"/>
                </a:lnTo>
                <a:cubicBezTo>
                  <a:pt x="2365" y="2249"/>
                  <a:pt x="2395" y="2239"/>
                  <a:pt x="2414" y="2230"/>
                </a:cubicBezTo>
                <a:cubicBezTo>
                  <a:pt x="2512" y="2190"/>
                  <a:pt x="2591" y="2131"/>
                  <a:pt x="2620" y="2033"/>
                </a:cubicBezTo>
                <a:cubicBezTo>
                  <a:pt x="2640" y="1994"/>
                  <a:pt x="2640" y="1945"/>
                  <a:pt x="2669" y="1905"/>
                </a:cubicBezTo>
                <a:cubicBezTo>
                  <a:pt x="2684" y="1877"/>
                  <a:pt x="2718" y="1854"/>
                  <a:pt x="2747" y="1854"/>
                </a:cubicBezTo>
                <a:cubicBezTo>
                  <a:pt x="2758" y="1854"/>
                  <a:pt x="2769" y="1858"/>
                  <a:pt x="2777" y="1866"/>
                </a:cubicBezTo>
                <a:cubicBezTo>
                  <a:pt x="2757" y="2003"/>
                  <a:pt x="2866" y="2131"/>
                  <a:pt x="3003" y="2171"/>
                </a:cubicBezTo>
                <a:cubicBezTo>
                  <a:pt x="3037" y="2181"/>
                  <a:pt x="3071" y="2186"/>
                  <a:pt x="3107" y="2186"/>
                </a:cubicBezTo>
                <a:cubicBezTo>
                  <a:pt x="3205" y="2186"/>
                  <a:pt x="3306" y="2147"/>
                  <a:pt x="3385" y="2082"/>
                </a:cubicBezTo>
                <a:cubicBezTo>
                  <a:pt x="3455" y="2014"/>
                  <a:pt x="3513" y="1935"/>
                  <a:pt x="3553" y="1846"/>
                </a:cubicBezTo>
                <a:cubicBezTo>
                  <a:pt x="3798" y="2141"/>
                  <a:pt x="4151" y="2544"/>
                  <a:pt x="4495" y="2749"/>
                </a:cubicBezTo>
                <a:lnTo>
                  <a:pt x="4681" y="4241"/>
                </a:lnTo>
                <a:lnTo>
                  <a:pt x="4554" y="2788"/>
                </a:lnTo>
                <a:lnTo>
                  <a:pt x="4554" y="2788"/>
                </a:lnTo>
                <a:cubicBezTo>
                  <a:pt x="4622" y="2828"/>
                  <a:pt x="4681" y="2858"/>
                  <a:pt x="4740" y="2877"/>
                </a:cubicBezTo>
                <a:cubicBezTo>
                  <a:pt x="4909" y="2926"/>
                  <a:pt x="5046" y="2946"/>
                  <a:pt x="5160" y="2946"/>
                </a:cubicBezTo>
                <a:cubicBezTo>
                  <a:pt x="5502" y="2946"/>
                  <a:pt x="5633" y="2769"/>
                  <a:pt x="5780" y="2681"/>
                </a:cubicBezTo>
                <a:lnTo>
                  <a:pt x="5869" y="3220"/>
                </a:lnTo>
                <a:lnTo>
                  <a:pt x="6918" y="4673"/>
                </a:lnTo>
                <a:lnTo>
                  <a:pt x="6918" y="4673"/>
                </a:lnTo>
                <a:lnTo>
                  <a:pt x="5947" y="3201"/>
                </a:lnTo>
                <a:lnTo>
                  <a:pt x="5878" y="2631"/>
                </a:lnTo>
                <a:cubicBezTo>
                  <a:pt x="5904" y="2623"/>
                  <a:pt x="5935" y="2618"/>
                  <a:pt x="5968" y="2618"/>
                </a:cubicBezTo>
                <a:cubicBezTo>
                  <a:pt x="6009" y="2618"/>
                  <a:pt x="6055" y="2625"/>
                  <a:pt x="6104" y="2642"/>
                </a:cubicBezTo>
                <a:lnTo>
                  <a:pt x="6124" y="2759"/>
                </a:lnTo>
                <a:lnTo>
                  <a:pt x="7184" y="4437"/>
                </a:lnTo>
                <a:lnTo>
                  <a:pt x="6202" y="2740"/>
                </a:lnTo>
                <a:lnTo>
                  <a:pt x="6202" y="2671"/>
                </a:lnTo>
                <a:cubicBezTo>
                  <a:pt x="6261" y="2701"/>
                  <a:pt x="6320" y="2730"/>
                  <a:pt x="6388" y="2779"/>
                </a:cubicBezTo>
                <a:cubicBezTo>
                  <a:pt x="6401" y="2786"/>
                  <a:pt x="6414" y="2790"/>
                  <a:pt x="6426" y="2790"/>
                </a:cubicBezTo>
                <a:cubicBezTo>
                  <a:pt x="6479" y="2790"/>
                  <a:pt x="6517" y="2729"/>
                  <a:pt x="6477" y="2681"/>
                </a:cubicBezTo>
                <a:cubicBezTo>
                  <a:pt x="6388" y="2563"/>
                  <a:pt x="6281" y="2445"/>
                  <a:pt x="6172" y="2337"/>
                </a:cubicBezTo>
                <a:lnTo>
                  <a:pt x="6133" y="1778"/>
                </a:lnTo>
                <a:lnTo>
                  <a:pt x="6133" y="1778"/>
                </a:lnTo>
                <a:cubicBezTo>
                  <a:pt x="6340" y="1817"/>
                  <a:pt x="6545" y="1866"/>
                  <a:pt x="6761" y="1905"/>
                </a:cubicBezTo>
                <a:cubicBezTo>
                  <a:pt x="6777" y="1908"/>
                  <a:pt x="6793" y="1911"/>
                  <a:pt x="6808" y="1911"/>
                </a:cubicBezTo>
                <a:cubicBezTo>
                  <a:pt x="6843" y="1911"/>
                  <a:pt x="6872" y="1900"/>
                  <a:pt x="6879" y="1866"/>
                </a:cubicBezTo>
                <a:cubicBezTo>
                  <a:pt x="6889" y="1827"/>
                  <a:pt x="6840" y="1798"/>
                  <a:pt x="6800" y="1778"/>
                </a:cubicBezTo>
                <a:cubicBezTo>
                  <a:pt x="6575" y="1689"/>
                  <a:pt x="6340" y="1621"/>
                  <a:pt x="6114" y="1543"/>
                </a:cubicBezTo>
                <a:lnTo>
                  <a:pt x="6084" y="1159"/>
                </a:lnTo>
                <a:cubicBezTo>
                  <a:pt x="6077" y="1109"/>
                  <a:pt x="6038" y="1080"/>
                  <a:pt x="5998" y="1080"/>
                </a:cubicBezTo>
                <a:cubicBezTo>
                  <a:pt x="5984" y="1080"/>
                  <a:pt x="5969" y="1083"/>
                  <a:pt x="5956" y="1091"/>
                </a:cubicBezTo>
                <a:cubicBezTo>
                  <a:pt x="5849" y="1170"/>
                  <a:pt x="5672" y="1277"/>
                  <a:pt x="5515" y="1375"/>
                </a:cubicBezTo>
                <a:cubicBezTo>
                  <a:pt x="5230" y="1307"/>
                  <a:pt x="4936" y="1248"/>
                  <a:pt x="4652" y="1189"/>
                </a:cubicBezTo>
                <a:lnTo>
                  <a:pt x="4966" y="100"/>
                </a:lnTo>
                <a:cubicBezTo>
                  <a:pt x="4984" y="46"/>
                  <a:pt x="4944" y="0"/>
                  <a:pt x="4899" y="0"/>
                </a:cubicBezTo>
                <a:close/>
              </a:path>
            </a:pathLst>
          </a:custGeom>
          <a:solidFill>
            <a:srgbClr val="E0D7D3">
              <a:alpha val="6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65;p30">
            <a:extLst>
              <a:ext uri="{FF2B5EF4-FFF2-40B4-BE49-F238E27FC236}">
                <a16:creationId xmlns:a16="http://schemas.microsoft.com/office/drawing/2014/main" id="{B3D46725-2C53-2C90-C681-9F57799F9EED}"/>
              </a:ext>
            </a:extLst>
          </p:cNvPr>
          <p:cNvSpPr/>
          <p:nvPr/>
        </p:nvSpPr>
        <p:spPr>
          <a:xfrm>
            <a:off x="1651212" y="783944"/>
            <a:ext cx="727236" cy="473048"/>
          </a:xfrm>
          <a:custGeom>
            <a:avLst/>
            <a:gdLst/>
            <a:ahLst/>
            <a:cxnLst/>
            <a:rect l="l" t="t" r="r" b="b"/>
            <a:pathLst>
              <a:path w="7184" h="4673" extrusionOk="0">
                <a:moveTo>
                  <a:pt x="3808" y="954"/>
                </a:moveTo>
                <a:lnTo>
                  <a:pt x="3769" y="993"/>
                </a:lnTo>
                <a:cubicBezTo>
                  <a:pt x="3749" y="983"/>
                  <a:pt x="3729" y="983"/>
                  <a:pt x="3710" y="973"/>
                </a:cubicBezTo>
                <a:cubicBezTo>
                  <a:pt x="3739" y="963"/>
                  <a:pt x="3769" y="963"/>
                  <a:pt x="3808" y="954"/>
                </a:cubicBezTo>
                <a:close/>
                <a:moveTo>
                  <a:pt x="4809" y="188"/>
                </a:moveTo>
                <a:cubicBezTo>
                  <a:pt x="4818" y="188"/>
                  <a:pt x="4818" y="188"/>
                  <a:pt x="4818" y="198"/>
                </a:cubicBezTo>
                <a:lnTo>
                  <a:pt x="4543" y="1170"/>
                </a:lnTo>
                <a:lnTo>
                  <a:pt x="4338" y="1140"/>
                </a:lnTo>
                <a:cubicBezTo>
                  <a:pt x="4171" y="1111"/>
                  <a:pt x="4004" y="1091"/>
                  <a:pt x="3837" y="1061"/>
                </a:cubicBezTo>
                <a:lnTo>
                  <a:pt x="3856" y="1052"/>
                </a:lnTo>
                <a:cubicBezTo>
                  <a:pt x="3876" y="1052"/>
                  <a:pt x="3886" y="1042"/>
                  <a:pt x="3906" y="1042"/>
                </a:cubicBezTo>
                <a:cubicBezTo>
                  <a:pt x="3896" y="1042"/>
                  <a:pt x="3886" y="1032"/>
                  <a:pt x="3876" y="1032"/>
                </a:cubicBezTo>
                <a:lnTo>
                  <a:pt x="4809" y="188"/>
                </a:lnTo>
                <a:close/>
                <a:moveTo>
                  <a:pt x="5956" y="1307"/>
                </a:moveTo>
                <a:cubicBezTo>
                  <a:pt x="5956" y="1307"/>
                  <a:pt x="5967" y="1307"/>
                  <a:pt x="5967" y="1317"/>
                </a:cubicBezTo>
                <a:lnTo>
                  <a:pt x="5986" y="1503"/>
                </a:lnTo>
                <a:cubicBezTo>
                  <a:pt x="5967" y="1503"/>
                  <a:pt x="5956" y="1503"/>
                  <a:pt x="5947" y="1493"/>
                </a:cubicBezTo>
                <a:cubicBezTo>
                  <a:pt x="5878" y="1474"/>
                  <a:pt x="5819" y="1464"/>
                  <a:pt x="5760" y="1444"/>
                </a:cubicBezTo>
                <a:lnTo>
                  <a:pt x="5956" y="1307"/>
                </a:lnTo>
                <a:close/>
                <a:moveTo>
                  <a:pt x="5456" y="1641"/>
                </a:moveTo>
                <a:cubicBezTo>
                  <a:pt x="5642" y="1680"/>
                  <a:pt x="5829" y="1719"/>
                  <a:pt x="6006" y="1758"/>
                </a:cubicBezTo>
                <a:lnTo>
                  <a:pt x="6065" y="2230"/>
                </a:lnTo>
                <a:cubicBezTo>
                  <a:pt x="5967" y="2141"/>
                  <a:pt x="5869" y="2053"/>
                  <a:pt x="5790" y="1994"/>
                </a:cubicBezTo>
                <a:lnTo>
                  <a:pt x="5760" y="1778"/>
                </a:lnTo>
                <a:cubicBezTo>
                  <a:pt x="5754" y="1738"/>
                  <a:pt x="5724" y="1711"/>
                  <a:pt x="5690" y="1711"/>
                </a:cubicBezTo>
                <a:cubicBezTo>
                  <a:pt x="5674" y="1711"/>
                  <a:pt x="5658" y="1716"/>
                  <a:pt x="5642" y="1729"/>
                </a:cubicBezTo>
                <a:cubicBezTo>
                  <a:pt x="5613" y="1748"/>
                  <a:pt x="5574" y="1778"/>
                  <a:pt x="5525" y="1807"/>
                </a:cubicBezTo>
                <a:cubicBezTo>
                  <a:pt x="5476" y="1778"/>
                  <a:pt x="5417" y="1739"/>
                  <a:pt x="5358" y="1709"/>
                </a:cubicBezTo>
                <a:lnTo>
                  <a:pt x="5456" y="1641"/>
                </a:lnTo>
                <a:close/>
                <a:moveTo>
                  <a:pt x="4899" y="0"/>
                </a:moveTo>
                <a:cubicBezTo>
                  <a:pt x="4895" y="0"/>
                  <a:pt x="4891" y="1"/>
                  <a:pt x="4887" y="2"/>
                </a:cubicBezTo>
                <a:cubicBezTo>
                  <a:pt x="4711" y="41"/>
                  <a:pt x="4210" y="551"/>
                  <a:pt x="3847" y="915"/>
                </a:cubicBezTo>
                <a:cubicBezTo>
                  <a:pt x="3788" y="895"/>
                  <a:pt x="3729" y="885"/>
                  <a:pt x="3670" y="885"/>
                </a:cubicBezTo>
                <a:cubicBezTo>
                  <a:pt x="3729" y="856"/>
                  <a:pt x="3798" y="836"/>
                  <a:pt x="3867" y="836"/>
                </a:cubicBezTo>
                <a:cubicBezTo>
                  <a:pt x="3769" y="806"/>
                  <a:pt x="3665" y="792"/>
                  <a:pt x="3561" y="792"/>
                </a:cubicBezTo>
                <a:cubicBezTo>
                  <a:pt x="3320" y="792"/>
                  <a:pt x="3074" y="869"/>
                  <a:pt x="2875" y="1013"/>
                </a:cubicBezTo>
                <a:cubicBezTo>
                  <a:pt x="2925" y="954"/>
                  <a:pt x="2973" y="895"/>
                  <a:pt x="3013" y="836"/>
                </a:cubicBezTo>
                <a:lnTo>
                  <a:pt x="3013" y="836"/>
                </a:lnTo>
                <a:cubicBezTo>
                  <a:pt x="2895" y="904"/>
                  <a:pt x="2787" y="1002"/>
                  <a:pt x="2699" y="1111"/>
                </a:cubicBezTo>
                <a:cubicBezTo>
                  <a:pt x="2552" y="934"/>
                  <a:pt x="2365" y="699"/>
                  <a:pt x="2267" y="561"/>
                </a:cubicBezTo>
                <a:cubicBezTo>
                  <a:pt x="2249" y="539"/>
                  <a:pt x="2223" y="529"/>
                  <a:pt x="2198" y="529"/>
                </a:cubicBezTo>
                <a:cubicBezTo>
                  <a:pt x="2167" y="529"/>
                  <a:pt x="2136" y="544"/>
                  <a:pt x="2120" y="571"/>
                </a:cubicBezTo>
                <a:lnTo>
                  <a:pt x="1482" y="2033"/>
                </a:lnTo>
                <a:lnTo>
                  <a:pt x="0" y="3309"/>
                </a:lnTo>
                <a:lnTo>
                  <a:pt x="0" y="3309"/>
                </a:lnTo>
                <a:lnTo>
                  <a:pt x="1560" y="2073"/>
                </a:lnTo>
                <a:lnTo>
                  <a:pt x="2179" y="767"/>
                </a:lnTo>
                <a:cubicBezTo>
                  <a:pt x="2179" y="762"/>
                  <a:pt x="2181" y="760"/>
                  <a:pt x="2184" y="760"/>
                </a:cubicBezTo>
                <a:cubicBezTo>
                  <a:pt x="2186" y="760"/>
                  <a:pt x="2188" y="762"/>
                  <a:pt x="2188" y="767"/>
                </a:cubicBezTo>
                <a:lnTo>
                  <a:pt x="2581" y="1277"/>
                </a:lnTo>
                <a:cubicBezTo>
                  <a:pt x="2571" y="1307"/>
                  <a:pt x="2552" y="1336"/>
                  <a:pt x="2542" y="1356"/>
                </a:cubicBezTo>
                <a:cubicBezTo>
                  <a:pt x="2532" y="1307"/>
                  <a:pt x="2512" y="1258"/>
                  <a:pt x="2502" y="1209"/>
                </a:cubicBezTo>
                <a:cubicBezTo>
                  <a:pt x="2454" y="1277"/>
                  <a:pt x="2443" y="1366"/>
                  <a:pt x="2473" y="1434"/>
                </a:cubicBezTo>
                <a:cubicBezTo>
                  <a:pt x="2493" y="1493"/>
                  <a:pt x="2532" y="1543"/>
                  <a:pt x="2591" y="1562"/>
                </a:cubicBezTo>
                <a:cubicBezTo>
                  <a:pt x="2576" y="1559"/>
                  <a:pt x="2561" y="1558"/>
                  <a:pt x="2546" y="1558"/>
                </a:cubicBezTo>
                <a:cubicBezTo>
                  <a:pt x="2464" y="1558"/>
                  <a:pt x="2384" y="1602"/>
                  <a:pt x="2326" y="1660"/>
                </a:cubicBezTo>
                <a:cubicBezTo>
                  <a:pt x="2257" y="1748"/>
                  <a:pt x="2228" y="1866"/>
                  <a:pt x="2198" y="1974"/>
                </a:cubicBezTo>
                <a:cubicBezTo>
                  <a:pt x="2179" y="2073"/>
                  <a:pt x="2149" y="2180"/>
                  <a:pt x="2129" y="2278"/>
                </a:cubicBezTo>
                <a:lnTo>
                  <a:pt x="2140" y="2278"/>
                </a:lnTo>
                <a:lnTo>
                  <a:pt x="2090" y="2661"/>
                </a:lnTo>
                <a:cubicBezTo>
                  <a:pt x="2090" y="2661"/>
                  <a:pt x="1913" y="2975"/>
                  <a:pt x="1884" y="3034"/>
                </a:cubicBezTo>
                <a:cubicBezTo>
                  <a:pt x="1865" y="3102"/>
                  <a:pt x="1305" y="4506"/>
                  <a:pt x="1305" y="4506"/>
                </a:cubicBezTo>
                <a:lnTo>
                  <a:pt x="1364" y="4506"/>
                </a:lnTo>
                <a:cubicBezTo>
                  <a:pt x="1364" y="4506"/>
                  <a:pt x="1904" y="3142"/>
                  <a:pt x="1933" y="3122"/>
                </a:cubicBezTo>
                <a:cubicBezTo>
                  <a:pt x="1972" y="3102"/>
                  <a:pt x="2198" y="2740"/>
                  <a:pt x="2198" y="2740"/>
                </a:cubicBezTo>
                <a:lnTo>
                  <a:pt x="2345" y="2249"/>
                </a:lnTo>
                <a:cubicBezTo>
                  <a:pt x="2365" y="2249"/>
                  <a:pt x="2395" y="2239"/>
                  <a:pt x="2414" y="2230"/>
                </a:cubicBezTo>
                <a:cubicBezTo>
                  <a:pt x="2512" y="2190"/>
                  <a:pt x="2591" y="2131"/>
                  <a:pt x="2620" y="2033"/>
                </a:cubicBezTo>
                <a:cubicBezTo>
                  <a:pt x="2640" y="1994"/>
                  <a:pt x="2640" y="1945"/>
                  <a:pt x="2669" y="1905"/>
                </a:cubicBezTo>
                <a:cubicBezTo>
                  <a:pt x="2684" y="1877"/>
                  <a:pt x="2718" y="1854"/>
                  <a:pt x="2747" y="1854"/>
                </a:cubicBezTo>
                <a:cubicBezTo>
                  <a:pt x="2758" y="1854"/>
                  <a:pt x="2769" y="1858"/>
                  <a:pt x="2777" y="1866"/>
                </a:cubicBezTo>
                <a:cubicBezTo>
                  <a:pt x="2757" y="2003"/>
                  <a:pt x="2866" y="2131"/>
                  <a:pt x="3003" y="2171"/>
                </a:cubicBezTo>
                <a:cubicBezTo>
                  <a:pt x="3037" y="2181"/>
                  <a:pt x="3071" y="2186"/>
                  <a:pt x="3107" y="2186"/>
                </a:cubicBezTo>
                <a:cubicBezTo>
                  <a:pt x="3205" y="2186"/>
                  <a:pt x="3306" y="2147"/>
                  <a:pt x="3385" y="2082"/>
                </a:cubicBezTo>
                <a:cubicBezTo>
                  <a:pt x="3455" y="2014"/>
                  <a:pt x="3513" y="1935"/>
                  <a:pt x="3553" y="1846"/>
                </a:cubicBezTo>
                <a:cubicBezTo>
                  <a:pt x="3798" y="2141"/>
                  <a:pt x="4151" y="2544"/>
                  <a:pt x="4495" y="2749"/>
                </a:cubicBezTo>
                <a:lnTo>
                  <a:pt x="4681" y="4241"/>
                </a:lnTo>
                <a:lnTo>
                  <a:pt x="4554" y="2788"/>
                </a:lnTo>
                <a:lnTo>
                  <a:pt x="4554" y="2788"/>
                </a:lnTo>
                <a:cubicBezTo>
                  <a:pt x="4622" y="2828"/>
                  <a:pt x="4681" y="2858"/>
                  <a:pt x="4740" y="2877"/>
                </a:cubicBezTo>
                <a:cubicBezTo>
                  <a:pt x="4909" y="2926"/>
                  <a:pt x="5046" y="2946"/>
                  <a:pt x="5160" y="2946"/>
                </a:cubicBezTo>
                <a:cubicBezTo>
                  <a:pt x="5502" y="2946"/>
                  <a:pt x="5633" y="2769"/>
                  <a:pt x="5780" y="2681"/>
                </a:cubicBezTo>
                <a:lnTo>
                  <a:pt x="5869" y="3220"/>
                </a:lnTo>
                <a:lnTo>
                  <a:pt x="6918" y="4673"/>
                </a:lnTo>
                <a:lnTo>
                  <a:pt x="6918" y="4673"/>
                </a:lnTo>
                <a:lnTo>
                  <a:pt x="5947" y="3201"/>
                </a:lnTo>
                <a:lnTo>
                  <a:pt x="5878" y="2631"/>
                </a:lnTo>
                <a:cubicBezTo>
                  <a:pt x="5904" y="2623"/>
                  <a:pt x="5935" y="2618"/>
                  <a:pt x="5968" y="2618"/>
                </a:cubicBezTo>
                <a:cubicBezTo>
                  <a:pt x="6009" y="2618"/>
                  <a:pt x="6055" y="2625"/>
                  <a:pt x="6104" y="2642"/>
                </a:cubicBezTo>
                <a:lnTo>
                  <a:pt x="6124" y="2759"/>
                </a:lnTo>
                <a:lnTo>
                  <a:pt x="7184" y="4437"/>
                </a:lnTo>
                <a:lnTo>
                  <a:pt x="6202" y="2740"/>
                </a:lnTo>
                <a:lnTo>
                  <a:pt x="6202" y="2671"/>
                </a:lnTo>
                <a:cubicBezTo>
                  <a:pt x="6261" y="2701"/>
                  <a:pt x="6320" y="2730"/>
                  <a:pt x="6388" y="2779"/>
                </a:cubicBezTo>
                <a:cubicBezTo>
                  <a:pt x="6401" y="2786"/>
                  <a:pt x="6414" y="2790"/>
                  <a:pt x="6426" y="2790"/>
                </a:cubicBezTo>
                <a:cubicBezTo>
                  <a:pt x="6479" y="2790"/>
                  <a:pt x="6517" y="2729"/>
                  <a:pt x="6477" y="2681"/>
                </a:cubicBezTo>
                <a:cubicBezTo>
                  <a:pt x="6388" y="2563"/>
                  <a:pt x="6281" y="2445"/>
                  <a:pt x="6172" y="2337"/>
                </a:cubicBezTo>
                <a:lnTo>
                  <a:pt x="6133" y="1778"/>
                </a:lnTo>
                <a:lnTo>
                  <a:pt x="6133" y="1778"/>
                </a:lnTo>
                <a:cubicBezTo>
                  <a:pt x="6340" y="1817"/>
                  <a:pt x="6545" y="1866"/>
                  <a:pt x="6761" y="1905"/>
                </a:cubicBezTo>
                <a:cubicBezTo>
                  <a:pt x="6777" y="1908"/>
                  <a:pt x="6793" y="1911"/>
                  <a:pt x="6808" y="1911"/>
                </a:cubicBezTo>
                <a:cubicBezTo>
                  <a:pt x="6843" y="1911"/>
                  <a:pt x="6872" y="1900"/>
                  <a:pt x="6879" y="1866"/>
                </a:cubicBezTo>
                <a:cubicBezTo>
                  <a:pt x="6889" y="1827"/>
                  <a:pt x="6840" y="1798"/>
                  <a:pt x="6800" y="1778"/>
                </a:cubicBezTo>
                <a:cubicBezTo>
                  <a:pt x="6575" y="1689"/>
                  <a:pt x="6340" y="1621"/>
                  <a:pt x="6114" y="1543"/>
                </a:cubicBezTo>
                <a:lnTo>
                  <a:pt x="6084" y="1159"/>
                </a:lnTo>
                <a:cubicBezTo>
                  <a:pt x="6077" y="1109"/>
                  <a:pt x="6038" y="1080"/>
                  <a:pt x="5998" y="1080"/>
                </a:cubicBezTo>
                <a:cubicBezTo>
                  <a:pt x="5984" y="1080"/>
                  <a:pt x="5969" y="1083"/>
                  <a:pt x="5956" y="1091"/>
                </a:cubicBezTo>
                <a:cubicBezTo>
                  <a:pt x="5849" y="1170"/>
                  <a:pt x="5672" y="1277"/>
                  <a:pt x="5515" y="1375"/>
                </a:cubicBezTo>
                <a:cubicBezTo>
                  <a:pt x="5230" y="1307"/>
                  <a:pt x="4936" y="1248"/>
                  <a:pt x="4652" y="1189"/>
                </a:cubicBezTo>
                <a:lnTo>
                  <a:pt x="4966" y="100"/>
                </a:lnTo>
                <a:cubicBezTo>
                  <a:pt x="4984" y="46"/>
                  <a:pt x="4944" y="0"/>
                  <a:pt x="4899" y="0"/>
                </a:cubicBezTo>
                <a:close/>
              </a:path>
            </a:pathLst>
          </a:custGeom>
          <a:solidFill>
            <a:srgbClr val="E0D7D3">
              <a:alpha val="6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65;p30">
            <a:extLst>
              <a:ext uri="{FF2B5EF4-FFF2-40B4-BE49-F238E27FC236}">
                <a16:creationId xmlns:a16="http://schemas.microsoft.com/office/drawing/2014/main" id="{645BC417-E662-8AF1-AC6C-0B638E072A4C}"/>
              </a:ext>
            </a:extLst>
          </p:cNvPr>
          <p:cNvSpPr/>
          <p:nvPr/>
        </p:nvSpPr>
        <p:spPr>
          <a:xfrm>
            <a:off x="1053804" y="783944"/>
            <a:ext cx="727236" cy="473048"/>
          </a:xfrm>
          <a:custGeom>
            <a:avLst/>
            <a:gdLst/>
            <a:ahLst/>
            <a:cxnLst/>
            <a:rect l="l" t="t" r="r" b="b"/>
            <a:pathLst>
              <a:path w="7184" h="4673" extrusionOk="0">
                <a:moveTo>
                  <a:pt x="3808" y="954"/>
                </a:moveTo>
                <a:lnTo>
                  <a:pt x="3769" y="993"/>
                </a:lnTo>
                <a:cubicBezTo>
                  <a:pt x="3749" y="983"/>
                  <a:pt x="3729" y="983"/>
                  <a:pt x="3710" y="973"/>
                </a:cubicBezTo>
                <a:cubicBezTo>
                  <a:pt x="3739" y="963"/>
                  <a:pt x="3769" y="963"/>
                  <a:pt x="3808" y="954"/>
                </a:cubicBezTo>
                <a:close/>
                <a:moveTo>
                  <a:pt x="4809" y="188"/>
                </a:moveTo>
                <a:cubicBezTo>
                  <a:pt x="4818" y="188"/>
                  <a:pt x="4818" y="188"/>
                  <a:pt x="4818" y="198"/>
                </a:cubicBezTo>
                <a:lnTo>
                  <a:pt x="4543" y="1170"/>
                </a:lnTo>
                <a:lnTo>
                  <a:pt x="4338" y="1140"/>
                </a:lnTo>
                <a:cubicBezTo>
                  <a:pt x="4171" y="1111"/>
                  <a:pt x="4004" y="1091"/>
                  <a:pt x="3837" y="1061"/>
                </a:cubicBezTo>
                <a:lnTo>
                  <a:pt x="3856" y="1052"/>
                </a:lnTo>
                <a:cubicBezTo>
                  <a:pt x="3876" y="1052"/>
                  <a:pt x="3886" y="1042"/>
                  <a:pt x="3906" y="1042"/>
                </a:cubicBezTo>
                <a:cubicBezTo>
                  <a:pt x="3896" y="1042"/>
                  <a:pt x="3886" y="1032"/>
                  <a:pt x="3876" y="1032"/>
                </a:cubicBezTo>
                <a:lnTo>
                  <a:pt x="4809" y="188"/>
                </a:lnTo>
                <a:close/>
                <a:moveTo>
                  <a:pt x="5956" y="1307"/>
                </a:moveTo>
                <a:cubicBezTo>
                  <a:pt x="5956" y="1307"/>
                  <a:pt x="5967" y="1307"/>
                  <a:pt x="5967" y="1317"/>
                </a:cubicBezTo>
                <a:lnTo>
                  <a:pt x="5986" y="1503"/>
                </a:lnTo>
                <a:cubicBezTo>
                  <a:pt x="5967" y="1503"/>
                  <a:pt x="5956" y="1503"/>
                  <a:pt x="5947" y="1493"/>
                </a:cubicBezTo>
                <a:cubicBezTo>
                  <a:pt x="5878" y="1474"/>
                  <a:pt x="5819" y="1464"/>
                  <a:pt x="5760" y="1444"/>
                </a:cubicBezTo>
                <a:lnTo>
                  <a:pt x="5956" y="1307"/>
                </a:lnTo>
                <a:close/>
                <a:moveTo>
                  <a:pt x="5456" y="1641"/>
                </a:moveTo>
                <a:cubicBezTo>
                  <a:pt x="5642" y="1680"/>
                  <a:pt x="5829" y="1719"/>
                  <a:pt x="6006" y="1758"/>
                </a:cubicBezTo>
                <a:lnTo>
                  <a:pt x="6065" y="2230"/>
                </a:lnTo>
                <a:cubicBezTo>
                  <a:pt x="5967" y="2141"/>
                  <a:pt x="5869" y="2053"/>
                  <a:pt x="5790" y="1994"/>
                </a:cubicBezTo>
                <a:lnTo>
                  <a:pt x="5760" y="1778"/>
                </a:lnTo>
                <a:cubicBezTo>
                  <a:pt x="5754" y="1738"/>
                  <a:pt x="5724" y="1711"/>
                  <a:pt x="5690" y="1711"/>
                </a:cubicBezTo>
                <a:cubicBezTo>
                  <a:pt x="5674" y="1711"/>
                  <a:pt x="5658" y="1716"/>
                  <a:pt x="5642" y="1729"/>
                </a:cubicBezTo>
                <a:cubicBezTo>
                  <a:pt x="5613" y="1748"/>
                  <a:pt x="5574" y="1778"/>
                  <a:pt x="5525" y="1807"/>
                </a:cubicBezTo>
                <a:cubicBezTo>
                  <a:pt x="5476" y="1778"/>
                  <a:pt x="5417" y="1739"/>
                  <a:pt x="5358" y="1709"/>
                </a:cubicBezTo>
                <a:lnTo>
                  <a:pt x="5456" y="1641"/>
                </a:lnTo>
                <a:close/>
                <a:moveTo>
                  <a:pt x="4899" y="0"/>
                </a:moveTo>
                <a:cubicBezTo>
                  <a:pt x="4895" y="0"/>
                  <a:pt x="4891" y="1"/>
                  <a:pt x="4887" y="2"/>
                </a:cubicBezTo>
                <a:cubicBezTo>
                  <a:pt x="4711" y="41"/>
                  <a:pt x="4210" y="551"/>
                  <a:pt x="3847" y="915"/>
                </a:cubicBezTo>
                <a:cubicBezTo>
                  <a:pt x="3788" y="895"/>
                  <a:pt x="3729" y="885"/>
                  <a:pt x="3670" y="885"/>
                </a:cubicBezTo>
                <a:cubicBezTo>
                  <a:pt x="3729" y="856"/>
                  <a:pt x="3798" y="836"/>
                  <a:pt x="3867" y="836"/>
                </a:cubicBezTo>
                <a:cubicBezTo>
                  <a:pt x="3769" y="806"/>
                  <a:pt x="3665" y="792"/>
                  <a:pt x="3561" y="792"/>
                </a:cubicBezTo>
                <a:cubicBezTo>
                  <a:pt x="3320" y="792"/>
                  <a:pt x="3074" y="869"/>
                  <a:pt x="2875" y="1013"/>
                </a:cubicBezTo>
                <a:cubicBezTo>
                  <a:pt x="2925" y="954"/>
                  <a:pt x="2973" y="895"/>
                  <a:pt x="3013" y="836"/>
                </a:cubicBezTo>
                <a:lnTo>
                  <a:pt x="3013" y="836"/>
                </a:lnTo>
                <a:cubicBezTo>
                  <a:pt x="2895" y="904"/>
                  <a:pt x="2787" y="1002"/>
                  <a:pt x="2699" y="1111"/>
                </a:cubicBezTo>
                <a:cubicBezTo>
                  <a:pt x="2552" y="934"/>
                  <a:pt x="2365" y="699"/>
                  <a:pt x="2267" y="561"/>
                </a:cubicBezTo>
                <a:cubicBezTo>
                  <a:pt x="2249" y="539"/>
                  <a:pt x="2223" y="529"/>
                  <a:pt x="2198" y="529"/>
                </a:cubicBezTo>
                <a:cubicBezTo>
                  <a:pt x="2167" y="529"/>
                  <a:pt x="2136" y="544"/>
                  <a:pt x="2120" y="571"/>
                </a:cubicBezTo>
                <a:lnTo>
                  <a:pt x="1482" y="2033"/>
                </a:lnTo>
                <a:lnTo>
                  <a:pt x="0" y="3309"/>
                </a:lnTo>
                <a:lnTo>
                  <a:pt x="0" y="3309"/>
                </a:lnTo>
                <a:lnTo>
                  <a:pt x="1560" y="2073"/>
                </a:lnTo>
                <a:lnTo>
                  <a:pt x="2179" y="767"/>
                </a:lnTo>
                <a:cubicBezTo>
                  <a:pt x="2179" y="762"/>
                  <a:pt x="2181" y="760"/>
                  <a:pt x="2184" y="760"/>
                </a:cubicBezTo>
                <a:cubicBezTo>
                  <a:pt x="2186" y="760"/>
                  <a:pt x="2188" y="762"/>
                  <a:pt x="2188" y="767"/>
                </a:cubicBezTo>
                <a:lnTo>
                  <a:pt x="2581" y="1277"/>
                </a:lnTo>
                <a:cubicBezTo>
                  <a:pt x="2571" y="1307"/>
                  <a:pt x="2552" y="1336"/>
                  <a:pt x="2542" y="1356"/>
                </a:cubicBezTo>
                <a:cubicBezTo>
                  <a:pt x="2532" y="1307"/>
                  <a:pt x="2512" y="1258"/>
                  <a:pt x="2502" y="1209"/>
                </a:cubicBezTo>
                <a:cubicBezTo>
                  <a:pt x="2454" y="1277"/>
                  <a:pt x="2443" y="1366"/>
                  <a:pt x="2473" y="1434"/>
                </a:cubicBezTo>
                <a:cubicBezTo>
                  <a:pt x="2493" y="1493"/>
                  <a:pt x="2532" y="1543"/>
                  <a:pt x="2591" y="1562"/>
                </a:cubicBezTo>
                <a:cubicBezTo>
                  <a:pt x="2576" y="1559"/>
                  <a:pt x="2561" y="1558"/>
                  <a:pt x="2546" y="1558"/>
                </a:cubicBezTo>
                <a:cubicBezTo>
                  <a:pt x="2464" y="1558"/>
                  <a:pt x="2384" y="1602"/>
                  <a:pt x="2326" y="1660"/>
                </a:cubicBezTo>
                <a:cubicBezTo>
                  <a:pt x="2257" y="1748"/>
                  <a:pt x="2228" y="1866"/>
                  <a:pt x="2198" y="1974"/>
                </a:cubicBezTo>
                <a:cubicBezTo>
                  <a:pt x="2179" y="2073"/>
                  <a:pt x="2149" y="2180"/>
                  <a:pt x="2129" y="2278"/>
                </a:cubicBezTo>
                <a:lnTo>
                  <a:pt x="2140" y="2278"/>
                </a:lnTo>
                <a:lnTo>
                  <a:pt x="2090" y="2661"/>
                </a:lnTo>
                <a:cubicBezTo>
                  <a:pt x="2090" y="2661"/>
                  <a:pt x="1913" y="2975"/>
                  <a:pt x="1884" y="3034"/>
                </a:cubicBezTo>
                <a:cubicBezTo>
                  <a:pt x="1865" y="3102"/>
                  <a:pt x="1305" y="4506"/>
                  <a:pt x="1305" y="4506"/>
                </a:cubicBezTo>
                <a:lnTo>
                  <a:pt x="1364" y="4506"/>
                </a:lnTo>
                <a:cubicBezTo>
                  <a:pt x="1364" y="4506"/>
                  <a:pt x="1904" y="3142"/>
                  <a:pt x="1933" y="3122"/>
                </a:cubicBezTo>
                <a:cubicBezTo>
                  <a:pt x="1972" y="3102"/>
                  <a:pt x="2198" y="2740"/>
                  <a:pt x="2198" y="2740"/>
                </a:cubicBezTo>
                <a:lnTo>
                  <a:pt x="2345" y="2249"/>
                </a:lnTo>
                <a:cubicBezTo>
                  <a:pt x="2365" y="2249"/>
                  <a:pt x="2395" y="2239"/>
                  <a:pt x="2414" y="2230"/>
                </a:cubicBezTo>
                <a:cubicBezTo>
                  <a:pt x="2512" y="2190"/>
                  <a:pt x="2591" y="2131"/>
                  <a:pt x="2620" y="2033"/>
                </a:cubicBezTo>
                <a:cubicBezTo>
                  <a:pt x="2640" y="1994"/>
                  <a:pt x="2640" y="1945"/>
                  <a:pt x="2669" y="1905"/>
                </a:cubicBezTo>
                <a:cubicBezTo>
                  <a:pt x="2684" y="1877"/>
                  <a:pt x="2718" y="1854"/>
                  <a:pt x="2747" y="1854"/>
                </a:cubicBezTo>
                <a:cubicBezTo>
                  <a:pt x="2758" y="1854"/>
                  <a:pt x="2769" y="1858"/>
                  <a:pt x="2777" y="1866"/>
                </a:cubicBezTo>
                <a:cubicBezTo>
                  <a:pt x="2757" y="2003"/>
                  <a:pt x="2866" y="2131"/>
                  <a:pt x="3003" y="2171"/>
                </a:cubicBezTo>
                <a:cubicBezTo>
                  <a:pt x="3037" y="2181"/>
                  <a:pt x="3071" y="2186"/>
                  <a:pt x="3107" y="2186"/>
                </a:cubicBezTo>
                <a:cubicBezTo>
                  <a:pt x="3205" y="2186"/>
                  <a:pt x="3306" y="2147"/>
                  <a:pt x="3385" y="2082"/>
                </a:cubicBezTo>
                <a:cubicBezTo>
                  <a:pt x="3455" y="2014"/>
                  <a:pt x="3513" y="1935"/>
                  <a:pt x="3553" y="1846"/>
                </a:cubicBezTo>
                <a:cubicBezTo>
                  <a:pt x="3798" y="2141"/>
                  <a:pt x="4151" y="2544"/>
                  <a:pt x="4495" y="2749"/>
                </a:cubicBezTo>
                <a:lnTo>
                  <a:pt x="4681" y="4241"/>
                </a:lnTo>
                <a:lnTo>
                  <a:pt x="4554" y="2788"/>
                </a:lnTo>
                <a:lnTo>
                  <a:pt x="4554" y="2788"/>
                </a:lnTo>
                <a:cubicBezTo>
                  <a:pt x="4622" y="2828"/>
                  <a:pt x="4681" y="2858"/>
                  <a:pt x="4740" y="2877"/>
                </a:cubicBezTo>
                <a:cubicBezTo>
                  <a:pt x="4909" y="2926"/>
                  <a:pt x="5046" y="2946"/>
                  <a:pt x="5160" y="2946"/>
                </a:cubicBezTo>
                <a:cubicBezTo>
                  <a:pt x="5502" y="2946"/>
                  <a:pt x="5633" y="2769"/>
                  <a:pt x="5780" y="2681"/>
                </a:cubicBezTo>
                <a:lnTo>
                  <a:pt x="5869" y="3220"/>
                </a:lnTo>
                <a:lnTo>
                  <a:pt x="6918" y="4673"/>
                </a:lnTo>
                <a:lnTo>
                  <a:pt x="6918" y="4673"/>
                </a:lnTo>
                <a:lnTo>
                  <a:pt x="5947" y="3201"/>
                </a:lnTo>
                <a:lnTo>
                  <a:pt x="5878" y="2631"/>
                </a:lnTo>
                <a:cubicBezTo>
                  <a:pt x="5904" y="2623"/>
                  <a:pt x="5935" y="2618"/>
                  <a:pt x="5968" y="2618"/>
                </a:cubicBezTo>
                <a:cubicBezTo>
                  <a:pt x="6009" y="2618"/>
                  <a:pt x="6055" y="2625"/>
                  <a:pt x="6104" y="2642"/>
                </a:cubicBezTo>
                <a:lnTo>
                  <a:pt x="6124" y="2759"/>
                </a:lnTo>
                <a:lnTo>
                  <a:pt x="7184" y="4437"/>
                </a:lnTo>
                <a:lnTo>
                  <a:pt x="6202" y="2740"/>
                </a:lnTo>
                <a:lnTo>
                  <a:pt x="6202" y="2671"/>
                </a:lnTo>
                <a:cubicBezTo>
                  <a:pt x="6261" y="2701"/>
                  <a:pt x="6320" y="2730"/>
                  <a:pt x="6388" y="2779"/>
                </a:cubicBezTo>
                <a:cubicBezTo>
                  <a:pt x="6401" y="2786"/>
                  <a:pt x="6414" y="2790"/>
                  <a:pt x="6426" y="2790"/>
                </a:cubicBezTo>
                <a:cubicBezTo>
                  <a:pt x="6479" y="2790"/>
                  <a:pt x="6517" y="2729"/>
                  <a:pt x="6477" y="2681"/>
                </a:cubicBezTo>
                <a:cubicBezTo>
                  <a:pt x="6388" y="2563"/>
                  <a:pt x="6281" y="2445"/>
                  <a:pt x="6172" y="2337"/>
                </a:cubicBezTo>
                <a:lnTo>
                  <a:pt x="6133" y="1778"/>
                </a:lnTo>
                <a:lnTo>
                  <a:pt x="6133" y="1778"/>
                </a:lnTo>
                <a:cubicBezTo>
                  <a:pt x="6340" y="1817"/>
                  <a:pt x="6545" y="1866"/>
                  <a:pt x="6761" y="1905"/>
                </a:cubicBezTo>
                <a:cubicBezTo>
                  <a:pt x="6777" y="1908"/>
                  <a:pt x="6793" y="1911"/>
                  <a:pt x="6808" y="1911"/>
                </a:cubicBezTo>
                <a:cubicBezTo>
                  <a:pt x="6843" y="1911"/>
                  <a:pt x="6872" y="1900"/>
                  <a:pt x="6879" y="1866"/>
                </a:cubicBezTo>
                <a:cubicBezTo>
                  <a:pt x="6889" y="1827"/>
                  <a:pt x="6840" y="1798"/>
                  <a:pt x="6800" y="1778"/>
                </a:cubicBezTo>
                <a:cubicBezTo>
                  <a:pt x="6575" y="1689"/>
                  <a:pt x="6340" y="1621"/>
                  <a:pt x="6114" y="1543"/>
                </a:cubicBezTo>
                <a:lnTo>
                  <a:pt x="6084" y="1159"/>
                </a:lnTo>
                <a:cubicBezTo>
                  <a:pt x="6077" y="1109"/>
                  <a:pt x="6038" y="1080"/>
                  <a:pt x="5998" y="1080"/>
                </a:cubicBezTo>
                <a:cubicBezTo>
                  <a:pt x="5984" y="1080"/>
                  <a:pt x="5969" y="1083"/>
                  <a:pt x="5956" y="1091"/>
                </a:cubicBezTo>
                <a:cubicBezTo>
                  <a:pt x="5849" y="1170"/>
                  <a:pt x="5672" y="1277"/>
                  <a:pt x="5515" y="1375"/>
                </a:cubicBezTo>
                <a:cubicBezTo>
                  <a:pt x="5230" y="1307"/>
                  <a:pt x="4936" y="1248"/>
                  <a:pt x="4652" y="1189"/>
                </a:cubicBezTo>
                <a:lnTo>
                  <a:pt x="4966" y="100"/>
                </a:lnTo>
                <a:cubicBezTo>
                  <a:pt x="4984" y="46"/>
                  <a:pt x="4944" y="0"/>
                  <a:pt x="4899" y="0"/>
                </a:cubicBezTo>
                <a:close/>
              </a:path>
            </a:pathLst>
          </a:custGeom>
          <a:solidFill>
            <a:srgbClr val="E0D7D3">
              <a:alpha val="6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875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72F8-6616-B08F-4FF6-D8BAE0BA1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/>
              <a:t>D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t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 prep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r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tion</a:t>
            </a:r>
            <a:endParaRPr lang="en-US" dirty="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E6DA523D-0905-5112-99DA-82AFFD4D8E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6211757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Google Shape;265;p30">
            <a:extLst>
              <a:ext uri="{FF2B5EF4-FFF2-40B4-BE49-F238E27FC236}">
                <a16:creationId xmlns:a16="http://schemas.microsoft.com/office/drawing/2014/main" id="{FD9288DB-4B02-BAF2-F9B1-8381F0FB0870}"/>
              </a:ext>
            </a:extLst>
          </p:cNvPr>
          <p:cNvSpPr/>
          <p:nvPr/>
        </p:nvSpPr>
        <p:spPr>
          <a:xfrm>
            <a:off x="3837222" y="715218"/>
            <a:ext cx="727236" cy="473048"/>
          </a:xfrm>
          <a:custGeom>
            <a:avLst/>
            <a:gdLst/>
            <a:ahLst/>
            <a:cxnLst/>
            <a:rect l="l" t="t" r="r" b="b"/>
            <a:pathLst>
              <a:path w="7184" h="4673" extrusionOk="0">
                <a:moveTo>
                  <a:pt x="3808" y="954"/>
                </a:moveTo>
                <a:lnTo>
                  <a:pt x="3769" y="993"/>
                </a:lnTo>
                <a:cubicBezTo>
                  <a:pt x="3749" y="983"/>
                  <a:pt x="3729" y="983"/>
                  <a:pt x="3710" y="973"/>
                </a:cubicBezTo>
                <a:cubicBezTo>
                  <a:pt x="3739" y="963"/>
                  <a:pt x="3769" y="963"/>
                  <a:pt x="3808" y="954"/>
                </a:cubicBezTo>
                <a:close/>
                <a:moveTo>
                  <a:pt x="4809" y="188"/>
                </a:moveTo>
                <a:cubicBezTo>
                  <a:pt x="4818" y="188"/>
                  <a:pt x="4818" y="188"/>
                  <a:pt x="4818" y="198"/>
                </a:cubicBezTo>
                <a:lnTo>
                  <a:pt x="4543" y="1170"/>
                </a:lnTo>
                <a:lnTo>
                  <a:pt x="4338" y="1140"/>
                </a:lnTo>
                <a:cubicBezTo>
                  <a:pt x="4171" y="1111"/>
                  <a:pt x="4004" y="1091"/>
                  <a:pt x="3837" y="1061"/>
                </a:cubicBezTo>
                <a:lnTo>
                  <a:pt x="3856" y="1052"/>
                </a:lnTo>
                <a:cubicBezTo>
                  <a:pt x="3876" y="1052"/>
                  <a:pt x="3886" y="1042"/>
                  <a:pt x="3906" y="1042"/>
                </a:cubicBezTo>
                <a:cubicBezTo>
                  <a:pt x="3896" y="1042"/>
                  <a:pt x="3886" y="1032"/>
                  <a:pt x="3876" y="1032"/>
                </a:cubicBezTo>
                <a:lnTo>
                  <a:pt x="4809" y="188"/>
                </a:lnTo>
                <a:close/>
                <a:moveTo>
                  <a:pt x="5956" y="1307"/>
                </a:moveTo>
                <a:cubicBezTo>
                  <a:pt x="5956" y="1307"/>
                  <a:pt x="5967" y="1307"/>
                  <a:pt x="5967" y="1317"/>
                </a:cubicBezTo>
                <a:lnTo>
                  <a:pt x="5986" y="1503"/>
                </a:lnTo>
                <a:cubicBezTo>
                  <a:pt x="5967" y="1503"/>
                  <a:pt x="5956" y="1503"/>
                  <a:pt x="5947" y="1493"/>
                </a:cubicBezTo>
                <a:cubicBezTo>
                  <a:pt x="5878" y="1474"/>
                  <a:pt x="5819" y="1464"/>
                  <a:pt x="5760" y="1444"/>
                </a:cubicBezTo>
                <a:lnTo>
                  <a:pt x="5956" y="1307"/>
                </a:lnTo>
                <a:close/>
                <a:moveTo>
                  <a:pt x="5456" y="1641"/>
                </a:moveTo>
                <a:cubicBezTo>
                  <a:pt x="5642" y="1680"/>
                  <a:pt x="5829" y="1719"/>
                  <a:pt x="6006" y="1758"/>
                </a:cubicBezTo>
                <a:lnTo>
                  <a:pt x="6065" y="2230"/>
                </a:lnTo>
                <a:cubicBezTo>
                  <a:pt x="5967" y="2141"/>
                  <a:pt x="5869" y="2053"/>
                  <a:pt x="5790" y="1994"/>
                </a:cubicBezTo>
                <a:lnTo>
                  <a:pt x="5760" y="1778"/>
                </a:lnTo>
                <a:cubicBezTo>
                  <a:pt x="5754" y="1738"/>
                  <a:pt x="5724" y="1711"/>
                  <a:pt x="5690" y="1711"/>
                </a:cubicBezTo>
                <a:cubicBezTo>
                  <a:pt x="5674" y="1711"/>
                  <a:pt x="5658" y="1716"/>
                  <a:pt x="5642" y="1729"/>
                </a:cubicBezTo>
                <a:cubicBezTo>
                  <a:pt x="5613" y="1748"/>
                  <a:pt x="5574" y="1778"/>
                  <a:pt x="5525" y="1807"/>
                </a:cubicBezTo>
                <a:cubicBezTo>
                  <a:pt x="5476" y="1778"/>
                  <a:pt x="5417" y="1739"/>
                  <a:pt x="5358" y="1709"/>
                </a:cubicBezTo>
                <a:lnTo>
                  <a:pt x="5456" y="1641"/>
                </a:lnTo>
                <a:close/>
                <a:moveTo>
                  <a:pt x="4899" y="0"/>
                </a:moveTo>
                <a:cubicBezTo>
                  <a:pt x="4895" y="0"/>
                  <a:pt x="4891" y="1"/>
                  <a:pt x="4887" y="2"/>
                </a:cubicBezTo>
                <a:cubicBezTo>
                  <a:pt x="4711" y="41"/>
                  <a:pt x="4210" y="551"/>
                  <a:pt x="3847" y="915"/>
                </a:cubicBezTo>
                <a:cubicBezTo>
                  <a:pt x="3788" y="895"/>
                  <a:pt x="3729" y="885"/>
                  <a:pt x="3670" y="885"/>
                </a:cubicBezTo>
                <a:cubicBezTo>
                  <a:pt x="3729" y="856"/>
                  <a:pt x="3798" y="836"/>
                  <a:pt x="3867" y="836"/>
                </a:cubicBezTo>
                <a:cubicBezTo>
                  <a:pt x="3769" y="806"/>
                  <a:pt x="3665" y="792"/>
                  <a:pt x="3561" y="792"/>
                </a:cubicBezTo>
                <a:cubicBezTo>
                  <a:pt x="3320" y="792"/>
                  <a:pt x="3074" y="869"/>
                  <a:pt x="2875" y="1013"/>
                </a:cubicBezTo>
                <a:cubicBezTo>
                  <a:pt x="2925" y="954"/>
                  <a:pt x="2973" y="895"/>
                  <a:pt x="3013" y="836"/>
                </a:cubicBezTo>
                <a:lnTo>
                  <a:pt x="3013" y="836"/>
                </a:lnTo>
                <a:cubicBezTo>
                  <a:pt x="2895" y="904"/>
                  <a:pt x="2787" y="1002"/>
                  <a:pt x="2699" y="1111"/>
                </a:cubicBezTo>
                <a:cubicBezTo>
                  <a:pt x="2552" y="934"/>
                  <a:pt x="2365" y="699"/>
                  <a:pt x="2267" y="561"/>
                </a:cubicBezTo>
                <a:cubicBezTo>
                  <a:pt x="2249" y="539"/>
                  <a:pt x="2223" y="529"/>
                  <a:pt x="2198" y="529"/>
                </a:cubicBezTo>
                <a:cubicBezTo>
                  <a:pt x="2167" y="529"/>
                  <a:pt x="2136" y="544"/>
                  <a:pt x="2120" y="571"/>
                </a:cubicBezTo>
                <a:lnTo>
                  <a:pt x="1482" y="2033"/>
                </a:lnTo>
                <a:lnTo>
                  <a:pt x="0" y="3309"/>
                </a:lnTo>
                <a:lnTo>
                  <a:pt x="0" y="3309"/>
                </a:lnTo>
                <a:lnTo>
                  <a:pt x="1560" y="2073"/>
                </a:lnTo>
                <a:lnTo>
                  <a:pt x="2179" y="767"/>
                </a:lnTo>
                <a:cubicBezTo>
                  <a:pt x="2179" y="762"/>
                  <a:pt x="2181" y="760"/>
                  <a:pt x="2184" y="760"/>
                </a:cubicBezTo>
                <a:cubicBezTo>
                  <a:pt x="2186" y="760"/>
                  <a:pt x="2188" y="762"/>
                  <a:pt x="2188" y="767"/>
                </a:cubicBezTo>
                <a:lnTo>
                  <a:pt x="2581" y="1277"/>
                </a:lnTo>
                <a:cubicBezTo>
                  <a:pt x="2571" y="1307"/>
                  <a:pt x="2552" y="1336"/>
                  <a:pt x="2542" y="1356"/>
                </a:cubicBezTo>
                <a:cubicBezTo>
                  <a:pt x="2532" y="1307"/>
                  <a:pt x="2512" y="1258"/>
                  <a:pt x="2502" y="1209"/>
                </a:cubicBezTo>
                <a:cubicBezTo>
                  <a:pt x="2454" y="1277"/>
                  <a:pt x="2443" y="1366"/>
                  <a:pt x="2473" y="1434"/>
                </a:cubicBezTo>
                <a:cubicBezTo>
                  <a:pt x="2493" y="1493"/>
                  <a:pt x="2532" y="1543"/>
                  <a:pt x="2591" y="1562"/>
                </a:cubicBezTo>
                <a:cubicBezTo>
                  <a:pt x="2576" y="1559"/>
                  <a:pt x="2561" y="1558"/>
                  <a:pt x="2546" y="1558"/>
                </a:cubicBezTo>
                <a:cubicBezTo>
                  <a:pt x="2464" y="1558"/>
                  <a:pt x="2384" y="1602"/>
                  <a:pt x="2326" y="1660"/>
                </a:cubicBezTo>
                <a:cubicBezTo>
                  <a:pt x="2257" y="1748"/>
                  <a:pt x="2228" y="1866"/>
                  <a:pt x="2198" y="1974"/>
                </a:cubicBezTo>
                <a:cubicBezTo>
                  <a:pt x="2179" y="2073"/>
                  <a:pt x="2149" y="2180"/>
                  <a:pt x="2129" y="2278"/>
                </a:cubicBezTo>
                <a:lnTo>
                  <a:pt x="2140" y="2278"/>
                </a:lnTo>
                <a:lnTo>
                  <a:pt x="2090" y="2661"/>
                </a:lnTo>
                <a:cubicBezTo>
                  <a:pt x="2090" y="2661"/>
                  <a:pt x="1913" y="2975"/>
                  <a:pt x="1884" y="3034"/>
                </a:cubicBezTo>
                <a:cubicBezTo>
                  <a:pt x="1865" y="3102"/>
                  <a:pt x="1305" y="4506"/>
                  <a:pt x="1305" y="4506"/>
                </a:cubicBezTo>
                <a:lnTo>
                  <a:pt x="1364" y="4506"/>
                </a:lnTo>
                <a:cubicBezTo>
                  <a:pt x="1364" y="4506"/>
                  <a:pt x="1904" y="3142"/>
                  <a:pt x="1933" y="3122"/>
                </a:cubicBezTo>
                <a:cubicBezTo>
                  <a:pt x="1972" y="3102"/>
                  <a:pt x="2198" y="2740"/>
                  <a:pt x="2198" y="2740"/>
                </a:cubicBezTo>
                <a:lnTo>
                  <a:pt x="2345" y="2249"/>
                </a:lnTo>
                <a:cubicBezTo>
                  <a:pt x="2365" y="2249"/>
                  <a:pt x="2395" y="2239"/>
                  <a:pt x="2414" y="2230"/>
                </a:cubicBezTo>
                <a:cubicBezTo>
                  <a:pt x="2512" y="2190"/>
                  <a:pt x="2591" y="2131"/>
                  <a:pt x="2620" y="2033"/>
                </a:cubicBezTo>
                <a:cubicBezTo>
                  <a:pt x="2640" y="1994"/>
                  <a:pt x="2640" y="1945"/>
                  <a:pt x="2669" y="1905"/>
                </a:cubicBezTo>
                <a:cubicBezTo>
                  <a:pt x="2684" y="1877"/>
                  <a:pt x="2718" y="1854"/>
                  <a:pt x="2747" y="1854"/>
                </a:cubicBezTo>
                <a:cubicBezTo>
                  <a:pt x="2758" y="1854"/>
                  <a:pt x="2769" y="1858"/>
                  <a:pt x="2777" y="1866"/>
                </a:cubicBezTo>
                <a:cubicBezTo>
                  <a:pt x="2757" y="2003"/>
                  <a:pt x="2866" y="2131"/>
                  <a:pt x="3003" y="2171"/>
                </a:cubicBezTo>
                <a:cubicBezTo>
                  <a:pt x="3037" y="2181"/>
                  <a:pt x="3071" y="2186"/>
                  <a:pt x="3107" y="2186"/>
                </a:cubicBezTo>
                <a:cubicBezTo>
                  <a:pt x="3205" y="2186"/>
                  <a:pt x="3306" y="2147"/>
                  <a:pt x="3385" y="2082"/>
                </a:cubicBezTo>
                <a:cubicBezTo>
                  <a:pt x="3455" y="2014"/>
                  <a:pt x="3513" y="1935"/>
                  <a:pt x="3553" y="1846"/>
                </a:cubicBezTo>
                <a:cubicBezTo>
                  <a:pt x="3798" y="2141"/>
                  <a:pt x="4151" y="2544"/>
                  <a:pt x="4495" y="2749"/>
                </a:cubicBezTo>
                <a:lnTo>
                  <a:pt x="4681" y="4241"/>
                </a:lnTo>
                <a:lnTo>
                  <a:pt x="4554" y="2788"/>
                </a:lnTo>
                <a:lnTo>
                  <a:pt x="4554" y="2788"/>
                </a:lnTo>
                <a:cubicBezTo>
                  <a:pt x="4622" y="2828"/>
                  <a:pt x="4681" y="2858"/>
                  <a:pt x="4740" y="2877"/>
                </a:cubicBezTo>
                <a:cubicBezTo>
                  <a:pt x="4909" y="2926"/>
                  <a:pt x="5046" y="2946"/>
                  <a:pt x="5160" y="2946"/>
                </a:cubicBezTo>
                <a:cubicBezTo>
                  <a:pt x="5502" y="2946"/>
                  <a:pt x="5633" y="2769"/>
                  <a:pt x="5780" y="2681"/>
                </a:cubicBezTo>
                <a:lnTo>
                  <a:pt x="5869" y="3220"/>
                </a:lnTo>
                <a:lnTo>
                  <a:pt x="6918" y="4673"/>
                </a:lnTo>
                <a:lnTo>
                  <a:pt x="6918" y="4673"/>
                </a:lnTo>
                <a:lnTo>
                  <a:pt x="5947" y="3201"/>
                </a:lnTo>
                <a:lnTo>
                  <a:pt x="5878" y="2631"/>
                </a:lnTo>
                <a:cubicBezTo>
                  <a:pt x="5904" y="2623"/>
                  <a:pt x="5935" y="2618"/>
                  <a:pt x="5968" y="2618"/>
                </a:cubicBezTo>
                <a:cubicBezTo>
                  <a:pt x="6009" y="2618"/>
                  <a:pt x="6055" y="2625"/>
                  <a:pt x="6104" y="2642"/>
                </a:cubicBezTo>
                <a:lnTo>
                  <a:pt x="6124" y="2759"/>
                </a:lnTo>
                <a:lnTo>
                  <a:pt x="7184" y="4437"/>
                </a:lnTo>
                <a:lnTo>
                  <a:pt x="6202" y="2740"/>
                </a:lnTo>
                <a:lnTo>
                  <a:pt x="6202" y="2671"/>
                </a:lnTo>
                <a:cubicBezTo>
                  <a:pt x="6261" y="2701"/>
                  <a:pt x="6320" y="2730"/>
                  <a:pt x="6388" y="2779"/>
                </a:cubicBezTo>
                <a:cubicBezTo>
                  <a:pt x="6401" y="2786"/>
                  <a:pt x="6414" y="2790"/>
                  <a:pt x="6426" y="2790"/>
                </a:cubicBezTo>
                <a:cubicBezTo>
                  <a:pt x="6479" y="2790"/>
                  <a:pt x="6517" y="2729"/>
                  <a:pt x="6477" y="2681"/>
                </a:cubicBezTo>
                <a:cubicBezTo>
                  <a:pt x="6388" y="2563"/>
                  <a:pt x="6281" y="2445"/>
                  <a:pt x="6172" y="2337"/>
                </a:cubicBezTo>
                <a:lnTo>
                  <a:pt x="6133" y="1778"/>
                </a:lnTo>
                <a:lnTo>
                  <a:pt x="6133" y="1778"/>
                </a:lnTo>
                <a:cubicBezTo>
                  <a:pt x="6340" y="1817"/>
                  <a:pt x="6545" y="1866"/>
                  <a:pt x="6761" y="1905"/>
                </a:cubicBezTo>
                <a:cubicBezTo>
                  <a:pt x="6777" y="1908"/>
                  <a:pt x="6793" y="1911"/>
                  <a:pt x="6808" y="1911"/>
                </a:cubicBezTo>
                <a:cubicBezTo>
                  <a:pt x="6843" y="1911"/>
                  <a:pt x="6872" y="1900"/>
                  <a:pt x="6879" y="1866"/>
                </a:cubicBezTo>
                <a:cubicBezTo>
                  <a:pt x="6889" y="1827"/>
                  <a:pt x="6840" y="1798"/>
                  <a:pt x="6800" y="1778"/>
                </a:cubicBezTo>
                <a:cubicBezTo>
                  <a:pt x="6575" y="1689"/>
                  <a:pt x="6340" y="1621"/>
                  <a:pt x="6114" y="1543"/>
                </a:cubicBezTo>
                <a:lnTo>
                  <a:pt x="6084" y="1159"/>
                </a:lnTo>
                <a:cubicBezTo>
                  <a:pt x="6077" y="1109"/>
                  <a:pt x="6038" y="1080"/>
                  <a:pt x="5998" y="1080"/>
                </a:cubicBezTo>
                <a:cubicBezTo>
                  <a:pt x="5984" y="1080"/>
                  <a:pt x="5969" y="1083"/>
                  <a:pt x="5956" y="1091"/>
                </a:cubicBezTo>
                <a:cubicBezTo>
                  <a:pt x="5849" y="1170"/>
                  <a:pt x="5672" y="1277"/>
                  <a:pt x="5515" y="1375"/>
                </a:cubicBezTo>
                <a:cubicBezTo>
                  <a:pt x="5230" y="1307"/>
                  <a:pt x="4936" y="1248"/>
                  <a:pt x="4652" y="1189"/>
                </a:cubicBezTo>
                <a:lnTo>
                  <a:pt x="4966" y="100"/>
                </a:lnTo>
                <a:cubicBezTo>
                  <a:pt x="4984" y="46"/>
                  <a:pt x="4944" y="0"/>
                  <a:pt x="4899" y="0"/>
                </a:cubicBezTo>
                <a:close/>
              </a:path>
            </a:pathLst>
          </a:custGeom>
          <a:solidFill>
            <a:srgbClr val="E0D7D3">
              <a:alpha val="6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65;p30">
            <a:extLst>
              <a:ext uri="{FF2B5EF4-FFF2-40B4-BE49-F238E27FC236}">
                <a16:creationId xmlns:a16="http://schemas.microsoft.com/office/drawing/2014/main" id="{6006936C-D5EB-8D60-4EE1-489A314A558E}"/>
              </a:ext>
            </a:extLst>
          </p:cNvPr>
          <p:cNvSpPr/>
          <p:nvPr/>
        </p:nvSpPr>
        <p:spPr>
          <a:xfrm>
            <a:off x="3204660" y="715218"/>
            <a:ext cx="727236" cy="473048"/>
          </a:xfrm>
          <a:custGeom>
            <a:avLst/>
            <a:gdLst/>
            <a:ahLst/>
            <a:cxnLst/>
            <a:rect l="l" t="t" r="r" b="b"/>
            <a:pathLst>
              <a:path w="7184" h="4673" extrusionOk="0">
                <a:moveTo>
                  <a:pt x="3808" y="954"/>
                </a:moveTo>
                <a:lnTo>
                  <a:pt x="3769" y="993"/>
                </a:lnTo>
                <a:cubicBezTo>
                  <a:pt x="3749" y="983"/>
                  <a:pt x="3729" y="983"/>
                  <a:pt x="3710" y="973"/>
                </a:cubicBezTo>
                <a:cubicBezTo>
                  <a:pt x="3739" y="963"/>
                  <a:pt x="3769" y="963"/>
                  <a:pt x="3808" y="954"/>
                </a:cubicBezTo>
                <a:close/>
                <a:moveTo>
                  <a:pt x="4809" y="188"/>
                </a:moveTo>
                <a:cubicBezTo>
                  <a:pt x="4818" y="188"/>
                  <a:pt x="4818" y="188"/>
                  <a:pt x="4818" y="198"/>
                </a:cubicBezTo>
                <a:lnTo>
                  <a:pt x="4543" y="1170"/>
                </a:lnTo>
                <a:lnTo>
                  <a:pt x="4338" y="1140"/>
                </a:lnTo>
                <a:cubicBezTo>
                  <a:pt x="4171" y="1111"/>
                  <a:pt x="4004" y="1091"/>
                  <a:pt x="3837" y="1061"/>
                </a:cubicBezTo>
                <a:lnTo>
                  <a:pt x="3856" y="1052"/>
                </a:lnTo>
                <a:cubicBezTo>
                  <a:pt x="3876" y="1052"/>
                  <a:pt x="3886" y="1042"/>
                  <a:pt x="3906" y="1042"/>
                </a:cubicBezTo>
                <a:cubicBezTo>
                  <a:pt x="3896" y="1042"/>
                  <a:pt x="3886" y="1032"/>
                  <a:pt x="3876" y="1032"/>
                </a:cubicBezTo>
                <a:lnTo>
                  <a:pt x="4809" y="188"/>
                </a:lnTo>
                <a:close/>
                <a:moveTo>
                  <a:pt x="5956" y="1307"/>
                </a:moveTo>
                <a:cubicBezTo>
                  <a:pt x="5956" y="1307"/>
                  <a:pt x="5967" y="1307"/>
                  <a:pt x="5967" y="1317"/>
                </a:cubicBezTo>
                <a:lnTo>
                  <a:pt x="5986" y="1503"/>
                </a:lnTo>
                <a:cubicBezTo>
                  <a:pt x="5967" y="1503"/>
                  <a:pt x="5956" y="1503"/>
                  <a:pt x="5947" y="1493"/>
                </a:cubicBezTo>
                <a:cubicBezTo>
                  <a:pt x="5878" y="1474"/>
                  <a:pt x="5819" y="1464"/>
                  <a:pt x="5760" y="1444"/>
                </a:cubicBezTo>
                <a:lnTo>
                  <a:pt x="5956" y="1307"/>
                </a:lnTo>
                <a:close/>
                <a:moveTo>
                  <a:pt x="5456" y="1641"/>
                </a:moveTo>
                <a:cubicBezTo>
                  <a:pt x="5642" y="1680"/>
                  <a:pt x="5829" y="1719"/>
                  <a:pt x="6006" y="1758"/>
                </a:cubicBezTo>
                <a:lnTo>
                  <a:pt x="6065" y="2230"/>
                </a:lnTo>
                <a:cubicBezTo>
                  <a:pt x="5967" y="2141"/>
                  <a:pt x="5869" y="2053"/>
                  <a:pt x="5790" y="1994"/>
                </a:cubicBezTo>
                <a:lnTo>
                  <a:pt x="5760" y="1778"/>
                </a:lnTo>
                <a:cubicBezTo>
                  <a:pt x="5754" y="1738"/>
                  <a:pt x="5724" y="1711"/>
                  <a:pt x="5690" y="1711"/>
                </a:cubicBezTo>
                <a:cubicBezTo>
                  <a:pt x="5674" y="1711"/>
                  <a:pt x="5658" y="1716"/>
                  <a:pt x="5642" y="1729"/>
                </a:cubicBezTo>
                <a:cubicBezTo>
                  <a:pt x="5613" y="1748"/>
                  <a:pt x="5574" y="1778"/>
                  <a:pt x="5525" y="1807"/>
                </a:cubicBezTo>
                <a:cubicBezTo>
                  <a:pt x="5476" y="1778"/>
                  <a:pt x="5417" y="1739"/>
                  <a:pt x="5358" y="1709"/>
                </a:cubicBezTo>
                <a:lnTo>
                  <a:pt x="5456" y="1641"/>
                </a:lnTo>
                <a:close/>
                <a:moveTo>
                  <a:pt x="4899" y="0"/>
                </a:moveTo>
                <a:cubicBezTo>
                  <a:pt x="4895" y="0"/>
                  <a:pt x="4891" y="1"/>
                  <a:pt x="4887" y="2"/>
                </a:cubicBezTo>
                <a:cubicBezTo>
                  <a:pt x="4711" y="41"/>
                  <a:pt x="4210" y="551"/>
                  <a:pt x="3847" y="915"/>
                </a:cubicBezTo>
                <a:cubicBezTo>
                  <a:pt x="3788" y="895"/>
                  <a:pt x="3729" y="885"/>
                  <a:pt x="3670" y="885"/>
                </a:cubicBezTo>
                <a:cubicBezTo>
                  <a:pt x="3729" y="856"/>
                  <a:pt x="3798" y="836"/>
                  <a:pt x="3867" y="836"/>
                </a:cubicBezTo>
                <a:cubicBezTo>
                  <a:pt x="3769" y="806"/>
                  <a:pt x="3665" y="792"/>
                  <a:pt x="3561" y="792"/>
                </a:cubicBezTo>
                <a:cubicBezTo>
                  <a:pt x="3320" y="792"/>
                  <a:pt x="3074" y="869"/>
                  <a:pt x="2875" y="1013"/>
                </a:cubicBezTo>
                <a:cubicBezTo>
                  <a:pt x="2925" y="954"/>
                  <a:pt x="2973" y="895"/>
                  <a:pt x="3013" y="836"/>
                </a:cubicBezTo>
                <a:lnTo>
                  <a:pt x="3013" y="836"/>
                </a:lnTo>
                <a:cubicBezTo>
                  <a:pt x="2895" y="904"/>
                  <a:pt x="2787" y="1002"/>
                  <a:pt x="2699" y="1111"/>
                </a:cubicBezTo>
                <a:cubicBezTo>
                  <a:pt x="2552" y="934"/>
                  <a:pt x="2365" y="699"/>
                  <a:pt x="2267" y="561"/>
                </a:cubicBezTo>
                <a:cubicBezTo>
                  <a:pt x="2249" y="539"/>
                  <a:pt x="2223" y="529"/>
                  <a:pt x="2198" y="529"/>
                </a:cubicBezTo>
                <a:cubicBezTo>
                  <a:pt x="2167" y="529"/>
                  <a:pt x="2136" y="544"/>
                  <a:pt x="2120" y="571"/>
                </a:cubicBezTo>
                <a:lnTo>
                  <a:pt x="1482" y="2033"/>
                </a:lnTo>
                <a:lnTo>
                  <a:pt x="0" y="3309"/>
                </a:lnTo>
                <a:lnTo>
                  <a:pt x="0" y="3309"/>
                </a:lnTo>
                <a:lnTo>
                  <a:pt x="1560" y="2073"/>
                </a:lnTo>
                <a:lnTo>
                  <a:pt x="2179" y="767"/>
                </a:lnTo>
                <a:cubicBezTo>
                  <a:pt x="2179" y="762"/>
                  <a:pt x="2181" y="760"/>
                  <a:pt x="2184" y="760"/>
                </a:cubicBezTo>
                <a:cubicBezTo>
                  <a:pt x="2186" y="760"/>
                  <a:pt x="2188" y="762"/>
                  <a:pt x="2188" y="767"/>
                </a:cubicBezTo>
                <a:lnTo>
                  <a:pt x="2581" y="1277"/>
                </a:lnTo>
                <a:cubicBezTo>
                  <a:pt x="2571" y="1307"/>
                  <a:pt x="2552" y="1336"/>
                  <a:pt x="2542" y="1356"/>
                </a:cubicBezTo>
                <a:cubicBezTo>
                  <a:pt x="2532" y="1307"/>
                  <a:pt x="2512" y="1258"/>
                  <a:pt x="2502" y="1209"/>
                </a:cubicBezTo>
                <a:cubicBezTo>
                  <a:pt x="2454" y="1277"/>
                  <a:pt x="2443" y="1366"/>
                  <a:pt x="2473" y="1434"/>
                </a:cubicBezTo>
                <a:cubicBezTo>
                  <a:pt x="2493" y="1493"/>
                  <a:pt x="2532" y="1543"/>
                  <a:pt x="2591" y="1562"/>
                </a:cubicBezTo>
                <a:cubicBezTo>
                  <a:pt x="2576" y="1559"/>
                  <a:pt x="2561" y="1558"/>
                  <a:pt x="2546" y="1558"/>
                </a:cubicBezTo>
                <a:cubicBezTo>
                  <a:pt x="2464" y="1558"/>
                  <a:pt x="2384" y="1602"/>
                  <a:pt x="2326" y="1660"/>
                </a:cubicBezTo>
                <a:cubicBezTo>
                  <a:pt x="2257" y="1748"/>
                  <a:pt x="2228" y="1866"/>
                  <a:pt x="2198" y="1974"/>
                </a:cubicBezTo>
                <a:cubicBezTo>
                  <a:pt x="2179" y="2073"/>
                  <a:pt x="2149" y="2180"/>
                  <a:pt x="2129" y="2278"/>
                </a:cubicBezTo>
                <a:lnTo>
                  <a:pt x="2140" y="2278"/>
                </a:lnTo>
                <a:lnTo>
                  <a:pt x="2090" y="2661"/>
                </a:lnTo>
                <a:cubicBezTo>
                  <a:pt x="2090" y="2661"/>
                  <a:pt x="1913" y="2975"/>
                  <a:pt x="1884" y="3034"/>
                </a:cubicBezTo>
                <a:cubicBezTo>
                  <a:pt x="1865" y="3102"/>
                  <a:pt x="1305" y="4506"/>
                  <a:pt x="1305" y="4506"/>
                </a:cubicBezTo>
                <a:lnTo>
                  <a:pt x="1364" y="4506"/>
                </a:lnTo>
                <a:cubicBezTo>
                  <a:pt x="1364" y="4506"/>
                  <a:pt x="1904" y="3142"/>
                  <a:pt x="1933" y="3122"/>
                </a:cubicBezTo>
                <a:cubicBezTo>
                  <a:pt x="1972" y="3102"/>
                  <a:pt x="2198" y="2740"/>
                  <a:pt x="2198" y="2740"/>
                </a:cubicBezTo>
                <a:lnTo>
                  <a:pt x="2345" y="2249"/>
                </a:lnTo>
                <a:cubicBezTo>
                  <a:pt x="2365" y="2249"/>
                  <a:pt x="2395" y="2239"/>
                  <a:pt x="2414" y="2230"/>
                </a:cubicBezTo>
                <a:cubicBezTo>
                  <a:pt x="2512" y="2190"/>
                  <a:pt x="2591" y="2131"/>
                  <a:pt x="2620" y="2033"/>
                </a:cubicBezTo>
                <a:cubicBezTo>
                  <a:pt x="2640" y="1994"/>
                  <a:pt x="2640" y="1945"/>
                  <a:pt x="2669" y="1905"/>
                </a:cubicBezTo>
                <a:cubicBezTo>
                  <a:pt x="2684" y="1877"/>
                  <a:pt x="2718" y="1854"/>
                  <a:pt x="2747" y="1854"/>
                </a:cubicBezTo>
                <a:cubicBezTo>
                  <a:pt x="2758" y="1854"/>
                  <a:pt x="2769" y="1858"/>
                  <a:pt x="2777" y="1866"/>
                </a:cubicBezTo>
                <a:cubicBezTo>
                  <a:pt x="2757" y="2003"/>
                  <a:pt x="2866" y="2131"/>
                  <a:pt x="3003" y="2171"/>
                </a:cubicBezTo>
                <a:cubicBezTo>
                  <a:pt x="3037" y="2181"/>
                  <a:pt x="3071" y="2186"/>
                  <a:pt x="3107" y="2186"/>
                </a:cubicBezTo>
                <a:cubicBezTo>
                  <a:pt x="3205" y="2186"/>
                  <a:pt x="3306" y="2147"/>
                  <a:pt x="3385" y="2082"/>
                </a:cubicBezTo>
                <a:cubicBezTo>
                  <a:pt x="3455" y="2014"/>
                  <a:pt x="3513" y="1935"/>
                  <a:pt x="3553" y="1846"/>
                </a:cubicBezTo>
                <a:cubicBezTo>
                  <a:pt x="3798" y="2141"/>
                  <a:pt x="4151" y="2544"/>
                  <a:pt x="4495" y="2749"/>
                </a:cubicBezTo>
                <a:lnTo>
                  <a:pt x="4681" y="4241"/>
                </a:lnTo>
                <a:lnTo>
                  <a:pt x="4554" y="2788"/>
                </a:lnTo>
                <a:lnTo>
                  <a:pt x="4554" y="2788"/>
                </a:lnTo>
                <a:cubicBezTo>
                  <a:pt x="4622" y="2828"/>
                  <a:pt x="4681" y="2858"/>
                  <a:pt x="4740" y="2877"/>
                </a:cubicBezTo>
                <a:cubicBezTo>
                  <a:pt x="4909" y="2926"/>
                  <a:pt x="5046" y="2946"/>
                  <a:pt x="5160" y="2946"/>
                </a:cubicBezTo>
                <a:cubicBezTo>
                  <a:pt x="5502" y="2946"/>
                  <a:pt x="5633" y="2769"/>
                  <a:pt x="5780" y="2681"/>
                </a:cubicBezTo>
                <a:lnTo>
                  <a:pt x="5869" y="3220"/>
                </a:lnTo>
                <a:lnTo>
                  <a:pt x="6918" y="4673"/>
                </a:lnTo>
                <a:lnTo>
                  <a:pt x="6918" y="4673"/>
                </a:lnTo>
                <a:lnTo>
                  <a:pt x="5947" y="3201"/>
                </a:lnTo>
                <a:lnTo>
                  <a:pt x="5878" y="2631"/>
                </a:lnTo>
                <a:cubicBezTo>
                  <a:pt x="5904" y="2623"/>
                  <a:pt x="5935" y="2618"/>
                  <a:pt x="5968" y="2618"/>
                </a:cubicBezTo>
                <a:cubicBezTo>
                  <a:pt x="6009" y="2618"/>
                  <a:pt x="6055" y="2625"/>
                  <a:pt x="6104" y="2642"/>
                </a:cubicBezTo>
                <a:lnTo>
                  <a:pt x="6124" y="2759"/>
                </a:lnTo>
                <a:lnTo>
                  <a:pt x="7184" y="4437"/>
                </a:lnTo>
                <a:lnTo>
                  <a:pt x="6202" y="2740"/>
                </a:lnTo>
                <a:lnTo>
                  <a:pt x="6202" y="2671"/>
                </a:lnTo>
                <a:cubicBezTo>
                  <a:pt x="6261" y="2701"/>
                  <a:pt x="6320" y="2730"/>
                  <a:pt x="6388" y="2779"/>
                </a:cubicBezTo>
                <a:cubicBezTo>
                  <a:pt x="6401" y="2786"/>
                  <a:pt x="6414" y="2790"/>
                  <a:pt x="6426" y="2790"/>
                </a:cubicBezTo>
                <a:cubicBezTo>
                  <a:pt x="6479" y="2790"/>
                  <a:pt x="6517" y="2729"/>
                  <a:pt x="6477" y="2681"/>
                </a:cubicBezTo>
                <a:cubicBezTo>
                  <a:pt x="6388" y="2563"/>
                  <a:pt x="6281" y="2445"/>
                  <a:pt x="6172" y="2337"/>
                </a:cubicBezTo>
                <a:lnTo>
                  <a:pt x="6133" y="1778"/>
                </a:lnTo>
                <a:lnTo>
                  <a:pt x="6133" y="1778"/>
                </a:lnTo>
                <a:cubicBezTo>
                  <a:pt x="6340" y="1817"/>
                  <a:pt x="6545" y="1866"/>
                  <a:pt x="6761" y="1905"/>
                </a:cubicBezTo>
                <a:cubicBezTo>
                  <a:pt x="6777" y="1908"/>
                  <a:pt x="6793" y="1911"/>
                  <a:pt x="6808" y="1911"/>
                </a:cubicBezTo>
                <a:cubicBezTo>
                  <a:pt x="6843" y="1911"/>
                  <a:pt x="6872" y="1900"/>
                  <a:pt x="6879" y="1866"/>
                </a:cubicBezTo>
                <a:cubicBezTo>
                  <a:pt x="6889" y="1827"/>
                  <a:pt x="6840" y="1798"/>
                  <a:pt x="6800" y="1778"/>
                </a:cubicBezTo>
                <a:cubicBezTo>
                  <a:pt x="6575" y="1689"/>
                  <a:pt x="6340" y="1621"/>
                  <a:pt x="6114" y="1543"/>
                </a:cubicBezTo>
                <a:lnTo>
                  <a:pt x="6084" y="1159"/>
                </a:lnTo>
                <a:cubicBezTo>
                  <a:pt x="6077" y="1109"/>
                  <a:pt x="6038" y="1080"/>
                  <a:pt x="5998" y="1080"/>
                </a:cubicBezTo>
                <a:cubicBezTo>
                  <a:pt x="5984" y="1080"/>
                  <a:pt x="5969" y="1083"/>
                  <a:pt x="5956" y="1091"/>
                </a:cubicBezTo>
                <a:cubicBezTo>
                  <a:pt x="5849" y="1170"/>
                  <a:pt x="5672" y="1277"/>
                  <a:pt x="5515" y="1375"/>
                </a:cubicBezTo>
                <a:cubicBezTo>
                  <a:pt x="5230" y="1307"/>
                  <a:pt x="4936" y="1248"/>
                  <a:pt x="4652" y="1189"/>
                </a:cubicBezTo>
                <a:lnTo>
                  <a:pt x="4966" y="100"/>
                </a:lnTo>
                <a:cubicBezTo>
                  <a:pt x="4984" y="46"/>
                  <a:pt x="4944" y="0"/>
                  <a:pt x="4899" y="0"/>
                </a:cubicBezTo>
                <a:close/>
              </a:path>
            </a:pathLst>
          </a:custGeom>
          <a:solidFill>
            <a:srgbClr val="E0D7D3">
              <a:alpha val="6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65;p30">
            <a:extLst>
              <a:ext uri="{FF2B5EF4-FFF2-40B4-BE49-F238E27FC236}">
                <a16:creationId xmlns:a16="http://schemas.microsoft.com/office/drawing/2014/main" id="{2267772B-ABF8-6431-C19D-270A660A80A3}"/>
              </a:ext>
            </a:extLst>
          </p:cNvPr>
          <p:cNvSpPr/>
          <p:nvPr/>
        </p:nvSpPr>
        <p:spPr>
          <a:xfrm>
            <a:off x="1701606" y="673114"/>
            <a:ext cx="727236" cy="473048"/>
          </a:xfrm>
          <a:custGeom>
            <a:avLst/>
            <a:gdLst/>
            <a:ahLst/>
            <a:cxnLst/>
            <a:rect l="l" t="t" r="r" b="b"/>
            <a:pathLst>
              <a:path w="7184" h="4673" extrusionOk="0">
                <a:moveTo>
                  <a:pt x="3808" y="954"/>
                </a:moveTo>
                <a:lnTo>
                  <a:pt x="3769" y="993"/>
                </a:lnTo>
                <a:cubicBezTo>
                  <a:pt x="3749" y="983"/>
                  <a:pt x="3729" y="983"/>
                  <a:pt x="3710" y="973"/>
                </a:cubicBezTo>
                <a:cubicBezTo>
                  <a:pt x="3739" y="963"/>
                  <a:pt x="3769" y="963"/>
                  <a:pt x="3808" y="954"/>
                </a:cubicBezTo>
                <a:close/>
                <a:moveTo>
                  <a:pt x="4809" y="188"/>
                </a:moveTo>
                <a:cubicBezTo>
                  <a:pt x="4818" y="188"/>
                  <a:pt x="4818" y="188"/>
                  <a:pt x="4818" y="198"/>
                </a:cubicBezTo>
                <a:lnTo>
                  <a:pt x="4543" y="1170"/>
                </a:lnTo>
                <a:lnTo>
                  <a:pt x="4338" y="1140"/>
                </a:lnTo>
                <a:cubicBezTo>
                  <a:pt x="4171" y="1111"/>
                  <a:pt x="4004" y="1091"/>
                  <a:pt x="3837" y="1061"/>
                </a:cubicBezTo>
                <a:lnTo>
                  <a:pt x="3856" y="1052"/>
                </a:lnTo>
                <a:cubicBezTo>
                  <a:pt x="3876" y="1052"/>
                  <a:pt x="3886" y="1042"/>
                  <a:pt x="3906" y="1042"/>
                </a:cubicBezTo>
                <a:cubicBezTo>
                  <a:pt x="3896" y="1042"/>
                  <a:pt x="3886" y="1032"/>
                  <a:pt x="3876" y="1032"/>
                </a:cubicBezTo>
                <a:lnTo>
                  <a:pt x="4809" y="188"/>
                </a:lnTo>
                <a:close/>
                <a:moveTo>
                  <a:pt x="5956" y="1307"/>
                </a:moveTo>
                <a:cubicBezTo>
                  <a:pt x="5956" y="1307"/>
                  <a:pt x="5967" y="1307"/>
                  <a:pt x="5967" y="1317"/>
                </a:cubicBezTo>
                <a:lnTo>
                  <a:pt x="5986" y="1503"/>
                </a:lnTo>
                <a:cubicBezTo>
                  <a:pt x="5967" y="1503"/>
                  <a:pt x="5956" y="1503"/>
                  <a:pt x="5947" y="1493"/>
                </a:cubicBezTo>
                <a:cubicBezTo>
                  <a:pt x="5878" y="1474"/>
                  <a:pt x="5819" y="1464"/>
                  <a:pt x="5760" y="1444"/>
                </a:cubicBezTo>
                <a:lnTo>
                  <a:pt x="5956" y="1307"/>
                </a:lnTo>
                <a:close/>
                <a:moveTo>
                  <a:pt x="5456" y="1641"/>
                </a:moveTo>
                <a:cubicBezTo>
                  <a:pt x="5642" y="1680"/>
                  <a:pt x="5829" y="1719"/>
                  <a:pt x="6006" y="1758"/>
                </a:cubicBezTo>
                <a:lnTo>
                  <a:pt x="6065" y="2230"/>
                </a:lnTo>
                <a:cubicBezTo>
                  <a:pt x="5967" y="2141"/>
                  <a:pt x="5869" y="2053"/>
                  <a:pt x="5790" y="1994"/>
                </a:cubicBezTo>
                <a:lnTo>
                  <a:pt x="5760" y="1778"/>
                </a:lnTo>
                <a:cubicBezTo>
                  <a:pt x="5754" y="1738"/>
                  <a:pt x="5724" y="1711"/>
                  <a:pt x="5690" y="1711"/>
                </a:cubicBezTo>
                <a:cubicBezTo>
                  <a:pt x="5674" y="1711"/>
                  <a:pt x="5658" y="1716"/>
                  <a:pt x="5642" y="1729"/>
                </a:cubicBezTo>
                <a:cubicBezTo>
                  <a:pt x="5613" y="1748"/>
                  <a:pt x="5574" y="1778"/>
                  <a:pt x="5525" y="1807"/>
                </a:cubicBezTo>
                <a:cubicBezTo>
                  <a:pt x="5476" y="1778"/>
                  <a:pt x="5417" y="1739"/>
                  <a:pt x="5358" y="1709"/>
                </a:cubicBezTo>
                <a:lnTo>
                  <a:pt x="5456" y="1641"/>
                </a:lnTo>
                <a:close/>
                <a:moveTo>
                  <a:pt x="4899" y="0"/>
                </a:moveTo>
                <a:cubicBezTo>
                  <a:pt x="4895" y="0"/>
                  <a:pt x="4891" y="1"/>
                  <a:pt x="4887" y="2"/>
                </a:cubicBezTo>
                <a:cubicBezTo>
                  <a:pt x="4711" y="41"/>
                  <a:pt x="4210" y="551"/>
                  <a:pt x="3847" y="915"/>
                </a:cubicBezTo>
                <a:cubicBezTo>
                  <a:pt x="3788" y="895"/>
                  <a:pt x="3729" y="885"/>
                  <a:pt x="3670" y="885"/>
                </a:cubicBezTo>
                <a:cubicBezTo>
                  <a:pt x="3729" y="856"/>
                  <a:pt x="3798" y="836"/>
                  <a:pt x="3867" y="836"/>
                </a:cubicBezTo>
                <a:cubicBezTo>
                  <a:pt x="3769" y="806"/>
                  <a:pt x="3665" y="792"/>
                  <a:pt x="3561" y="792"/>
                </a:cubicBezTo>
                <a:cubicBezTo>
                  <a:pt x="3320" y="792"/>
                  <a:pt x="3074" y="869"/>
                  <a:pt x="2875" y="1013"/>
                </a:cubicBezTo>
                <a:cubicBezTo>
                  <a:pt x="2925" y="954"/>
                  <a:pt x="2973" y="895"/>
                  <a:pt x="3013" y="836"/>
                </a:cubicBezTo>
                <a:lnTo>
                  <a:pt x="3013" y="836"/>
                </a:lnTo>
                <a:cubicBezTo>
                  <a:pt x="2895" y="904"/>
                  <a:pt x="2787" y="1002"/>
                  <a:pt x="2699" y="1111"/>
                </a:cubicBezTo>
                <a:cubicBezTo>
                  <a:pt x="2552" y="934"/>
                  <a:pt x="2365" y="699"/>
                  <a:pt x="2267" y="561"/>
                </a:cubicBezTo>
                <a:cubicBezTo>
                  <a:pt x="2249" y="539"/>
                  <a:pt x="2223" y="529"/>
                  <a:pt x="2198" y="529"/>
                </a:cubicBezTo>
                <a:cubicBezTo>
                  <a:pt x="2167" y="529"/>
                  <a:pt x="2136" y="544"/>
                  <a:pt x="2120" y="571"/>
                </a:cubicBezTo>
                <a:lnTo>
                  <a:pt x="1482" y="2033"/>
                </a:lnTo>
                <a:lnTo>
                  <a:pt x="0" y="3309"/>
                </a:lnTo>
                <a:lnTo>
                  <a:pt x="0" y="3309"/>
                </a:lnTo>
                <a:lnTo>
                  <a:pt x="1560" y="2073"/>
                </a:lnTo>
                <a:lnTo>
                  <a:pt x="2179" y="767"/>
                </a:lnTo>
                <a:cubicBezTo>
                  <a:pt x="2179" y="762"/>
                  <a:pt x="2181" y="760"/>
                  <a:pt x="2184" y="760"/>
                </a:cubicBezTo>
                <a:cubicBezTo>
                  <a:pt x="2186" y="760"/>
                  <a:pt x="2188" y="762"/>
                  <a:pt x="2188" y="767"/>
                </a:cubicBezTo>
                <a:lnTo>
                  <a:pt x="2581" y="1277"/>
                </a:lnTo>
                <a:cubicBezTo>
                  <a:pt x="2571" y="1307"/>
                  <a:pt x="2552" y="1336"/>
                  <a:pt x="2542" y="1356"/>
                </a:cubicBezTo>
                <a:cubicBezTo>
                  <a:pt x="2532" y="1307"/>
                  <a:pt x="2512" y="1258"/>
                  <a:pt x="2502" y="1209"/>
                </a:cubicBezTo>
                <a:cubicBezTo>
                  <a:pt x="2454" y="1277"/>
                  <a:pt x="2443" y="1366"/>
                  <a:pt x="2473" y="1434"/>
                </a:cubicBezTo>
                <a:cubicBezTo>
                  <a:pt x="2493" y="1493"/>
                  <a:pt x="2532" y="1543"/>
                  <a:pt x="2591" y="1562"/>
                </a:cubicBezTo>
                <a:cubicBezTo>
                  <a:pt x="2576" y="1559"/>
                  <a:pt x="2561" y="1558"/>
                  <a:pt x="2546" y="1558"/>
                </a:cubicBezTo>
                <a:cubicBezTo>
                  <a:pt x="2464" y="1558"/>
                  <a:pt x="2384" y="1602"/>
                  <a:pt x="2326" y="1660"/>
                </a:cubicBezTo>
                <a:cubicBezTo>
                  <a:pt x="2257" y="1748"/>
                  <a:pt x="2228" y="1866"/>
                  <a:pt x="2198" y="1974"/>
                </a:cubicBezTo>
                <a:cubicBezTo>
                  <a:pt x="2179" y="2073"/>
                  <a:pt x="2149" y="2180"/>
                  <a:pt x="2129" y="2278"/>
                </a:cubicBezTo>
                <a:lnTo>
                  <a:pt x="2140" y="2278"/>
                </a:lnTo>
                <a:lnTo>
                  <a:pt x="2090" y="2661"/>
                </a:lnTo>
                <a:cubicBezTo>
                  <a:pt x="2090" y="2661"/>
                  <a:pt x="1913" y="2975"/>
                  <a:pt x="1884" y="3034"/>
                </a:cubicBezTo>
                <a:cubicBezTo>
                  <a:pt x="1865" y="3102"/>
                  <a:pt x="1305" y="4506"/>
                  <a:pt x="1305" y="4506"/>
                </a:cubicBezTo>
                <a:lnTo>
                  <a:pt x="1364" y="4506"/>
                </a:lnTo>
                <a:cubicBezTo>
                  <a:pt x="1364" y="4506"/>
                  <a:pt x="1904" y="3142"/>
                  <a:pt x="1933" y="3122"/>
                </a:cubicBezTo>
                <a:cubicBezTo>
                  <a:pt x="1972" y="3102"/>
                  <a:pt x="2198" y="2740"/>
                  <a:pt x="2198" y="2740"/>
                </a:cubicBezTo>
                <a:lnTo>
                  <a:pt x="2345" y="2249"/>
                </a:lnTo>
                <a:cubicBezTo>
                  <a:pt x="2365" y="2249"/>
                  <a:pt x="2395" y="2239"/>
                  <a:pt x="2414" y="2230"/>
                </a:cubicBezTo>
                <a:cubicBezTo>
                  <a:pt x="2512" y="2190"/>
                  <a:pt x="2591" y="2131"/>
                  <a:pt x="2620" y="2033"/>
                </a:cubicBezTo>
                <a:cubicBezTo>
                  <a:pt x="2640" y="1994"/>
                  <a:pt x="2640" y="1945"/>
                  <a:pt x="2669" y="1905"/>
                </a:cubicBezTo>
                <a:cubicBezTo>
                  <a:pt x="2684" y="1877"/>
                  <a:pt x="2718" y="1854"/>
                  <a:pt x="2747" y="1854"/>
                </a:cubicBezTo>
                <a:cubicBezTo>
                  <a:pt x="2758" y="1854"/>
                  <a:pt x="2769" y="1858"/>
                  <a:pt x="2777" y="1866"/>
                </a:cubicBezTo>
                <a:cubicBezTo>
                  <a:pt x="2757" y="2003"/>
                  <a:pt x="2866" y="2131"/>
                  <a:pt x="3003" y="2171"/>
                </a:cubicBezTo>
                <a:cubicBezTo>
                  <a:pt x="3037" y="2181"/>
                  <a:pt x="3071" y="2186"/>
                  <a:pt x="3107" y="2186"/>
                </a:cubicBezTo>
                <a:cubicBezTo>
                  <a:pt x="3205" y="2186"/>
                  <a:pt x="3306" y="2147"/>
                  <a:pt x="3385" y="2082"/>
                </a:cubicBezTo>
                <a:cubicBezTo>
                  <a:pt x="3455" y="2014"/>
                  <a:pt x="3513" y="1935"/>
                  <a:pt x="3553" y="1846"/>
                </a:cubicBezTo>
                <a:cubicBezTo>
                  <a:pt x="3798" y="2141"/>
                  <a:pt x="4151" y="2544"/>
                  <a:pt x="4495" y="2749"/>
                </a:cubicBezTo>
                <a:lnTo>
                  <a:pt x="4681" y="4241"/>
                </a:lnTo>
                <a:lnTo>
                  <a:pt x="4554" y="2788"/>
                </a:lnTo>
                <a:lnTo>
                  <a:pt x="4554" y="2788"/>
                </a:lnTo>
                <a:cubicBezTo>
                  <a:pt x="4622" y="2828"/>
                  <a:pt x="4681" y="2858"/>
                  <a:pt x="4740" y="2877"/>
                </a:cubicBezTo>
                <a:cubicBezTo>
                  <a:pt x="4909" y="2926"/>
                  <a:pt x="5046" y="2946"/>
                  <a:pt x="5160" y="2946"/>
                </a:cubicBezTo>
                <a:cubicBezTo>
                  <a:pt x="5502" y="2946"/>
                  <a:pt x="5633" y="2769"/>
                  <a:pt x="5780" y="2681"/>
                </a:cubicBezTo>
                <a:lnTo>
                  <a:pt x="5869" y="3220"/>
                </a:lnTo>
                <a:lnTo>
                  <a:pt x="6918" y="4673"/>
                </a:lnTo>
                <a:lnTo>
                  <a:pt x="6918" y="4673"/>
                </a:lnTo>
                <a:lnTo>
                  <a:pt x="5947" y="3201"/>
                </a:lnTo>
                <a:lnTo>
                  <a:pt x="5878" y="2631"/>
                </a:lnTo>
                <a:cubicBezTo>
                  <a:pt x="5904" y="2623"/>
                  <a:pt x="5935" y="2618"/>
                  <a:pt x="5968" y="2618"/>
                </a:cubicBezTo>
                <a:cubicBezTo>
                  <a:pt x="6009" y="2618"/>
                  <a:pt x="6055" y="2625"/>
                  <a:pt x="6104" y="2642"/>
                </a:cubicBezTo>
                <a:lnTo>
                  <a:pt x="6124" y="2759"/>
                </a:lnTo>
                <a:lnTo>
                  <a:pt x="7184" y="4437"/>
                </a:lnTo>
                <a:lnTo>
                  <a:pt x="6202" y="2740"/>
                </a:lnTo>
                <a:lnTo>
                  <a:pt x="6202" y="2671"/>
                </a:lnTo>
                <a:cubicBezTo>
                  <a:pt x="6261" y="2701"/>
                  <a:pt x="6320" y="2730"/>
                  <a:pt x="6388" y="2779"/>
                </a:cubicBezTo>
                <a:cubicBezTo>
                  <a:pt x="6401" y="2786"/>
                  <a:pt x="6414" y="2790"/>
                  <a:pt x="6426" y="2790"/>
                </a:cubicBezTo>
                <a:cubicBezTo>
                  <a:pt x="6479" y="2790"/>
                  <a:pt x="6517" y="2729"/>
                  <a:pt x="6477" y="2681"/>
                </a:cubicBezTo>
                <a:cubicBezTo>
                  <a:pt x="6388" y="2563"/>
                  <a:pt x="6281" y="2445"/>
                  <a:pt x="6172" y="2337"/>
                </a:cubicBezTo>
                <a:lnTo>
                  <a:pt x="6133" y="1778"/>
                </a:lnTo>
                <a:lnTo>
                  <a:pt x="6133" y="1778"/>
                </a:lnTo>
                <a:cubicBezTo>
                  <a:pt x="6340" y="1817"/>
                  <a:pt x="6545" y="1866"/>
                  <a:pt x="6761" y="1905"/>
                </a:cubicBezTo>
                <a:cubicBezTo>
                  <a:pt x="6777" y="1908"/>
                  <a:pt x="6793" y="1911"/>
                  <a:pt x="6808" y="1911"/>
                </a:cubicBezTo>
                <a:cubicBezTo>
                  <a:pt x="6843" y="1911"/>
                  <a:pt x="6872" y="1900"/>
                  <a:pt x="6879" y="1866"/>
                </a:cubicBezTo>
                <a:cubicBezTo>
                  <a:pt x="6889" y="1827"/>
                  <a:pt x="6840" y="1798"/>
                  <a:pt x="6800" y="1778"/>
                </a:cubicBezTo>
                <a:cubicBezTo>
                  <a:pt x="6575" y="1689"/>
                  <a:pt x="6340" y="1621"/>
                  <a:pt x="6114" y="1543"/>
                </a:cubicBezTo>
                <a:lnTo>
                  <a:pt x="6084" y="1159"/>
                </a:lnTo>
                <a:cubicBezTo>
                  <a:pt x="6077" y="1109"/>
                  <a:pt x="6038" y="1080"/>
                  <a:pt x="5998" y="1080"/>
                </a:cubicBezTo>
                <a:cubicBezTo>
                  <a:pt x="5984" y="1080"/>
                  <a:pt x="5969" y="1083"/>
                  <a:pt x="5956" y="1091"/>
                </a:cubicBezTo>
                <a:cubicBezTo>
                  <a:pt x="5849" y="1170"/>
                  <a:pt x="5672" y="1277"/>
                  <a:pt x="5515" y="1375"/>
                </a:cubicBezTo>
                <a:cubicBezTo>
                  <a:pt x="5230" y="1307"/>
                  <a:pt x="4936" y="1248"/>
                  <a:pt x="4652" y="1189"/>
                </a:cubicBezTo>
                <a:lnTo>
                  <a:pt x="4966" y="100"/>
                </a:lnTo>
                <a:cubicBezTo>
                  <a:pt x="4984" y="46"/>
                  <a:pt x="4944" y="0"/>
                  <a:pt x="4899" y="0"/>
                </a:cubicBezTo>
                <a:close/>
              </a:path>
            </a:pathLst>
          </a:custGeom>
          <a:solidFill>
            <a:srgbClr val="E0D7D3">
              <a:alpha val="6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65;p30">
            <a:extLst>
              <a:ext uri="{FF2B5EF4-FFF2-40B4-BE49-F238E27FC236}">
                <a16:creationId xmlns:a16="http://schemas.microsoft.com/office/drawing/2014/main" id="{AEA5C123-7480-1D8A-1F2D-B0B6AE59ACC8}"/>
              </a:ext>
            </a:extLst>
          </p:cNvPr>
          <p:cNvSpPr/>
          <p:nvPr/>
        </p:nvSpPr>
        <p:spPr>
          <a:xfrm>
            <a:off x="1069044" y="715218"/>
            <a:ext cx="727236" cy="473048"/>
          </a:xfrm>
          <a:custGeom>
            <a:avLst/>
            <a:gdLst/>
            <a:ahLst/>
            <a:cxnLst/>
            <a:rect l="l" t="t" r="r" b="b"/>
            <a:pathLst>
              <a:path w="7184" h="4673" extrusionOk="0">
                <a:moveTo>
                  <a:pt x="3808" y="954"/>
                </a:moveTo>
                <a:lnTo>
                  <a:pt x="3769" y="993"/>
                </a:lnTo>
                <a:cubicBezTo>
                  <a:pt x="3749" y="983"/>
                  <a:pt x="3729" y="983"/>
                  <a:pt x="3710" y="973"/>
                </a:cubicBezTo>
                <a:cubicBezTo>
                  <a:pt x="3739" y="963"/>
                  <a:pt x="3769" y="963"/>
                  <a:pt x="3808" y="954"/>
                </a:cubicBezTo>
                <a:close/>
                <a:moveTo>
                  <a:pt x="4809" y="188"/>
                </a:moveTo>
                <a:cubicBezTo>
                  <a:pt x="4818" y="188"/>
                  <a:pt x="4818" y="188"/>
                  <a:pt x="4818" y="198"/>
                </a:cubicBezTo>
                <a:lnTo>
                  <a:pt x="4543" y="1170"/>
                </a:lnTo>
                <a:lnTo>
                  <a:pt x="4338" y="1140"/>
                </a:lnTo>
                <a:cubicBezTo>
                  <a:pt x="4171" y="1111"/>
                  <a:pt x="4004" y="1091"/>
                  <a:pt x="3837" y="1061"/>
                </a:cubicBezTo>
                <a:lnTo>
                  <a:pt x="3856" y="1052"/>
                </a:lnTo>
                <a:cubicBezTo>
                  <a:pt x="3876" y="1052"/>
                  <a:pt x="3886" y="1042"/>
                  <a:pt x="3906" y="1042"/>
                </a:cubicBezTo>
                <a:cubicBezTo>
                  <a:pt x="3896" y="1042"/>
                  <a:pt x="3886" y="1032"/>
                  <a:pt x="3876" y="1032"/>
                </a:cubicBezTo>
                <a:lnTo>
                  <a:pt x="4809" y="188"/>
                </a:lnTo>
                <a:close/>
                <a:moveTo>
                  <a:pt x="5956" y="1307"/>
                </a:moveTo>
                <a:cubicBezTo>
                  <a:pt x="5956" y="1307"/>
                  <a:pt x="5967" y="1307"/>
                  <a:pt x="5967" y="1317"/>
                </a:cubicBezTo>
                <a:lnTo>
                  <a:pt x="5986" y="1503"/>
                </a:lnTo>
                <a:cubicBezTo>
                  <a:pt x="5967" y="1503"/>
                  <a:pt x="5956" y="1503"/>
                  <a:pt x="5947" y="1493"/>
                </a:cubicBezTo>
                <a:cubicBezTo>
                  <a:pt x="5878" y="1474"/>
                  <a:pt x="5819" y="1464"/>
                  <a:pt x="5760" y="1444"/>
                </a:cubicBezTo>
                <a:lnTo>
                  <a:pt x="5956" y="1307"/>
                </a:lnTo>
                <a:close/>
                <a:moveTo>
                  <a:pt x="5456" y="1641"/>
                </a:moveTo>
                <a:cubicBezTo>
                  <a:pt x="5642" y="1680"/>
                  <a:pt x="5829" y="1719"/>
                  <a:pt x="6006" y="1758"/>
                </a:cubicBezTo>
                <a:lnTo>
                  <a:pt x="6065" y="2230"/>
                </a:lnTo>
                <a:cubicBezTo>
                  <a:pt x="5967" y="2141"/>
                  <a:pt x="5869" y="2053"/>
                  <a:pt x="5790" y="1994"/>
                </a:cubicBezTo>
                <a:lnTo>
                  <a:pt x="5760" y="1778"/>
                </a:lnTo>
                <a:cubicBezTo>
                  <a:pt x="5754" y="1738"/>
                  <a:pt x="5724" y="1711"/>
                  <a:pt x="5690" y="1711"/>
                </a:cubicBezTo>
                <a:cubicBezTo>
                  <a:pt x="5674" y="1711"/>
                  <a:pt x="5658" y="1716"/>
                  <a:pt x="5642" y="1729"/>
                </a:cubicBezTo>
                <a:cubicBezTo>
                  <a:pt x="5613" y="1748"/>
                  <a:pt x="5574" y="1778"/>
                  <a:pt x="5525" y="1807"/>
                </a:cubicBezTo>
                <a:cubicBezTo>
                  <a:pt x="5476" y="1778"/>
                  <a:pt x="5417" y="1739"/>
                  <a:pt x="5358" y="1709"/>
                </a:cubicBezTo>
                <a:lnTo>
                  <a:pt x="5456" y="1641"/>
                </a:lnTo>
                <a:close/>
                <a:moveTo>
                  <a:pt x="4899" y="0"/>
                </a:moveTo>
                <a:cubicBezTo>
                  <a:pt x="4895" y="0"/>
                  <a:pt x="4891" y="1"/>
                  <a:pt x="4887" y="2"/>
                </a:cubicBezTo>
                <a:cubicBezTo>
                  <a:pt x="4711" y="41"/>
                  <a:pt x="4210" y="551"/>
                  <a:pt x="3847" y="915"/>
                </a:cubicBezTo>
                <a:cubicBezTo>
                  <a:pt x="3788" y="895"/>
                  <a:pt x="3729" y="885"/>
                  <a:pt x="3670" y="885"/>
                </a:cubicBezTo>
                <a:cubicBezTo>
                  <a:pt x="3729" y="856"/>
                  <a:pt x="3798" y="836"/>
                  <a:pt x="3867" y="836"/>
                </a:cubicBezTo>
                <a:cubicBezTo>
                  <a:pt x="3769" y="806"/>
                  <a:pt x="3665" y="792"/>
                  <a:pt x="3561" y="792"/>
                </a:cubicBezTo>
                <a:cubicBezTo>
                  <a:pt x="3320" y="792"/>
                  <a:pt x="3074" y="869"/>
                  <a:pt x="2875" y="1013"/>
                </a:cubicBezTo>
                <a:cubicBezTo>
                  <a:pt x="2925" y="954"/>
                  <a:pt x="2973" y="895"/>
                  <a:pt x="3013" y="836"/>
                </a:cubicBezTo>
                <a:lnTo>
                  <a:pt x="3013" y="836"/>
                </a:lnTo>
                <a:cubicBezTo>
                  <a:pt x="2895" y="904"/>
                  <a:pt x="2787" y="1002"/>
                  <a:pt x="2699" y="1111"/>
                </a:cubicBezTo>
                <a:cubicBezTo>
                  <a:pt x="2552" y="934"/>
                  <a:pt x="2365" y="699"/>
                  <a:pt x="2267" y="561"/>
                </a:cubicBezTo>
                <a:cubicBezTo>
                  <a:pt x="2249" y="539"/>
                  <a:pt x="2223" y="529"/>
                  <a:pt x="2198" y="529"/>
                </a:cubicBezTo>
                <a:cubicBezTo>
                  <a:pt x="2167" y="529"/>
                  <a:pt x="2136" y="544"/>
                  <a:pt x="2120" y="571"/>
                </a:cubicBezTo>
                <a:lnTo>
                  <a:pt x="1482" y="2033"/>
                </a:lnTo>
                <a:lnTo>
                  <a:pt x="0" y="3309"/>
                </a:lnTo>
                <a:lnTo>
                  <a:pt x="0" y="3309"/>
                </a:lnTo>
                <a:lnTo>
                  <a:pt x="1560" y="2073"/>
                </a:lnTo>
                <a:lnTo>
                  <a:pt x="2179" y="767"/>
                </a:lnTo>
                <a:cubicBezTo>
                  <a:pt x="2179" y="762"/>
                  <a:pt x="2181" y="760"/>
                  <a:pt x="2184" y="760"/>
                </a:cubicBezTo>
                <a:cubicBezTo>
                  <a:pt x="2186" y="760"/>
                  <a:pt x="2188" y="762"/>
                  <a:pt x="2188" y="767"/>
                </a:cubicBezTo>
                <a:lnTo>
                  <a:pt x="2581" y="1277"/>
                </a:lnTo>
                <a:cubicBezTo>
                  <a:pt x="2571" y="1307"/>
                  <a:pt x="2552" y="1336"/>
                  <a:pt x="2542" y="1356"/>
                </a:cubicBezTo>
                <a:cubicBezTo>
                  <a:pt x="2532" y="1307"/>
                  <a:pt x="2512" y="1258"/>
                  <a:pt x="2502" y="1209"/>
                </a:cubicBezTo>
                <a:cubicBezTo>
                  <a:pt x="2454" y="1277"/>
                  <a:pt x="2443" y="1366"/>
                  <a:pt x="2473" y="1434"/>
                </a:cubicBezTo>
                <a:cubicBezTo>
                  <a:pt x="2493" y="1493"/>
                  <a:pt x="2532" y="1543"/>
                  <a:pt x="2591" y="1562"/>
                </a:cubicBezTo>
                <a:cubicBezTo>
                  <a:pt x="2576" y="1559"/>
                  <a:pt x="2561" y="1558"/>
                  <a:pt x="2546" y="1558"/>
                </a:cubicBezTo>
                <a:cubicBezTo>
                  <a:pt x="2464" y="1558"/>
                  <a:pt x="2384" y="1602"/>
                  <a:pt x="2326" y="1660"/>
                </a:cubicBezTo>
                <a:cubicBezTo>
                  <a:pt x="2257" y="1748"/>
                  <a:pt x="2228" y="1866"/>
                  <a:pt x="2198" y="1974"/>
                </a:cubicBezTo>
                <a:cubicBezTo>
                  <a:pt x="2179" y="2073"/>
                  <a:pt x="2149" y="2180"/>
                  <a:pt x="2129" y="2278"/>
                </a:cubicBezTo>
                <a:lnTo>
                  <a:pt x="2140" y="2278"/>
                </a:lnTo>
                <a:lnTo>
                  <a:pt x="2090" y="2661"/>
                </a:lnTo>
                <a:cubicBezTo>
                  <a:pt x="2090" y="2661"/>
                  <a:pt x="1913" y="2975"/>
                  <a:pt x="1884" y="3034"/>
                </a:cubicBezTo>
                <a:cubicBezTo>
                  <a:pt x="1865" y="3102"/>
                  <a:pt x="1305" y="4506"/>
                  <a:pt x="1305" y="4506"/>
                </a:cubicBezTo>
                <a:lnTo>
                  <a:pt x="1364" y="4506"/>
                </a:lnTo>
                <a:cubicBezTo>
                  <a:pt x="1364" y="4506"/>
                  <a:pt x="1904" y="3142"/>
                  <a:pt x="1933" y="3122"/>
                </a:cubicBezTo>
                <a:cubicBezTo>
                  <a:pt x="1972" y="3102"/>
                  <a:pt x="2198" y="2740"/>
                  <a:pt x="2198" y="2740"/>
                </a:cubicBezTo>
                <a:lnTo>
                  <a:pt x="2345" y="2249"/>
                </a:lnTo>
                <a:cubicBezTo>
                  <a:pt x="2365" y="2249"/>
                  <a:pt x="2395" y="2239"/>
                  <a:pt x="2414" y="2230"/>
                </a:cubicBezTo>
                <a:cubicBezTo>
                  <a:pt x="2512" y="2190"/>
                  <a:pt x="2591" y="2131"/>
                  <a:pt x="2620" y="2033"/>
                </a:cubicBezTo>
                <a:cubicBezTo>
                  <a:pt x="2640" y="1994"/>
                  <a:pt x="2640" y="1945"/>
                  <a:pt x="2669" y="1905"/>
                </a:cubicBezTo>
                <a:cubicBezTo>
                  <a:pt x="2684" y="1877"/>
                  <a:pt x="2718" y="1854"/>
                  <a:pt x="2747" y="1854"/>
                </a:cubicBezTo>
                <a:cubicBezTo>
                  <a:pt x="2758" y="1854"/>
                  <a:pt x="2769" y="1858"/>
                  <a:pt x="2777" y="1866"/>
                </a:cubicBezTo>
                <a:cubicBezTo>
                  <a:pt x="2757" y="2003"/>
                  <a:pt x="2866" y="2131"/>
                  <a:pt x="3003" y="2171"/>
                </a:cubicBezTo>
                <a:cubicBezTo>
                  <a:pt x="3037" y="2181"/>
                  <a:pt x="3071" y="2186"/>
                  <a:pt x="3107" y="2186"/>
                </a:cubicBezTo>
                <a:cubicBezTo>
                  <a:pt x="3205" y="2186"/>
                  <a:pt x="3306" y="2147"/>
                  <a:pt x="3385" y="2082"/>
                </a:cubicBezTo>
                <a:cubicBezTo>
                  <a:pt x="3455" y="2014"/>
                  <a:pt x="3513" y="1935"/>
                  <a:pt x="3553" y="1846"/>
                </a:cubicBezTo>
                <a:cubicBezTo>
                  <a:pt x="3798" y="2141"/>
                  <a:pt x="4151" y="2544"/>
                  <a:pt x="4495" y="2749"/>
                </a:cubicBezTo>
                <a:lnTo>
                  <a:pt x="4681" y="4241"/>
                </a:lnTo>
                <a:lnTo>
                  <a:pt x="4554" y="2788"/>
                </a:lnTo>
                <a:lnTo>
                  <a:pt x="4554" y="2788"/>
                </a:lnTo>
                <a:cubicBezTo>
                  <a:pt x="4622" y="2828"/>
                  <a:pt x="4681" y="2858"/>
                  <a:pt x="4740" y="2877"/>
                </a:cubicBezTo>
                <a:cubicBezTo>
                  <a:pt x="4909" y="2926"/>
                  <a:pt x="5046" y="2946"/>
                  <a:pt x="5160" y="2946"/>
                </a:cubicBezTo>
                <a:cubicBezTo>
                  <a:pt x="5502" y="2946"/>
                  <a:pt x="5633" y="2769"/>
                  <a:pt x="5780" y="2681"/>
                </a:cubicBezTo>
                <a:lnTo>
                  <a:pt x="5869" y="3220"/>
                </a:lnTo>
                <a:lnTo>
                  <a:pt x="6918" y="4673"/>
                </a:lnTo>
                <a:lnTo>
                  <a:pt x="6918" y="4673"/>
                </a:lnTo>
                <a:lnTo>
                  <a:pt x="5947" y="3201"/>
                </a:lnTo>
                <a:lnTo>
                  <a:pt x="5878" y="2631"/>
                </a:lnTo>
                <a:cubicBezTo>
                  <a:pt x="5904" y="2623"/>
                  <a:pt x="5935" y="2618"/>
                  <a:pt x="5968" y="2618"/>
                </a:cubicBezTo>
                <a:cubicBezTo>
                  <a:pt x="6009" y="2618"/>
                  <a:pt x="6055" y="2625"/>
                  <a:pt x="6104" y="2642"/>
                </a:cubicBezTo>
                <a:lnTo>
                  <a:pt x="6124" y="2759"/>
                </a:lnTo>
                <a:lnTo>
                  <a:pt x="7184" y="4437"/>
                </a:lnTo>
                <a:lnTo>
                  <a:pt x="6202" y="2740"/>
                </a:lnTo>
                <a:lnTo>
                  <a:pt x="6202" y="2671"/>
                </a:lnTo>
                <a:cubicBezTo>
                  <a:pt x="6261" y="2701"/>
                  <a:pt x="6320" y="2730"/>
                  <a:pt x="6388" y="2779"/>
                </a:cubicBezTo>
                <a:cubicBezTo>
                  <a:pt x="6401" y="2786"/>
                  <a:pt x="6414" y="2790"/>
                  <a:pt x="6426" y="2790"/>
                </a:cubicBezTo>
                <a:cubicBezTo>
                  <a:pt x="6479" y="2790"/>
                  <a:pt x="6517" y="2729"/>
                  <a:pt x="6477" y="2681"/>
                </a:cubicBezTo>
                <a:cubicBezTo>
                  <a:pt x="6388" y="2563"/>
                  <a:pt x="6281" y="2445"/>
                  <a:pt x="6172" y="2337"/>
                </a:cubicBezTo>
                <a:lnTo>
                  <a:pt x="6133" y="1778"/>
                </a:lnTo>
                <a:lnTo>
                  <a:pt x="6133" y="1778"/>
                </a:lnTo>
                <a:cubicBezTo>
                  <a:pt x="6340" y="1817"/>
                  <a:pt x="6545" y="1866"/>
                  <a:pt x="6761" y="1905"/>
                </a:cubicBezTo>
                <a:cubicBezTo>
                  <a:pt x="6777" y="1908"/>
                  <a:pt x="6793" y="1911"/>
                  <a:pt x="6808" y="1911"/>
                </a:cubicBezTo>
                <a:cubicBezTo>
                  <a:pt x="6843" y="1911"/>
                  <a:pt x="6872" y="1900"/>
                  <a:pt x="6879" y="1866"/>
                </a:cubicBezTo>
                <a:cubicBezTo>
                  <a:pt x="6889" y="1827"/>
                  <a:pt x="6840" y="1798"/>
                  <a:pt x="6800" y="1778"/>
                </a:cubicBezTo>
                <a:cubicBezTo>
                  <a:pt x="6575" y="1689"/>
                  <a:pt x="6340" y="1621"/>
                  <a:pt x="6114" y="1543"/>
                </a:cubicBezTo>
                <a:lnTo>
                  <a:pt x="6084" y="1159"/>
                </a:lnTo>
                <a:cubicBezTo>
                  <a:pt x="6077" y="1109"/>
                  <a:pt x="6038" y="1080"/>
                  <a:pt x="5998" y="1080"/>
                </a:cubicBezTo>
                <a:cubicBezTo>
                  <a:pt x="5984" y="1080"/>
                  <a:pt x="5969" y="1083"/>
                  <a:pt x="5956" y="1091"/>
                </a:cubicBezTo>
                <a:cubicBezTo>
                  <a:pt x="5849" y="1170"/>
                  <a:pt x="5672" y="1277"/>
                  <a:pt x="5515" y="1375"/>
                </a:cubicBezTo>
                <a:cubicBezTo>
                  <a:pt x="5230" y="1307"/>
                  <a:pt x="4936" y="1248"/>
                  <a:pt x="4652" y="1189"/>
                </a:cubicBezTo>
                <a:lnTo>
                  <a:pt x="4966" y="100"/>
                </a:lnTo>
                <a:cubicBezTo>
                  <a:pt x="4984" y="46"/>
                  <a:pt x="4944" y="0"/>
                  <a:pt x="4899" y="0"/>
                </a:cubicBezTo>
                <a:close/>
              </a:path>
            </a:pathLst>
          </a:custGeom>
          <a:solidFill>
            <a:srgbClr val="E0D7D3">
              <a:alpha val="6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0421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E1ACFBD-BFAA-B0AF-CB0A-5B0B8E19D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Malari</a:t>
            </a:r>
            <a:r>
              <a:rPr lang="en-US" sz="3600" dirty="0">
                <a:solidFill>
                  <a:srgbClr val="FF0000"/>
                </a:solidFill>
              </a:rPr>
              <a:t>a</a:t>
            </a:r>
            <a:r>
              <a:rPr lang="en-US" sz="3600" dirty="0"/>
              <a:t> trends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2DDD4B-0125-825F-9FA6-1EE0BE0CE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387600"/>
            <a:ext cx="3799763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Weekly malaria cases show </a:t>
            </a:r>
            <a:r>
              <a:rPr lang="en-US" b="1" dirty="0"/>
              <a:t>seasonal peaks</a:t>
            </a:r>
            <a:r>
              <a:rPr lang="en-US" dirty="0"/>
              <a:t>, with major spikes in </a:t>
            </a:r>
            <a:r>
              <a:rPr lang="en-US" b="1" dirty="0"/>
              <a:t>2020 and 2023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Rolling averages (4-week &amp; 12-week)</a:t>
            </a:r>
            <a:r>
              <a:rPr lang="en-US" dirty="0"/>
              <a:t> reveal short-term fluctuations and a rising long-term trend.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Climate variability</a:t>
            </a:r>
            <a:r>
              <a:rPr lang="en-US" dirty="0"/>
              <a:t> has made peak timing less predictable, complicating response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Trend data supports </a:t>
            </a:r>
            <a:r>
              <a:rPr lang="en-US" b="1" dirty="0"/>
              <a:t>seasonality-aware forecasting</a:t>
            </a:r>
            <a:r>
              <a:rPr lang="en-US" dirty="0"/>
              <a:t> and </a:t>
            </a:r>
            <a:r>
              <a:rPr lang="en-US" b="1" dirty="0"/>
              <a:t>early intervention strategies</a:t>
            </a:r>
            <a:r>
              <a:rPr lang="en-US" dirty="0"/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Google Shape;265;p30">
            <a:extLst>
              <a:ext uri="{FF2B5EF4-FFF2-40B4-BE49-F238E27FC236}">
                <a16:creationId xmlns:a16="http://schemas.microsoft.com/office/drawing/2014/main" id="{F4D38C92-5618-AB6E-7AA5-9437E2D7F8E0}"/>
              </a:ext>
            </a:extLst>
          </p:cNvPr>
          <p:cNvSpPr/>
          <p:nvPr/>
        </p:nvSpPr>
        <p:spPr>
          <a:xfrm>
            <a:off x="2312628" y="720853"/>
            <a:ext cx="727236" cy="473048"/>
          </a:xfrm>
          <a:custGeom>
            <a:avLst/>
            <a:gdLst/>
            <a:ahLst/>
            <a:cxnLst/>
            <a:rect l="l" t="t" r="r" b="b"/>
            <a:pathLst>
              <a:path w="7184" h="4673" extrusionOk="0">
                <a:moveTo>
                  <a:pt x="3808" y="954"/>
                </a:moveTo>
                <a:lnTo>
                  <a:pt x="3769" y="993"/>
                </a:lnTo>
                <a:cubicBezTo>
                  <a:pt x="3749" y="983"/>
                  <a:pt x="3729" y="983"/>
                  <a:pt x="3710" y="973"/>
                </a:cubicBezTo>
                <a:cubicBezTo>
                  <a:pt x="3739" y="963"/>
                  <a:pt x="3769" y="963"/>
                  <a:pt x="3808" y="954"/>
                </a:cubicBezTo>
                <a:close/>
                <a:moveTo>
                  <a:pt x="4809" y="188"/>
                </a:moveTo>
                <a:cubicBezTo>
                  <a:pt x="4818" y="188"/>
                  <a:pt x="4818" y="188"/>
                  <a:pt x="4818" y="198"/>
                </a:cubicBezTo>
                <a:lnTo>
                  <a:pt x="4543" y="1170"/>
                </a:lnTo>
                <a:lnTo>
                  <a:pt x="4338" y="1140"/>
                </a:lnTo>
                <a:cubicBezTo>
                  <a:pt x="4171" y="1111"/>
                  <a:pt x="4004" y="1091"/>
                  <a:pt x="3837" y="1061"/>
                </a:cubicBezTo>
                <a:lnTo>
                  <a:pt x="3856" y="1052"/>
                </a:lnTo>
                <a:cubicBezTo>
                  <a:pt x="3876" y="1052"/>
                  <a:pt x="3886" y="1042"/>
                  <a:pt x="3906" y="1042"/>
                </a:cubicBezTo>
                <a:cubicBezTo>
                  <a:pt x="3896" y="1042"/>
                  <a:pt x="3886" y="1032"/>
                  <a:pt x="3876" y="1032"/>
                </a:cubicBezTo>
                <a:lnTo>
                  <a:pt x="4809" y="188"/>
                </a:lnTo>
                <a:close/>
                <a:moveTo>
                  <a:pt x="5956" y="1307"/>
                </a:moveTo>
                <a:cubicBezTo>
                  <a:pt x="5956" y="1307"/>
                  <a:pt x="5967" y="1307"/>
                  <a:pt x="5967" y="1317"/>
                </a:cubicBezTo>
                <a:lnTo>
                  <a:pt x="5986" y="1503"/>
                </a:lnTo>
                <a:cubicBezTo>
                  <a:pt x="5967" y="1503"/>
                  <a:pt x="5956" y="1503"/>
                  <a:pt x="5947" y="1493"/>
                </a:cubicBezTo>
                <a:cubicBezTo>
                  <a:pt x="5878" y="1474"/>
                  <a:pt x="5819" y="1464"/>
                  <a:pt x="5760" y="1444"/>
                </a:cubicBezTo>
                <a:lnTo>
                  <a:pt x="5956" y="1307"/>
                </a:lnTo>
                <a:close/>
                <a:moveTo>
                  <a:pt x="5456" y="1641"/>
                </a:moveTo>
                <a:cubicBezTo>
                  <a:pt x="5642" y="1680"/>
                  <a:pt x="5829" y="1719"/>
                  <a:pt x="6006" y="1758"/>
                </a:cubicBezTo>
                <a:lnTo>
                  <a:pt x="6065" y="2230"/>
                </a:lnTo>
                <a:cubicBezTo>
                  <a:pt x="5967" y="2141"/>
                  <a:pt x="5869" y="2053"/>
                  <a:pt x="5790" y="1994"/>
                </a:cubicBezTo>
                <a:lnTo>
                  <a:pt x="5760" y="1778"/>
                </a:lnTo>
                <a:cubicBezTo>
                  <a:pt x="5754" y="1738"/>
                  <a:pt x="5724" y="1711"/>
                  <a:pt x="5690" y="1711"/>
                </a:cubicBezTo>
                <a:cubicBezTo>
                  <a:pt x="5674" y="1711"/>
                  <a:pt x="5658" y="1716"/>
                  <a:pt x="5642" y="1729"/>
                </a:cubicBezTo>
                <a:cubicBezTo>
                  <a:pt x="5613" y="1748"/>
                  <a:pt x="5574" y="1778"/>
                  <a:pt x="5525" y="1807"/>
                </a:cubicBezTo>
                <a:cubicBezTo>
                  <a:pt x="5476" y="1778"/>
                  <a:pt x="5417" y="1739"/>
                  <a:pt x="5358" y="1709"/>
                </a:cubicBezTo>
                <a:lnTo>
                  <a:pt x="5456" y="1641"/>
                </a:lnTo>
                <a:close/>
                <a:moveTo>
                  <a:pt x="4899" y="0"/>
                </a:moveTo>
                <a:cubicBezTo>
                  <a:pt x="4895" y="0"/>
                  <a:pt x="4891" y="1"/>
                  <a:pt x="4887" y="2"/>
                </a:cubicBezTo>
                <a:cubicBezTo>
                  <a:pt x="4711" y="41"/>
                  <a:pt x="4210" y="551"/>
                  <a:pt x="3847" y="915"/>
                </a:cubicBezTo>
                <a:cubicBezTo>
                  <a:pt x="3788" y="895"/>
                  <a:pt x="3729" y="885"/>
                  <a:pt x="3670" y="885"/>
                </a:cubicBezTo>
                <a:cubicBezTo>
                  <a:pt x="3729" y="856"/>
                  <a:pt x="3798" y="836"/>
                  <a:pt x="3867" y="836"/>
                </a:cubicBezTo>
                <a:cubicBezTo>
                  <a:pt x="3769" y="806"/>
                  <a:pt x="3665" y="792"/>
                  <a:pt x="3561" y="792"/>
                </a:cubicBezTo>
                <a:cubicBezTo>
                  <a:pt x="3320" y="792"/>
                  <a:pt x="3074" y="869"/>
                  <a:pt x="2875" y="1013"/>
                </a:cubicBezTo>
                <a:cubicBezTo>
                  <a:pt x="2925" y="954"/>
                  <a:pt x="2973" y="895"/>
                  <a:pt x="3013" y="836"/>
                </a:cubicBezTo>
                <a:lnTo>
                  <a:pt x="3013" y="836"/>
                </a:lnTo>
                <a:cubicBezTo>
                  <a:pt x="2895" y="904"/>
                  <a:pt x="2787" y="1002"/>
                  <a:pt x="2699" y="1111"/>
                </a:cubicBezTo>
                <a:cubicBezTo>
                  <a:pt x="2552" y="934"/>
                  <a:pt x="2365" y="699"/>
                  <a:pt x="2267" y="561"/>
                </a:cubicBezTo>
                <a:cubicBezTo>
                  <a:pt x="2249" y="539"/>
                  <a:pt x="2223" y="529"/>
                  <a:pt x="2198" y="529"/>
                </a:cubicBezTo>
                <a:cubicBezTo>
                  <a:pt x="2167" y="529"/>
                  <a:pt x="2136" y="544"/>
                  <a:pt x="2120" y="571"/>
                </a:cubicBezTo>
                <a:lnTo>
                  <a:pt x="1482" y="2033"/>
                </a:lnTo>
                <a:lnTo>
                  <a:pt x="0" y="3309"/>
                </a:lnTo>
                <a:lnTo>
                  <a:pt x="0" y="3309"/>
                </a:lnTo>
                <a:lnTo>
                  <a:pt x="1560" y="2073"/>
                </a:lnTo>
                <a:lnTo>
                  <a:pt x="2179" y="767"/>
                </a:lnTo>
                <a:cubicBezTo>
                  <a:pt x="2179" y="762"/>
                  <a:pt x="2181" y="760"/>
                  <a:pt x="2184" y="760"/>
                </a:cubicBezTo>
                <a:cubicBezTo>
                  <a:pt x="2186" y="760"/>
                  <a:pt x="2188" y="762"/>
                  <a:pt x="2188" y="767"/>
                </a:cubicBezTo>
                <a:lnTo>
                  <a:pt x="2581" y="1277"/>
                </a:lnTo>
                <a:cubicBezTo>
                  <a:pt x="2571" y="1307"/>
                  <a:pt x="2552" y="1336"/>
                  <a:pt x="2542" y="1356"/>
                </a:cubicBezTo>
                <a:cubicBezTo>
                  <a:pt x="2532" y="1307"/>
                  <a:pt x="2512" y="1258"/>
                  <a:pt x="2502" y="1209"/>
                </a:cubicBezTo>
                <a:cubicBezTo>
                  <a:pt x="2454" y="1277"/>
                  <a:pt x="2443" y="1366"/>
                  <a:pt x="2473" y="1434"/>
                </a:cubicBezTo>
                <a:cubicBezTo>
                  <a:pt x="2493" y="1493"/>
                  <a:pt x="2532" y="1543"/>
                  <a:pt x="2591" y="1562"/>
                </a:cubicBezTo>
                <a:cubicBezTo>
                  <a:pt x="2576" y="1559"/>
                  <a:pt x="2561" y="1558"/>
                  <a:pt x="2546" y="1558"/>
                </a:cubicBezTo>
                <a:cubicBezTo>
                  <a:pt x="2464" y="1558"/>
                  <a:pt x="2384" y="1602"/>
                  <a:pt x="2326" y="1660"/>
                </a:cubicBezTo>
                <a:cubicBezTo>
                  <a:pt x="2257" y="1748"/>
                  <a:pt x="2228" y="1866"/>
                  <a:pt x="2198" y="1974"/>
                </a:cubicBezTo>
                <a:cubicBezTo>
                  <a:pt x="2179" y="2073"/>
                  <a:pt x="2149" y="2180"/>
                  <a:pt x="2129" y="2278"/>
                </a:cubicBezTo>
                <a:lnTo>
                  <a:pt x="2140" y="2278"/>
                </a:lnTo>
                <a:lnTo>
                  <a:pt x="2090" y="2661"/>
                </a:lnTo>
                <a:cubicBezTo>
                  <a:pt x="2090" y="2661"/>
                  <a:pt x="1913" y="2975"/>
                  <a:pt x="1884" y="3034"/>
                </a:cubicBezTo>
                <a:cubicBezTo>
                  <a:pt x="1865" y="3102"/>
                  <a:pt x="1305" y="4506"/>
                  <a:pt x="1305" y="4506"/>
                </a:cubicBezTo>
                <a:lnTo>
                  <a:pt x="1364" y="4506"/>
                </a:lnTo>
                <a:cubicBezTo>
                  <a:pt x="1364" y="4506"/>
                  <a:pt x="1904" y="3142"/>
                  <a:pt x="1933" y="3122"/>
                </a:cubicBezTo>
                <a:cubicBezTo>
                  <a:pt x="1972" y="3102"/>
                  <a:pt x="2198" y="2740"/>
                  <a:pt x="2198" y="2740"/>
                </a:cubicBezTo>
                <a:lnTo>
                  <a:pt x="2345" y="2249"/>
                </a:lnTo>
                <a:cubicBezTo>
                  <a:pt x="2365" y="2249"/>
                  <a:pt x="2395" y="2239"/>
                  <a:pt x="2414" y="2230"/>
                </a:cubicBezTo>
                <a:cubicBezTo>
                  <a:pt x="2512" y="2190"/>
                  <a:pt x="2591" y="2131"/>
                  <a:pt x="2620" y="2033"/>
                </a:cubicBezTo>
                <a:cubicBezTo>
                  <a:pt x="2640" y="1994"/>
                  <a:pt x="2640" y="1945"/>
                  <a:pt x="2669" y="1905"/>
                </a:cubicBezTo>
                <a:cubicBezTo>
                  <a:pt x="2684" y="1877"/>
                  <a:pt x="2718" y="1854"/>
                  <a:pt x="2747" y="1854"/>
                </a:cubicBezTo>
                <a:cubicBezTo>
                  <a:pt x="2758" y="1854"/>
                  <a:pt x="2769" y="1858"/>
                  <a:pt x="2777" y="1866"/>
                </a:cubicBezTo>
                <a:cubicBezTo>
                  <a:pt x="2757" y="2003"/>
                  <a:pt x="2866" y="2131"/>
                  <a:pt x="3003" y="2171"/>
                </a:cubicBezTo>
                <a:cubicBezTo>
                  <a:pt x="3037" y="2181"/>
                  <a:pt x="3071" y="2186"/>
                  <a:pt x="3107" y="2186"/>
                </a:cubicBezTo>
                <a:cubicBezTo>
                  <a:pt x="3205" y="2186"/>
                  <a:pt x="3306" y="2147"/>
                  <a:pt x="3385" y="2082"/>
                </a:cubicBezTo>
                <a:cubicBezTo>
                  <a:pt x="3455" y="2014"/>
                  <a:pt x="3513" y="1935"/>
                  <a:pt x="3553" y="1846"/>
                </a:cubicBezTo>
                <a:cubicBezTo>
                  <a:pt x="3798" y="2141"/>
                  <a:pt x="4151" y="2544"/>
                  <a:pt x="4495" y="2749"/>
                </a:cubicBezTo>
                <a:lnTo>
                  <a:pt x="4681" y="4241"/>
                </a:lnTo>
                <a:lnTo>
                  <a:pt x="4554" y="2788"/>
                </a:lnTo>
                <a:lnTo>
                  <a:pt x="4554" y="2788"/>
                </a:lnTo>
                <a:cubicBezTo>
                  <a:pt x="4622" y="2828"/>
                  <a:pt x="4681" y="2858"/>
                  <a:pt x="4740" y="2877"/>
                </a:cubicBezTo>
                <a:cubicBezTo>
                  <a:pt x="4909" y="2926"/>
                  <a:pt x="5046" y="2946"/>
                  <a:pt x="5160" y="2946"/>
                </a:cubicBezTo>
                <a:cubicBezTo>
                  <a:pt x="5502" y="2946"/>
                  <a:pt x="5633" y="2769"/>
                  <a:pt x="5780" y="2681"/>
                </a:cubicBezTo>
                <a:lnTo>
                  <a:pt x="5869" y="3220"/>
                </a:lnTo>
                <a:lnTo>
                  <a:pt x="6918" y="4673"/>
                </a:lnTo>
                <a:lnTo>
                  <a:pt x="6918" y="4673"/>
                </a:lnTo>
                <a:lnTo>
                  <a:pt x="5947" y="3201"/>
                </a:lnTo>
                <a:lnTo>
                  <a:pt x="5878" y="2631"/>
                </a:lnTo>
                <a:cubicBezTo>
                  <a:pt x="5904" y="2623"/>
                  <a:pt x="5935" y="2618"/>
                  <a:pt x="5968" y="2618"/>
                </a:cubicBezTo>
                <a:cubicBezTo>
                  <a:pt x="6009" y="2618"/>
                  <a:pt x="6055" y="2625"/>
                  <a:pt x="6104" y="2642"/>
                </a:cubicBezTo>
                <a:lnTo>
                  <a:pt x="6124" y="2759"/>
                </a:lnTo>
                <a:lnTo>
                  <a:pt x="7184" y="4437"/>
                </a:lnTo>
                <a:lnTo>
                  <a:pt x="6202" y="2740"/>
                </a:lnTo>
                <a:lnTo>
                  <a:pt x="6202" y="2671"/>
                </a:lnTo>
                <a:cubicBezTo>
                  <a:pt x="6261" y="2701"/>
                  <a:pt x="6320" y="2730"/>
                  <a:pt x="6388" y="2779"/>
                </a:cubicBezTo>
                <a:cubicBezTo>
                  <a:pt x="6401" y="2786"/>
                  <a:pt x="6414" y="2790"/>
                  <a:pt x="6426" y="2790"/>
                </a:cubicBezTo>
                <a:cubicBezTo>
                  <a:pt x="6479" y="2790"/>
                  <a:pt x="6517" y="2729"/>
                  <a:pt x="6477" y="2681"/>
                </a:cubicBezTo>
                <a:cubicBezTo>
                  <a:pt x="6388" y="2563"/>
                  <a:pt x="6281" y="2445"/>
                  <a:pt x="6172" y="2337"/>
                </a:cubicBezTo>
                <a:lnTo>
                  <a:pt x="6133" y="1778"/>
                </a:lnTo>
                <a:lnTo>
                  <a:pt x="6133" y="1778"/>
                </a:lnTo>
                <a:cubicBezTo>
                  <a:pt x="6340" y="1817"/>
                  <a:pt x="6545" y="1866"/>
                  <a:pt x="6761" y="1905"/>
                </a:cubicBezTo>
                <a:cubicBezTo>
                  <a:pt x="6777" y="1908"/>
                  <a:pt x="6793" y="1911"/>
                  <a:pt x="6808" y="1911"/>
                </a:cubicBezTo>
                <a:cubicBezTo>
                  <a:pt x="6843" y="1911"/>
                  <a:pt x="6872" y="1900"/>
                  <a:pt x="6879" y="1866"/>
                </a:cubicBezTo>
                <a:cubicBezTo>
                  <a:pt x="6889" y="1827"/>
                  <a:pt x="6840" y="1798"/>
                  <a:pt x="6800" y="1778"/>
                </a:cubicBezTo>
                <a:cubicBezTo>
                  <a:pt x="6575" y="1689"/>
                  <a:pt x="6340" y="1621"/>
                  <a:pt x="6114" y="1543"/>
                </a:cubicBezTo>
                <a:lnTo>
                  <a:pt x="6084" y="1159"/>
                </a:lnTo>
                <a:cubicBezTo>
                  <a:pt x="6077" y="1109"/>
                  <a:pt x="6038" y="1080"/>
                  <a:pt x="5998" y="1080"/>
                </a:cubicBezTo>
                <a:cubicBezTo>
                  <a:pt x="5984" y="1080"/>
                  <a:pt x="5969" y="1083"/>
                  <a:pt x="5956" y="1091"/>
                </a:cubicBezTo>
                <a:cubicBezTo>
                  <a:pt x="5849" y="1170"/>
                  <a:pt x="5672" y="1277"/>
                  <a:pt x="5515" y="1375"/>
                </a:cubicBezTo>
                <a:cubicBezTo>
                  <a:pt x="5230" y="1307"/>
                  <a:pt x="4936" y="1248"/>
                  <a:pt x="4652" y="1189"/>
                </a:cubicBezTo>
                <a:lnTo>
                  <a:pt x="4966" y="100"/>
                </a:lnTo>
                <a:cubicBezTo>
                  <a:pt x="4984" y="46"/>
                  <a:pt x="4944" y="0"/>
                  <a:pt x="4899" y="0"/>
                </a:cubicBezTo>
                <a:close/>
              </a:path>
            </a:pathLst>
          </a:custGeom>
          <a:solidFill>
            <a:srgbClr val="E0D7D3">
              <a:alpha val="6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Picture Placeholder 18" descr="A graph showing a line of blue and orange lines&#10;&#10;AI-generated content may be incorrect.">
            <a:extLst>
              <a:ext uri="{FF2B5EF4-FFF2-40B4-BE49-F238E27FC236}">
                <a16:creationId xmlns:a16="http://schemas.microsoft.com/office/drawing/2014/main" id="{003F0F7B-7E53-7BCE-18C3-B4A795F4A8B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4" r="1800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9699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9FA450-6BD6-C945-EF47-D9E18427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9" y="914400"/>
            <a:ext cx="3453844" cy="146304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dirty="0"/>
              <a:t>Season</a:t>
            </a:r>
            <a:r>
              <a:rPr lang="en-US" sz="4000" dirty="0">
                <a:solidFill>
                  <a:srgbClr val="FF0000"/>
                </a:solidFill>
              </a:rPr>
              <a:t>a</a:t>
            </a:r>
            <a:r>
              <a:rPr lang="en-US" sz="4000" dirty="0"/>
              <a:t>l profile graph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9EA7A74-FEAD-5C4A-A812-5CB1C7825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62022" y="1014984"/>
            <a:ext cx="6614593" cy="136245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1" dirty="0"/>
              <a:t>Two major peaks</a:t>
            </a:r>
            <a:r>
              <a:rPr lang="en-US" dirty="0"/>
              <a:t>: around </a:t>
            </a:r>
            <a:r>
              <a:rPr lang="en-US" b="1" dirty="0"/>
              <a:t>week 21 (May)</a:t>
            </a:r>
            <a:r>
              <a:rPr lang="en-US" dirty="0"/>
              <a:t> and </a:t>
            </a:r>
            <a:r>
              <a:rPr lang="en-US" b="1" dirty="0"/>
              <a:t>week 33 (August)</a:t>
            </a:r>
            <a:r>
              <a:rPr lang="en-US" dirty="0"/>
              <a:t>.</a:t>
            </a:r>
          </a:p>
          <a:p>
            <a:r>
              <a:rPr lang="en-US" b="1" dirty="0"/>
              <a:t>Shaded band</a:t>
            </a:r>
            <a:r>
              <a:rPr lang="en-US" dirty="0"/>
              <a:t> shows variability—some years have much higher spikes than others.</a:t>
            </a:r>
          </a:p>
          <a:p>
            <a:r>
              <a:rPr lang="en-US" dirty="0"/>
              <a:t>Useful for </a:t>
            </a:r>
            <a:r>
              <a:rPr lang="en-US" b="1" dirty="0"/>
              <a:t>timing interventions</a:t>
            </a:r>
            <a:r>
              <a:rPr lang="en-US" dirty="0"/>
              <a:t> (e.g., Indoor Residual Spraying, Long Lasting Insecticide Nets distribution) and modeling </a:t>
            </a:r>
            <a:r>
              <a:rPr lang="en-US" b="1" dirty="0"/>
              <a:t>seasonality features</a:t>
            </a:r>
            <a:r>
              <a:rPr lang="en-US" dirty="0"/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Google Shape;265;p30">
            <a:extLst>
              <a:ext uri="{FF2B5EF4-FFF2-40B4-BE49-F238E27FC236}">
                <a16:creationId xmlns:a16="http://schemas.microsoft.com/office/drawing/2014/main" id="{B7D0AEA7-2AF0-812C-652D-E3274AF9DBF2}"/>
              </a:ext>
            </a:extLst>
          </p:cNvPr>
          <p:cNvSpPr/>
          <p:nvPr/>
        </p:nvSpPr>
        <p:spPr>
          <a:xfrm>
            <a:off x="2321772" y="669498"/>
            <a:ext cx="727236" cy="630328"/>
          </a:xfrm>
          <a:custGeom>
            <a:avLst/>
            <a:gdLst/>
            <a:ahLst/>
            <a:cxnLst/>
            <a:rect l="l" t="t" r="r" b="b"/>
            <a:pathLst>
              <a:path w="7184" h="4673" extrusionOk="0">
                <a:moveTo>
                  <a:pt x="3808" y="954"/>
                </a:moveTo>
                <a:lnTo>
                  <a:pt x="3769" y="993"/>
                </a:lnTo>
                <a:cubicBezTo>
                  <a:pt x="3749" y="983"/>
                  <a:pt x="3729" y="983"/>
                  <a:pt x="3710" y="973"/>
                </a:cubicBezTo>
                <a:cubicBezTo>
                  <a:pt x="3739" y="963"/>
                  <a:pt x="3769" y="963"/>
                  <a:pt x="3808" y="954"/>
                </a:cubicBezTo>
                <a:close/>
                <a:moveTo>
                  <a:pt x="4809" y="188"/>
                </a:moveTo>
                <a:cubicBezTo>
                  <a:pt x="4818" y="188"/>
                  <a:pt x="4818" y="188"/>
                  <a:pt x="4818" y="198"/>
                </a:cubicBezTo>
                <a:lnTo>
                  <a:pt x="4543" y="1170"/>
                </a:lnTo>
                <a:lnTo>
                  <a:pt x="4338" y="1140"/>
                </a:lnTo>
                <a:cubicBezTo>
                  <a:pt x="4171" y="1111"/>
                  <a:pt x="4004" y="1091"/>
                  <a:pt x="3837" y="1061"/>
                </a:cubicBezTo>
                <a:lnTo>
                  <a:pt x="3856" y="1052"/>
                </a:lnTo>
                <a:cubicBezTo>
                  <a:pt x="3876" y="1052"/>
                  <a:pt x="3886" y="1042"/>
                  <a:pt x="3906" y="1042"/>
                </a:cubicBezTo>
                <a:cubicBezTo>
                  <a:pt x="3896" y="1042"/>
                  <a:pt x="3886" y="1032"/>
                  <a:pt x="3876" y="1032"/>
                </a:cubicBezTo>
                <a:lnTo>
                  <a:pt x="4809" y="188"/>
                </a:lnTo>
                <a:close/>
                <a:moveTo>
                  <a:pt x="5956" y="1307"/>
                </a:moveTo>
                <a:cubicBezTo>
                  <a:pt x="5956" y="1307"/>
                  <a:pt x="5967" y="1307"/>
                  <a:pt x="5967" y="1317"/>
                </a:cubicBezTo>
                <a:lnTo>
                  <a:pt x="5986" y="1503"/>
                </a:lnTo>
                <a:cubicBezTo>
                  <a:pt x="5967" y="1503"/>
                  <a:pt x="5956" y="1503"/>
                  <a:pt x="5947" y="1493"/>
                </a:cubicBezTo>
                <a:cubicBezTo>
                  <a:pt x="5878" y="1474"/>
                  <a:pt x="5819" y="1464"/>
                  <a:pt x="5760" y="1444"/>
                </a:cubicBezTo>
                <a:lnTo>
                  <a:pt x="5956" y="1307"/>
                </a:lnTo>
                <a:close/>
                <a:moveTo>
                  <a:pt x="5456" y="1641"/>
                </a:moveTo>
                <a:cubicBezTo>
                  <a:pt x="5642" y="1680"/>
                  <a:pt x="5829" y="1719"/>
                  <a:pt x="6006" y="1758"/>
                </a:cubicBezTo>
                <a:lnTo>
                  <a:pt x="6065" y="2230"/>
                </a:lnTo>
                <a:cubicBezTo>
                  <a:pt x="5967" y="2141"/>
                  <a:pt x="5869" y="2053"/>
                  <a:pt x="5790" y="1994"/>
                </a:cubicBezTo>
                <a:lnTo>
                  <a:pt x="5760" y="1778"/>
                </a:lnTo>
                <a:cubicBezTo>
                  <a:pt x="5754" y="1738"/>
                  <a:pt x="5724" y="1711"/>
                  <a:pt x="5690" y="1711"/>
                </a:cubicBezTo>
                <a:cubicBezTo>
                  <a:pt x="5674" y="1711"/>
                  <a:pt x="5658" y="1716"/>
                  <a:pt x="5642" y="1729"/>
                </a:cubicBezTo>
                <a:cubicBezTo>
                  <a:pt x="5613" y="1748"/>
                  <a:pt x="5574" y="1778"/>
                  <a:pt x="5525" y="1807"/>
                </a:cubicBezTo>
                <a:cubicBezTo>
                  <a:pt x="5476" y="1778"/>
                  <a:pt x="5417" y="1739"/>
                  <a:pt x="5358" y="1709"/>
                </a:cubicBezTo>
                <a:lnTo>
                  <a:pt x="5456" y="1641"/>
                </a:lnTo>
                <a:close/>
                <a:moveTo>
                  <a:pt x="4899" y="0"/>
                </a:moveTo>
                <a:cubicBezTo>
                  <a:pt x="4895" y="0"/>
                  <a:pt x="4891" y="1"/>
                  <a:pt x="4887" y="2"/>
                </a:cubicBezTo>
                <a:cubicBezTo>
                  <a:pt x="4711" y="41"/>
                  <a:pt x="4210" y="551"/>
                  <a:pt x="3847" y="915"/>
                </a:cubicBezTo>
                <a:cubicBezTo>
                  <a:pt x="3788" y="895"/>
                  <a:pt x="3729" y="885"/>
                  <a:pt x="3670" y="885"/>
                </a:cubicBezTo>
                <a:cubicBezTo>
                  <a:pt x="3729" y="856"/>
                  <a:pt x="3798" y="836"/>
                  <a:pt x="3867" y="836"/>
                </a:cubicBezTo>
                <a:cubicBezTo>
                  <a:pt x="3769" y="806"/>
                  <a:pt x="3665" y="792"/>
                  <a:pt x="3561" y="792"/>
                </a:cubicBezTo>
                <a:cubicBezTo>
                  <a:pt x="3320" y="792"/>
                  <a:pt x="3074" y="869"/>
                  <a:pt x="2875" y="1013"/>
                </a:cubicBezTo>
                <a:cubicBezTo>
                  <a:pt x="2925" y="954"/>
                  <a:pt x="2973" y="895"/>
                  <a:pt x="3013" y="836"/>
                </a:cubicBezTo>
                <a:lnTo>
                  <a:pt x="3013" y="836"/>
                </a:lnTo>
                <a:cubicBezTo>
                  <a:pt x="2895" y="904"/>
                  <a:pt x="2787" y="1002"/>
                  <a:pt x="2699" y="1111"/>
                </a:cubicBezTo>
                <a:cubicBezTo>
                  <a:pt x="2552" y="934"/>
                  <a:pt x="2365" y="699"/>
                  <a:pt x="2267" y="561"/>
                </a:cubicBezTo>
                <a:cubicBezTo>
                  <a:pt x="2249" y="539"/>
                  <a:pt x="2223" y="529"/>
                  <a:pt x="2198" y="529"/>
                </a:cubicBezTo>
                <a:cubicBezTo>
                  <a:pt x="2167" y="529"/>
                  <a:pt x="2136" y="544"/>
                  <a:pt x="2120" y="571"/>
                </a:cubicBezTo>
                <a:lnTo>
                  <a:pt x="1482" y="2033"/>
                </a:lnTo>
                <a:lnTo>
                  <a:pt x="0" y="3309"/>
                </a:lnTo>
                <a:lnTo>
                  <a:pt x="0" y="3309"/>
                </a:lnTo>
                <a:lnTo>
                  <a:pt x="1560" y="2073"/>
                </a:lnTo>
                <a:lnTo>
                  <a:pt x="2179" y="767"/>
                </a:lnTo>
                <a:cubicBezTo>
                  <a:pt x="2179" y="762"/>
                  <a:pt x="2181" y="760"/>
                  <a:pt x="2184" y="760"/>
                </a:cubicBezTo>
                <a:cubicBezTo>
                  <a:pt x="2186" y="760"/>
                  <a:pt x="2188" y="762"/>
                  <a:pt x="2188" y="767"/>
                </a:cubicBezTo>
                <a:lnTo>
                  <a:pt x="2581" y="1277"/>
                </a:lnTo>
                <a:cubicBezTo>
                  <a:pt x="2571" y="1307"/>
                  <a:pt x="2552" y="1336"/>
                  <a:pt x="2542" y="1356"/>
                </a:cubicBezTo>
                <a:cubicBezTo>
                  <a:pt x="2532" y="1307"/>
                  <a:pt x="2512" y="1258"/>
                  <a:pt x="2502" y="1209"/>
                </a:cubicBezTo>
                <a:cubicBezTo>
                  <a:pt x="2454" y="1277"/>
                  <a:pt x="2443" y="1366"/>
                  <a:pt x="2473" y="1434"/>
                </a:cubicBezTo>
                <a:cubicBezTo>
                  <a:pt x="2493" y="1493"/>
                  <a:pt x="2532" y="1543"/>
                  <a:pt x="2591" y="1562"/>
                </a:cubicBezTo>
                <a:cubicBezTo>
                  <a:pt x="2576" y="1559"/>
                  <a:pt x="2561" y="1558"/>
                  <a:pt x="2546" y="1558"/>
                </a:cubicBezTo>
                <a:cubicBezTo>
                  <a:pt x="2464" y="1558"/>
                  <a:pt x="2384" y="1602"/>
                  <a:pt x="2326" y="1660"/>
                </a:cubicBezTo>
                <a:cubicBezTo>
                  <a:pt x="2257" y="1748"/>
                  <a:pt x="2228" y="1866"/>
                  <a:pt x="2198" y="1974"/>
                </a:cubicBezTo>
                <a:cubicBezTo>
                  <a:pt x="2179" y="2073"/>
                  <a:pt x="2149" y="2180"/>
                  <a:pt x="2129" y="2278"/>
                </a:cubicBezTo>
                <a:lnTo>
                  <a:pt x="2140" y="2278"/>
                </a:lnTo>
                <a:lnTo>
                  <a:pt x="2090" y="2661"/>
                </a:lnTo>
                <a:cubicBezTo>
                  <a:pt x="2090" y="2661"/>
                  <a:pt x="1913" y="2975"/>
                  <a:pt x="1884" y="3034"/>
                </a:cubicBezTo>
                <a:cubicBezTo>
                  <a:pt x="1865" y="3102"/>
                  <a:pt x="1305" y="4506"/>
                  <a:pt x="1305" y="4506"/>
                </a:cubicBezTo>
                <a:lnTo>
                  <a:pt x="1364" y="4506"/>
                </a:lnTo>
                <a:cubicBezTo>
                  <a:pt x="1364" y="4506"/>
                  <a:pt x="1904" y="3142"/>
                  <a:pt x="1933" y="3122"/>
                </a:cubicBezTo>
                <a:cubicBezTo>
                  <a:pt x="1972" y="3102"/>
                  <a:pt x="2198" y="2740"/>
                  <a:pt x="2198" y="2740"/>
                </a:cubicBezTo>
                <a:lnTo>
                  <a:pt x="2345" y="2249"/>
                </a:lnTo>
                <a:cubicBezTo>
                  <a:pt x="2365" y="2249"/>
                  <a:pt x="2395" y="2239"/>
                  <a:pt x="2414" y="2230"/>
                </a:cubicBezTo>
                <a:cubicBezTo>
                  <a:pt x="2512" y="2190"/>
                  <a:pt x="2591" y="2131"/>
                  <a:pt x="2620" y="2033"/>
                </a:cubicBezTo>
                <a:cubicBezTo>
                  <a:pt x="2640" y="1994"/>
                  <a:pt x="2640" y="1945"/>
                  <a:pt x="2669" y="1905"/>
                </a:cubicBezTo>
                <a:cubicBezTo>
                  <a:pt x="2684" y="1877"/>
                  <a:pt x="2718" y="1854"/>
                  <a:pt x="2747" y="1854"/>
                </a:cubicBezTo>
                <a:cubicBezTo>
                  <a:pt x="2758" y="1854"/>
                  <a:pt x="2769" y="1858"/>
                  <a:pt x="2777" y="1866"/>
                </a:cubicBezTo>
                <a:cubicBezTo>
                  <a:pt x="2757" y="2003"/>
                  <a:pt x="2866" y="2131"/>
                  <a:pt x="3003" y="2171"/>
                </a:cubicBezTo>
                <a:cubicBezTo>
                  <a:pt x="3037" y="2181"/>
                  <a:pt x="3071" y="2186"/>
                  <a:pt x="3107" y="2186"/>
                </a:cubicBezTo>
                <a:cubicBezTo>
                  <a:pt x="3205" y="2186"/>
                  <a:pt x="3306" y="2147"/>
                  <a:pt x="3385" y="2082"/>
                </a:cubicBezTo>
                <a:cubicBezTo>
                  <a:pt x="3455" y="2014"/>
                  <a:pt x="3513" y="1935"/>
                  <a:pt x="3553" y="1846"/>
                </a:cubicBezTo>
                <a:cubicBezTo>
                  <a:pt x="3798" y="2141"/>
                  <a:pt x="4151" y="2544"/>
                  <a:pt x="4495" y="2749"/>
                </a:cubicBezTo>
                <a:lnTo>
                  <a:pt x="4681" y="4241"/>
                </a:lnTo>
                <a:lnTo>
                  <a:pt x="4554" y="2788"/>
                </a:lnTo>
                <a:lnTo>
                  <a:pt x="4554" y="2788"/>
                </a:lnTo>
                <a:cubicBezTo>
                  <a:pt x="4622" y="2828"/>
                  <a:pt x="4681" y="2858"/>
                  <a:pt x="4740" y="2877"/>
                </a:cubicBezTo>
                <a:cubicBezTo>
                  <a:pt x="4909" y="2926"/>
                  <a:pt x="5046" y="2946"/>
                  <a:pt x="5160" y="2946"/>
                </a:cubicBezTo>
                <a:cubicBezTo>
                  <a:pt x="5502" y="2946"/>
                  <a:pt x="5633" y="2769"/>
                  <a:pt x="5780" y="2681"/>
                </a:cubicBezTo>
                <a:lnTo>
                  <a:pt x="5869" y="3220"/>
                </a:lnTo>
                <a:lnTo>
                  <a:pt x="6918" y="4673"/>
                </a:lnTo>
                <a:lnTo>
                  <a:pt x="6918" y="4673"/>
                </a:lnTo>
                <a:lnTo>
                  <a:pt x="5947" y="3201"/>
                </a:lnTo>
                <a:lnTo>
                  <a:pt x="5878" y="2631"/>
                </a:lnTo>
                <a:cubicBezTo>
                  <a:pt x="5904" y="2623"/>
                  <a:pt x="5935" y="2618"/>
                  <a:pt x="5968" y="2618"/>
                </a:cubicBezTo>
                <a:cubicBezTo>
                  <a:pt x="6009" y="2618"/>
                  <a:pt x="6055" y="2625"/>
                  <a:pt x="6104" y="2642"/>
                </a:cubicBezTo>
                <a:lnTo>
                  <a:pt x="6124" y="2759"/>
                </a:lnTo>
                <a:lnTo>
                  <a:pt x="7184" y="4437"/>
                </a:lnTo>
                <a:lnTo>
                  <a:pt x="6202" y="2740"/>
                </a:lnTo>
                <a:lnTo>
                  <a:pt x="6202" y="2671"/>
                </a:lnTo>
                <a:cubicBezTo>
                  <a:pt x="6261" y="2701"/>
                  <a:pt x="6320" y="2730"/>
                  <a:pt x="6388" y="2779"/>
                </a:cubicBezTo>
                <a:cubicBezTo>
                  <a:pt x="6401" y="2786"/>
                  <a:pt x="6414" y="2790"/>
                  <a:pt x="6426" y="2790"/>
                </a:cubicBezTo>
                <a:cubicBezTo>
                  <a:pt x="6479" y="2790"/>
                  <a:pt x="6517" y="2729"/>
                  <a:pt x="6477" y="2681"/>
                </a:cubicBezTo>
                <a:cubicBezTo>
                  <a:pt x="6388" y="2563"/>
                  <a:pt x="6281" y="2445"/>
                  <a:pt x="6172" y="2337"/>
                </a:cubicBezTo>
                <a:lnTo>
                  <a:pt x="6133" y="1778"/>
                </a:lnTo>
                <a:lnTo>
                  <a:pt x="6133" y="1778"/>
                </a:lnTo>
                <a:cubicBezTo>
                  <a:pt x="6340" y="1817"/>
                  <a:pt x="6545" y="1866"/>
                  <a:pt x="6761" y="1905"/>
                </a:cubicBezTo>
                <a:cubicBezTo>
                  <a:pt x="6777" y="1908"/>
                  <a:pt x="6793" y="1911"/>
                  <a:pt x="6808" y="1911"/>
                </a:cubicBezTo>
                <a:cubicBezTo>
                  <a:pt x="6843" y="1911"/>
                  <a:pt x="6872" y="1900"/>
                  <a:pt x="6879" y="1866"/>
                </a:cubicBezTo>
                <a:cubicBezTo>
                  <a:pt x="6889" y="1827"/>
                  <a:pt x="6840" y="1798"/>
                  <a:pt x="6800" y="1778"/>
                </a:cubicBezTo>
                <a:cubicBezTo>
                  <a:pt x="6575" y="1689"/>
                  <a:pt x="6340" y="1621"/>
                  <a:pt x="6114" y="1543"/>
                </a:cubicBezTo>
                <a:lnTo>
                  <a:pt x="6084" y="1159"/>
                </a:lnTo>
                <a:cubicBezTo>
                  <a:pt x="6077" y="1109"/>
                  <a:pt x="6038" y="1080"/>
                  <a:pt x="5998" y="1080"/>
                </a:cubicBezTo>
                <a:cubicBezTo>
                  <a:pt x="5984" y="1080"/>
                  <a:pt x="5969" y="1083"/>
                  <a:pt x="5956" y="1091"/>
                </a:cubicBezTo>
                <a:cubicBezTo>
                  <a:pt x="5849" y="1170"/>
                  <a:pt x="5672" y="1277"/>
                  <a:pt x="5515" y="1375"/>
                </a:cubicBezTo>
                <a:cubicBezTo>
                  <a:pt x="5230" y="1307"/>
                  <a:pt x="4936" y="1248"/>
                  <a:pt x="4652" y="1189"/>
                </a:cubicBezTo>
                <a:lnTo>
                  <a:pt x="4966" y="100"/>
                </a:lnTo>
                <a:cubicBezTo>
                  <a:pt x="4984" y="46"/>
                  <a:pt x="4944" y="0"/>
                  <a:pt x="4899" y="0"/>
                </a:cubicBezTo>
                <a:close/>
              </a:path>
            </a:pathLst>
          </a:custGeom>
          <a:solidFill>
            <a:srgbClr val="E0D7D3">
              <a:alpha val="6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96C2DB-1633-D7F5-C78D-8077BD39F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9" y="2878952"/>
            <a:ext cx="11037601" cy="386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42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6371D51-16C9-FC73-E3DC-5ACA8F443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9" y="914400"/>
            <a:ext cx="3453844" cy="1463040"/>
          </a:xfrm>
        </p:spPr>
        <p:txBody>
          <a:bodyPr anchor="t">
            <a:normAutofit/>
          </a:bodyPr>
          <a:lstStyle/>
          <a:p>
            <a:r>
              <a:rPr lang="en-US" dirty="0"/>
              <a:t>Anom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ly heatmap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6C13F61-02D6-BDAB-D82E-7C2C1D69A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2022" y="1014984"/>
            <a:ext cx="6614593" cy="1362456"/>
          </a:xfrm>
        </p:spPr>
        <p:txBody>
          <a:bodyPr anchor="t">
            <a:normAutofit fontScale="62500" lnSpcReduction="20000"/>
          </a:bodyPr>
          <a:lstStyle/>
          <a:p>
            <a:r>
              <a:rPr lang="en-US" b="1" dirty="0"/>
              <a:t>Red zones</a:t>
            </a:r>
            <a:r>
              <a:rPr lang="en-US" dirty="0"/>
              <a:t> indicate weeks with significantly higher-than-normal cases (e.g., outbreaks).</a:t>
            </a:r>
          </a:p>
          <a:p>
            <a:r>
              <a:rPr lang="en-US" b="1" dirty="0"/>
              <a:t>Blue zones</a:t>
            </a:r>
            <a:r>
              <a:rPr lang="en-US" dirty="0"/>
              <a:t> show lower-than-normal activity.</a:t>
            </a:r>
          </a:p>
          <a:p>
            <a:r>
              <a:rPr lang="en-US" dirty="0"/>
              <a:t>Consistent anomalies around </a:t>
            </a:r>
            <a:r>
              <a:rPr lang="en-US" b="1" dirty="0"/>
              <a:t>weeks 21 and 33</a:t>
            </a:r>
            <a:r>
              <a:rPr lang="en-US" dirty="0"/>
              <a:t>, confirming seasonal peaks.</a:t>
            </a:r>
          </a:p>
          <a:p>
            <a:r>
              <a:rPr lang="en-US" dirty="0"/>
              <a:t>Intense red clusters in </a:t>
            </a:r>
            <a:r>
              <a:rPr lang="en-US" b="1" dirty="0"/>
              <a:t>2020 and 2023</a:t>
            </a:r>
            <a:r>
              <a:rPr lang="en-US" dirty="0"/>
              <a:t> align with known outbreak years.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4DF477-3995-6AAB-C7DA-A4DE37471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80" b="6822"/>
          <a:stretch>
            <a:fillRect/>
          </a:stretch>
        </p:blipFill>
        <p:spPr>
          <a:xfrm>
            <a:off x="20" y="2863970"/>
            <a:ext cx="12191980" cy="3994030"/>
          </a:xfrm>
          <a:prstGeom prst="rect">
            <a:avLst/>
          </a:prstGeom>
        </p:spPr>
      </p:pic>
      <p:sp>
        <p:nvSpPr>
          <p:cNvPr id="9" name="Google Shape;265;p30">
            <a:extLst>
              <a:ext uri="{FF2B5EF4-FFF2-40B4-BE49-F238E27FC236}">
                <a16:creationId xmlns:a16="http://schemas.microsoft.com/office/drawing/2014/main" id="{40DA1537-5A45-A78B-0DED-F56A9E67419E}"/>
              </a:ext>
            </a:extLst>
          </p:cNvPr>
          <p:cNvSpPr/>
          <p:nvPr/>
        </p:nvSpPr>
        <p:spPr>
          <a:xfrm>
            <a:off x="2184612" y="677876"/>
            <a:ext cx="727236" cy="473048"/>
          </a:xfrm>
          <a:custGeom>
            <a:avLst/>
            <a:gdLst/>
            <a:ahLst/>
            <a:cxnLst/>
            <a:rect l="l" t="t" r="r" b="b"/>
            <a:pathLst>
              <a:path w="7184" h="4673" extrusionOk="0">
                <a:moveTo>
                  <a:pt x="3808" y="954"/>
                </a:moveTo>
                <a:lnTo>
                  <a:pt x="3769" y="993"/>
                </a:lnTo>
                <a:cubicBezTo>
                  <a:pt x="3749" y="983"/>
                  <a:pt x="3729" y="983"/>
                  <a:pt x="3710" y="973"/>
                </a:cubicBezTo>
                <a:cubicBezTo>
                  <a:pt x="3739" y="963"/>
                  <a:pt x="3769" y="963"/>
                  <a:pt x="3808" y="954"/>
                </a:cubicBezTo>
                <a:close/>
                <a:moveTo>
                  <a:pt x="4809" y="188"/>
                </a:moveTo>
                <a:cubicBezTo>
                  <a:pt x="4818" y="188"/>
                  <a:pt x="4818" y="188"/>
                  <a:pt x="4818" y="198"/>
                </a:cubicBezTo>
                <a:lnTo>
                  <a:pt x="4543" y="1170"/>
                </a:lnTo>
                <a:lnTo>
                  <a:pt x="4338" y="1140"/>
                </a:lnTo>
                <a:cubicBezTo>
                  <a:pt x="4171" y="1111"/>
                  <a:pt x="4004" y="1091"/>
                  <a:pt x="3837" y="1061"/>
                </a:cubicBezTo>
                <a:lnTo>
                  <a:pt x="3856" y="1052"/>
                </a:lnTo>
                <a:cubicBezTo>
                  <a:pt x="3876" y="1052"/>
                  <a:pt x="3886" y="1042"/>
                  <a:pt x="3906" y="1042"/>
                </a:cubicBezTo>
                <a:cubicBezTo>
                  <a:pt x="3896" y="1042"/>
                  <a:pt x="3886" y="1032"/>
                  <a:pt x="3876" y="1032"/>
                </a:cubicBezTo>
                <a:lnTo>
                  <a:pt x="4809" y="188"/>
                </a:lnTo>
                <a:close/>
                <a:moveTo>
                  <a:pt x="5956" y="1307"/>
                </a:moveTo>
                <a:cubicBezTo>
                  <a:pt x="5956" y="1307"/>
                  <a:pt x="5967" y="1307"/>
                  <a:pt x="5967" y="1317"/>
                </a:cubicBezTo>
                <a:lnTo>
                  <a:pt x="5986" y="1503"/>
                </a:lnTo>
                <a:cubicBezTo>
                  <a:pt x="5967" y="1503"/>
                  <a:pt x="5956" y="1503"/>
                  <a:pt x="5947" y="1493"/>
                </a:cubicBezTo>
                <a:cubicBezTo>
                  <a:pt x="5878" y="1474"/>
                  <a:pt x="5819" y="1464"/>
                  <a:pt x="5760" y="1444"/>
                </a:cubicBezTo>
                <a:lnTo>
                  <a:pt x="5956" y="1307"/>
                </a:lnTo>
                <a:close/>
                <a:moveTo>
                  <a:pt x="5456" y="1641"/>
                </a:moveTo>
                <a:cubicBezTo>
                  <a:pt x="5642" y="1680"/>
                  <a:pt x="5829" y="1719"/>
                  <a:pt x="6006" y="1758"/>
                </a:cubicBezTo>
                <a:lnTo>
                  <a:pt x="6065" y="2230"/>
                </a:lnTo>
                <a:cubicBezTo>
                  <a:pt x="5967" y="2141"/>
                  <a:pt x="5869" y="2053"/>
                  <a:pt x="5790" y="1994"/>
                </a:cubicBezTo>
                <a:lnTo>
                  <a:pt x="5760" y="1778"/>
                </a:lnTo>
                <a:cubicBezTo>
                  <a:pt x="5754" y="1738"/>
                  <a:pt x="5724" y="1711"/>
                  <a:pt x="5690" y="1711"/>
                </a:cubicBezTo>
                <a:cubicBezTo>
                  <a:pt x="5674" y="1711"/>
                  <a:pt x="5658" y="1716"/>
                  <a:pt x="5642" y="1729"/>
                </a:cubicBezTo>
                <a:cubicBezTo>
                  <a:pt x="5613" y="1748"/>
                  <a:pt x="5574" y="1778"/>
                  <a:pt x="5525" y="1807"/>
                </a:cubicBezTo>
                <a:cubicBezTo>
                  <a:pt x="5476" y="1778"/>
                  <a:pt x="5417" y="1739"/>
                  <a:pt x="5358" y="1709"/>
                </a:cubicBezTo>
                <a:lnTo>
                  <a:pt x="5456" y="1641"/>
                </a:lnTo>
                <a:close/>
                <a:moveTo>
                  <a:pt x="4899" y="0"/>
                </a:moveTo>
                <a:cubicBezTo>
                  <a:pt x="4895" y="0"/>
                  <a:pt x="4891" y="1"/>
                  <a:pt x="4887" y="2"/>
                </a:cubicBezTo>
                <a:cubicBezTo>
                  <a:pt x="4711" y="41"/>
                  <a:pt x="4210" y="551"/>
                  <a:pt x="3847" y="915"/>
                </a:cubicBezTo>
                <a:cubicBezTo>
                  <a:pt x="3788" y="895"/>
                  <a:pt x="3729" y="885"/>
                  <a:pt x="3670" y="885"/>
                </a:cubicBezTo>
                <a:cubicBezTo>
                  <a:pt x="3729" y="856"/>
                  <a:pt x="3798" y="836"/>
                  <a:pt x="3867" y="836"/>
                </a:cubicBezTo>
                <a:cubicBezTo>
                  <a:pt x="3769" y="806"/>
                  <a:pt x="3665" y="792"/>
                  <a:pt x="3561" y="792"/>
                </a:cubicBezTo>
                <a:cubicBezTo>
                  <a:pt x="3320" y="792"/>
                  <a:pt x="3074" y="869"/>
                  <a:pt x="2875" y="1013"/>
                </a:cubicBezTo>
                <a:cubicBezTo>
                  <a:pt x="2925" y="954"/>
                  <a:pt x="2973" y="895"/>
                  <a:pt x="3013" y="836"/>
                </a:cubicBezTo>
                <a:lnTo>
                  <a:pt x="3013" y="836"/>
                </a:lnTo>
                <a:cubicBezTo>
                  <a:pt x="2895" y="904"/>
                  <a:pt x="2787" y="1002"/>
                  <a:pt x="2699" y="1111"/>
                </a:cubicBezTo>
                <a:cubicBezTo>
                  <a:pt x="2552" y="934"/>
                  <a:pt x="2365" y="699"/>
                  <a:pt x="2267" y="561"/>
                </a:cubicBezTo>
                <a:cubicBezTo>
                  <a:pt x="2249" y="539"/>
                  <a:pt x="2223" y="529"/>
                  <a:pt x="2198" y="529"/>
                </a:cubicBezTo>
                <a:cubicBezTo>
                  <a:pt x="2167" y="529"/>
                  <a:pt x="2136" y="544"/>
                  <a:pt x="2120" y="571"/>
                </a:cubicBezTo>
                <a:lnTo>
                  <a:pt x="1482" y="2033"/>
                </a:lnTo>
                <a:lnTo>
                  <a:pt x="0" y="3309"/>
                </a:lnTo>
                <a:lnTo>
                  <a:pt x="0" y="3309"/>
                </a:lnTo>
                <a:lnTo>
                  <a:pt x="1560" y="2073"/>
                </a:lnTo>
                <a:lnTo>
                  <a:pt x="2179" y="767"/>
                </a:lnTo>
                <a:cubicBezTo>
                  <a:pt x="2179" y="762"/>
                  <a:pt x="2181" y="760"/>
                  <a:pt x="2184" y="760"/>
                </a:cubicBezTo>
                <a:cubicBezTo>
                  <a:pt x="2186" y="760"/>
                  <a:pt x="2188" y="762"/>
                  <a:pt x="2188" y="767"/>
                </a:cubicBezTo>
                <a:lnTo>
                  <a:pt x="2581" y="1277"/>
                </a:lnTo>
                <a:cubicBezTo>
                  <a:pt x="2571" y="1307"/>
                  <a:pt x="2552" y="1336"/>
                  <a:pt x="2542" y="1356"/>
                </a:cubicBezTo>
                <a:cubicBezTo>
                  <a:pt x="2532" y="1307"/>
                  <a:pt x="2512" y="1258"/>
                  <a:pt x="2502" y="1209"/>
                </a:cubicBezTo>
                <a:cubicBezTo>
                  <a:pt x="2454" y="1277"/>
                  <a:pt x="2443" y="1366"/>
                  <a:pt x="2473" y="1434"/>
                </a:cubicBezTo>
                <a:cubicBezTo>
                  <a:pt x="2493" y="1493"/>
                  <a:pt x="2532" y="1543"/>
                  <a:pt x="2591" y="1562"/>
                </a:cubicBezTo>
                <a:cubicBezTo>
                  <a:pt x="2576" y="1559"/>
                  <a:pt x="2561" y="1558"/>
                  <a:pt x="2546" y="1558"/>
                </a:cubicBezTo>
                <a:cubicBezTo>
                  <a:pt x="2464" y="1558"/>
                  <a:pt x="2384" y="1602"/>
                  <a:pt x="2326" y="1660"/>
                </a:cubicBezTo>
                <a:cubicBezTo>
                  <a:pt x="2257" y="1748"/>
                  <a:pt x="2228" y="1866"/>
                  <a:pt x="2198" y="1974"/>
                </a:cubicBezTo>
                <a:cubicBezTo>
                  <a:pt x="2179" y="2073"/>
                  <a:pt x="2149" y="2180"/>
                  <a:pt x="2129" y="2278"/>
                </a:cubicBezTo>
                <a:lnTo>
                  <a:pt x="2140" y="2278"/>
                </a:lnTo>
                <a:lnTo>
                  <a:pt x="2090" y="2661"/>
                </a:lnTo>
                <a:cubicBezTo>
                  <a:pt x="2090" y="2661"/>
                  <a:pt x="1913" y="2975"/>
                  <a:pt x="1884" y="3034"/>
                </a:cubicBezTo>
                <a:cubicBezTo>
                  <a:pt x="1865" y="3102"/>
                  <a:pt x="1305" y="4506"/>
                  <a:pt x="1305" y="4506"/>
                </a:cubicBezTo>
                <a:lnTo>
                  <a:pt x="1364" y="4506"/>
                </a:lnTo>
                <a:cubicBezTo>
                  <a:pt x="1364" y="4506"/>
                  <a:pt x="1904" y="3142"/>
                  <a:pt x="1933" y="3122"/>
                </a:cubicBezTo>
                <a:cubicBezTo>
                  <a:pt x="1972" y="3102"/>
                  <a:pt x="2198" y="2740"/>
                  <a:pt x="2198" y="2740"/>
                </a:cubicBezTo>
                <a:lnTo>
                  <a:pt x="2345" y="2249"/>
                </a:lnTo>
                <a:cubicBezTo>
                  <a:pt x="2365" y="2249"/>
                  <a:pt x="2395" y="2239"/>
                  <a:pt x="2414" y="2230"/>
                </a:cubicBezTo>
                <a:cubicBezTo>
                  <a:pt x="2512" y="2190"/>
                  <a:pt x="2591" y="2131"/>
                  <a:pt x="2620" y="2033"/>
                </a:cubicBezTo>
                <a:cubicBezTo>
                  <a:pt x="2640" y="1994"/>
                  <a:pt x="2640" y="1945"/>
                  <a:pt x="2669" y="1905"/>
                </a:cubicBezTo>
                <a:cubicBezTo>
                  <a:pt x="2684" y="1877"/>
                  <a:pt x="2718" y="1854"/>
                  <a:pt x="2747" y="1854"/>
                </a:cubicBezTo>
                <a:cubicBezTo>
                  <a:pt x="2758" y="1854"/>
                  <a:pt x="2769" y="1858"/>
                  <a:pt x="2777" y="1866"/>
                </a:cubicBezTo>
                <a:cubicBezTo>
                  <a:pt x="2757" y="2003"/>
                  <a:pt x="2866" y="2131"/>
                  <a:pt x="3003" y="2171"/>
                </a:cubicBezTo>
                <a:cubicBezTo>
                  <a:pt x="3037" y="2181"/>
                  <a:pt x="3071" y="2186"/>
                  <a:pt x="3107" y="2186"/>
                </a:cubicBezTo>
                <a:cubicBezTo>
                  <a:pt x="3205" y="2186"/>
                  <a:pt x="3306" y="2147"/>
                  <a:pt x="3385" y="2082"/>
                </a:cubicBezTo>
                <a:cubicBezTo>
                  <a:pt x="3455" y="2014"/>
                  <a:pt x="3513" y="1935"/>
                  <a:pt x="3553" y="1846"/>
                </a:cubicBezTo>
                <a:cubicBezTo>
                  <a:pt x="3798" y="2141"/>
                  <a:pt x="4151" y="2544"/>
                  <a:pt x="4495" y="2749"/>
                </a:cubicBezTo>
                <a:lnTo>
                  <a:pt x="4681" y="4241"/>
                </a:lnTo>
                <a:lnTo>
                  <a:pt x="4554" y="2788"/>
                </a:lnTo>
                <a:lnTo>
                  <a:pt x="4554" y="2788"/>
                </a:lnTo>
                <a:cubicBezTo>
                  <a:pt x="4622" y="2828"/>
                  <a:pt x="4681" y="2858"/>
                  <a:pt x="4740" y="2877"/>
                </a:cubicBezTo>
                <a:cubicBezTo>
                  <a:pt x="4909" y="2926"/>
                  <a:pt x="5046" y="2946"/>
                  <a:pt x="5160" y="2946"/>
                </a:cubicBezTo>
                <a:cubicBezTo>
                  <a:pt x="5502" y="2946"/>
                  <a:pt x="5633" y="2769"/>
                  <a:pt x="5780" y="2681"/>
                </a:cubicBezTo>
                <a:lnTo>
                  <a:pt x="5869" y="3220"/>
                </a:lnTo>
                <a:lnTo>
                  <a:pt x="6918" y="4673"/>
                </a:lnTo>
                <a:lnTo>
                  <a:pt x="6918" y="4673"/>
                </a:lnTo>
                <a:lnTo>
                  <a:pt x="5947" y="3201"/>
                </a:lnTo>
                <a:lnTo>
                  <a:pt x="5878" y="2631"/>
                </a:lnTo>
                <a:cubicBezTo>
                  <a:pt x="5904" y="2623"/>
                  <a:pt x="5935" y="2618"/>
                  <a:pt x="5968" y="2618"/>
                </a:cubicBezTo>
                <a:cubicBezTo>
                  <a:pt x="6009" y="2618"/>
                  <a:pt x="6055" y="2625"/>
                  <a:pt x="6104" y="2642"/>
                </a:cubicBezTo>
                <a:lnTo>
                  <a:pt x="6124" y="2759"/>
                </a:lnTo>
                <a:lnTo>
                  <a:pt x="7184" y="4437"/>
                </a:lnTo>
                <a:lnTo>
                  <a:pt x="6202" y="2740"/>
                </a:lnTo>
                <a:lnTo>
                  <a:pt x="6202" y="2671"/>
                </a:lnTo>
                <a:cubicBezTo>
                  <a:pt x="6261" y="2701"/>
                  <a:pt x="6320" y="2730"/>
                  <a:pt x="6388" y="2779"/>
                </a:cubicBezTo>
                <a:cubicBezTo>
                  <a:pt x="6401" y="2786"/>
                  <a:pt x="6414" y="2790"/>
                  <a:pt x="6426" y="2790"/>
                </a:cubicBezTo>
                <a:cubicBezTo>
                  <a:pt x="6479" y="2790"/>
                  <a:pt x="6517" y="2729"/>
                  <a:pt x="6477" y="2681"/>
                </a:cubicBezTo>
                <a:cubicBezTo>
                  <a:pt x="6388" y="2563"/>
                  <a:pt x="6281" y="2445"/>
                  <a:pt x="6172" y="2337"/>
                </a:cubicBezTo>
                <a:lnTo>
                  <a:pt x="6133" y="1778"/>
                </a:lnTo>
                <a:lnTo>
                  <a:pt x="6133" y="1778"/>
                </a:lnTo>
                <a:cubicBezTo>
                  <a:pt x="6340" y="1817"/>
                  <a:pt x="6545" y="1866"/>
                  <a:pt x="6761" y="1905"/>
                </a:cubicBezTo>
                <a:cubicBezTo>
                  <a:pt x="6777" y="1908"/>
                  <a:pt x="6793" y="1911"/>
                  <a:pt x="6808" y="1911"/>
                </a:cubicBezTo>
                <a:cubicBezTo>
                  <a:pt x="6843" y="1911"/>
                  <a:pt x="6872" y="1900"/>
                  <a:pt x="6879" y="1866"/>
                </a:cubicBezTo>
                <a:cubicBezTo>
                  <a:pt x="6889" y="1827"/>
                  <a:pt x="6840" y="1798"/>
                  <a:pt x="6800" y="1778"/>
                </a:cubicBezTo>
                <a:cubicBezTo>
                  <a:pt x="6575" y="1689"/>
                  <a:pt x="6340" y="1621"/>
                  <a:pt x="6114" y="1543"/>
                </a:cubicBezTo>
                <a:lnTo>
                  <a:pt x="6084" y="1159"/>
                </a:lnTo>
                <a:cubicBezTo>
                  <a:pt x="6077" y="1109"/>
                  <a:pt x="6038" y="1080"/>
                  <a:pt x="5998" y="1080"/>
                </a:cubicBezTo>
                <a:cubicBezTo>
                  <a:pt x="5984" y="1080"/>
                  <a:pt x="5969" y="1083"/>
                  <a:pt x="5956" y="1091"/>
                </a:cubicBezTo>
                <a:cubicBezTo>
                  <a:pt x="5849" y="1170"/>
                  <a:pt x="5672" y="1277"/>
                  <a:pt x="5515" y="1375"/>
                </a:cubicBezTo>
                <a:cubicBezTo>
                  <a:pt x="5230" y="1307"/>
                  <a:pt x="4936" y="1248"/>
                  <a:pt x="4652" y="1189"/>
                </a:cubicBezTo>
                <a:lnTo>
                  <a:pt x="4966" y="100"/>
                </a:lnTo>
                <a:cubicBezTo>
                  <a:pt x="4984" y="46"/>
                  <a:pt x="4944" y="0"/>
                  <a:pt x="4899" y="0"/>
                </a:cubicBezTo>
                <a:close/>
              </a:path>
            </a:pathLst>
          </a:custGeom>
          <a:solidFill>
            <a:srgbClr val="E0D7D3">
              <a:alpha val="6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9513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CAB1A26-441C-9192-20A4-AF6CB7701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F7F45B-17F9-5CA0-D840-A2206BBFF7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953953"/>
            <a:ext cx="6172200" cy="302311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71EE25-F340-F2AB-08D9-5A8976B5A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Lagged weather effects are key</a:t>
            </a:r>
            <a:r>
              <a:rPr lang="en-US" dirty="0"/>
              <a:t>: Malaria cases correlate more strongly with weather conditions from 4–5 weeks earlier than with current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Rainfall, humidity, and soil moisture</a:t>
            </a:r>
            <a:r>
              <a:rPr lang="en-US" dirty="0"/>
              <a:t> show positive correlations at 4–5 week lags, supporting their role in mosquito breeding and transmission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Temperature and wind speed</a:t>
            </a:r>
            <a:r>
              <a:rPr lang="en-US" dirty="0"/>
              <a:t> show negative correlations at similar lags, suggesting cooler, calmer conditions may favor malaria spread.</a:t>
            </a:r>
          </a:p>
          <a:p>
            <a:endParaRPr lang="en-US" dirty="0"/>
          </a:p>
        </p:txBody>
      </p:sp>
      <p:sp>
        <p:nvSpPr>
          <p:cNvPr id="8" name="Google Shape;265;p30">
            <a:extLst>
              <a:ext uri="{FF2B5EF4-FFF2-40B4-BE49-F238E27FC236}">
                <a16:creationId xmlns:a16="http://schemas.microsoft.com/office/drawing/2014/main" id="{5511DA2C-7FBE-3EA9-A0BF-CDCA9A7CFA0C}"/>
              </a:ext>
            </a:extLst>
          </p:cNvPr>
          <p:cNvSpPr/>
          <p:nvPr/>
        </p:nvSpPr>
        <p:spPr>
          <a:xfrm>
            <a:off x="2102316" y="1115568"/>
            <a:ext cx="727236" cy="473048"/>
          </a:xfrm>
          <a:custGeom>
            <a:avLst/>
            <a:gdLst/>
            <a:ahLst/>
            <a:cxnLst/>
            <a:rect l="l" t="t" r="r" b="b"/>
            <a:pathLst>
              <a:path w="7184" h="4673" extrusionOk="0">
                <a:moveTo>
                  <a:pt x="3808" y="954"/>
                </a:moveTo>
                <a:lnTo>
                  <a:pt x="3769" y="993"/>
                </a:lnTo>
                <a:cubicBezTo>
                  <a:pt x="3749" y="983"/>
                  <a:pt x="3729" y="983"/>
                  <a:pt x="3710" y="973"/>
                </a:cubicBezTo>
                <a:cubicBezTo>
                  <a:pt x="3739" y="963"/>
                  <a:pt x="3769" y="963"/>
                  <a:pt x="3808" y="954"/>
                </a:cubicBezTo>
                <a:close/>
                <a:moveTo>
                  <a:pt x="4809" y="188"/>
                </a:moveTo>
                <a:cubicBezTo>
                  <a:pt x="4818" y="188"/>
                  <a:pt x="4818" y="188"/>
                  <a:pt x="4818" y="198"/>
                </a:cubicBezTo>
                <a:lnTo>
                  <a:pt x="4543" y="1170"/>
                </a:lnTo>
                <a:lnTo>
                  <a:pt x="4338" y="1140"/>
                </a:lnTo>
                <a:cubicBezTo>
                  <a:pt x="4171" y="1111"/>
                  <a:pt x="4004" y="1091"/>
                  <a:pt x="3837" y="1061"/>
                </a:cubicBezTo>
                <a:lnTo>
                  <a:pt x="3856" y="1052"/>
                </a:lnTo>
                <a:cubicBezTo>
                  <a:pt x="3876" y="1052"/>
                  <a:pt x="3886" y="1042"/>
                  <a:pt x="3906" y="1042"/>
                </a:cubicBezTo>
                <a:cubicBezTo>
                  <a:pt x="3896" y="1042"/>
                  <a:pt x="3886" y="1032"/>
                  <a:pt x="3876" y="1032"/>
                </a:cubicBezTo>
                <a:lnTo>
                  <a:pt x="4809" y="188"/>
                </a:lnTo>
                <a:close/>
                <a:moveTo>
                  <a:pt x="5956" y="1307"/>
                </a:moveTo>
                <a:cubicBezTo>
                  <a:pt x="5956" y="1307"/>
                  <a:pt x="5967" y="1307"/>
                  <a:pt x="5967" y="1317"/>
                </a:cubicBezTo>
                <a:lnTo>
                  <a:pt x="5986" y="1503"/>
                </a:lnTo>
                <a:cubicBezTo>
                  <a:pt x="5967" y="1503"/>
                  <a:pt x="5956" y="1503"/>
                  <a:pt x="5947" y="1493"/>
                </a:cubicBezTo>
                <a:cubicBezTo>
                  <a:pt x="5878" y="1474"/>
                  <a:pt x="5819" y="1464"/>
                  <a:pt x="5760" y="1444"/>
                </a:cubicBezTo>
                <a:lnTo>
                  <a:pt x="5956" y="1307"/>
                </a:lnTo>
                <a:close/>
                <a:moveTo>
                  <a:pt x="5456" y="1641"/>
                </a:moveTo>
                <a:cubicBezTo>
                  <a:pt x="5642" y="1680"/>
                  <a:pt x="5829" y="1719"/>
                  <a:pt x="6006" y="1758"/>
                </a:cubicBezTo>
                <a:lnTo>
                  <a:pt x="6065" y="2230"/>
                </a:lnTo>
                <a:cubicBezTo>
                  <a:pt x="5967" y="2141"/>
                  <a:pt x="5869" y="2053"/>
                  <a:pt x="5790" y="1994"/>
                </a:cubicBezTo>
                <a:lnTo>
                  <a:pt x="5760" y="1778"/>
                </a:lnTo>
                <a:cubicBezTo>
                  <a:pt x="5754" y="1738"/>
                  <a:pt x="5724" y="1711"/>
                  <a:pt x="5690" y="1711"/>
                </a:cubicBezTo>
                <a:cubicBezTo>
                  <a:pt x="5674" y="1711"/>
                  <a:pt x="5658" y="1716"/>
                  <a:pt x="5642" y="1729"/>
                </a:cubicBezTo>
                <a:cubicBezTo>
                  <a:pt x="5613" y="1748"/>
                  <a:pt x="5574" y="1778"/>
                  <a:pt x="5525" y="1807"/>
                </a:cubicBezTo>
                <a:cubicBezTo>
                  <a:pt x="5476" y="1778"/>
                  <a:pt x="5417" y="1739"/>
                  <a:pt x="5358" y="1709"/>
                </a:cubicBezTo>
                <a:lnTo>
                  <a:pt x="5456" y="1641"/>
                </a:lnTo>
                <a:close/>
                <a:moveTo>
                  <a:pt x="4899" y="0"/>
                </a:moveTo>
                <a:cubicBezTo>
                  <a:pt x="4895" y="0"/>
                  <a:pt x="4891" y="1"/>
                  <a:pt x="4887" y="2"/>
                </a:cubicBezTo>
                <a:cubicBezTo>
                  <a:pt x="4711" y="41"/>
                  <a:pt x="4210" y="551"/>
                  <a:pt x="3847" y="915"/>
                </a:cubicBezTo>
                <a:cubicBezTo>
                  <a:pt x="3788" y="895"/>
                  <a:pt x="3729" y="885"/>
                  <a:pt x="3670" y="885"/>
                </a:cubicBezTo>
                <a:cubicBezTo>
                  <a:pt x="3729" y="856"/>
                  <a:pt x="3798" y="836"/>
                  <a:pt x="3867" y="836"/>
                </a:cubicBezTo>
                <a:cubicBezTo>
                  <a:pt x="3769" y="806"/>
                  <a:pt x="3665" y="792"/>
                  <a:pt x="3561" y="792"/>
                </a:cubicBezTo>
                <a:cubicBezTo>
                  <a:pt x="3320" y="792"/>
                  <a:pt x="3074" y="869"/>
                  <a:pt x="2875" y="1013"/>
                </a:cubicBezTo>
                <a:cubicBezTo>
                  <a:pt x="2925" y="954"/>
                  <a:pt x="2973" y="895"/>
                  <a:pt x="3013" y="836"/>
                </a:cubicBezTo>
                <a:lnTo>
                  <a:pt x="3013" y="836"/>
                </a:lnTo>
                <a:cubicBezTo>
                  <a:pt x="2895" y="904"/>
                  <a:pt x="2787" y="1002"/>
                  <a:pt x="2699" y="1111"/>
                </a:cubicBezTo>
                <a:cubicBezTo>
                  <a:pt x="2552" y="934"/>
                  <a:pt x="2365" y="699"/>
                  <a:pt x="2267" y="561"/>
                </a:cubicBezTo>
                <a:cubicBezTo>
                  <a:pt x="2249" y="539"/>
                  <a:pt x="2223" y="529"/>
                  <a:pt x="2198" y="529"/>
                </a:cubicBezTo>
                <a:cubicBezTo>
                  <a:pt x="2167" y="529"/>
                  <a:pt x="2136" y="544"/>
                  <a:pt x="2120" y="571"/>
                </a:cubicBezTo>
                <a:lnTo>
                  <a:pt x="1482" y="2033"/>
                </a:lnTo>
                <a:lnTo>
                  <a:pt x="0" y="3309"/>
                </a:lnTo>
                <a:lnTo>
                  <a:pt x="0" y="3309"/>
                </a:lnTo>
                <a:lnTo>
                  <a:pt x="1560" y="2073"/>
                </a:lnTo>
                <a:lnTo>
                  <a:pt x="2179" y="767"/>
                </a:lnTo>
                <a:cubicBezTo>
                  <a:pt x="2179" y="762"/>
                  <a:pt x="2181" y="760"/>
                  <a:pt x="2184" y="760"/>
                </a:cubicBezTo>
                <a:cubicBezTo>
                  <a:pt x="2186" y="760"/>
                  <a:pt x="2188" y="762"/>
                  <a:pt x="2188" y="767"/>
                </a:cubicBezTo>
                <a:lnTo>
                  <a:pt x="2581" y="1277"/>
                </a:lnTo>
                <a:cubicBezTo>
                  <a:pt x="2571" y="1307"/>
                  <a:pt x="2552" y="1336"/>
                  <a:pt x="2542" y="1356"/>
                </a:cubicBezTo>
                <a:cubicBezTo>
                  <a:pt x="2532" y="1307"/>
                  <a:pt x="2512" y="1258"/>
                  <a:pt x="2502" y="1209"/>
                </a:cubicBezTo>
                <a:cubicBezTo>
                  <a:pt x="2454" y="1277"/>
                  <a:pt x="2443" y="1366"/>
                  <a:pt x="2473" y="1434"/>
                </a:cubicBezTo>
                <a:cubicBezTo>
                  <a:pt x="2493" y="1493"/>
                  <a:pt x="2532" y="1543"/>
                  <a:pt x="2591" y="1562"/>
                </a:cubicBezTo>
                <a:cubicBezTo>
                  <a:pt x="2576" y="1559"/>
                  <a:pt x="2561" y="1558"/>
                  <a:pt x="2546" y="1558"/>
                </a:cubicBezTo>
                <a:cubicBezTo>
                  <a:pt x="2464" y="1558"/>
                  <a:pt x="2384" y="1602"/>
                  <a:pt x="2326" y="1660"/>
                </a:cubicBezTo>
                <a:cubicBezTo>
                  <a:pt x="2257" y="1748"/>
                  <a:pt x="2228" y="1866"/>
                  <a:pt x="2198" y="1974"/>
                </a:cubicBezTo>
                <a:cubicBezTo>
                  <a:pt x="2179" y="2073"/>
                  <a:pt x="2149" y="2180"/>
                  <a:pt x="2129" y="2278"/>
                </a:cubicBezTo>
                <a:lnTo>
                  <a:pt x="2140" y="2278"/>
                </a:lnTo>
                <a:lnTo>
                  <a:pt x="2090" y="2661"/>
                </a:lnTo>
                <a:cubicBezTo>
                  <a:pt x="2090" y="2661"/>
                  <a:pt x="1913" y="2975"/>
                  <a:pt x="1884" y="3034"/>
                </a:cubicBezTo>
                <a:cubicBezTo>
                  <a:pt x="1865" y="3102"/>
                  <a:pt x="1305" y="4506"/>
                  <a:pt x="1305" y="4506"/>
                </a:cubicBezTo>
                <a:lnTo>
                  <a:pt x="1364" y="4506"/>
                </a:lnTo>
                <a:cubicBezTo>
                  <a:pt x="1364" y="4506"/>
                  <a:pt x="1904" y="3142"/>
                  <a:pt x="1933" y="3122"/>
                </a:cubicBezTo>
                <a:cubicBezTo>
                  <a:pt x="1972" y="3102"/>
                  <a:pt x="2198" y="2740"/>
                  <a:pt x="2198" y="2740"/>
                </a:cubicBezTo>
                <a:lnTo>
                  <a:pt x="2345" y="2249"/>
                </a:lnTo>
                <a:cubicBezTo>
                  <a:pt x="2365" y="2249"/>
                  <a:pt x="2395" y="2239"/>
                  <a:pt x="2414" y="2230"/>
                </a:cubicBezTo>
                <a:cubicBezTo>
                  <a:pt x="2512" y="2190"/>
                  <a:pt x="2591" y="2131"/>
                  <a:pt x="2620" y="2033"/>
                </a:cubicBezTo>
                <a:cubicBezTo>
                  <a:pt x="2640" y="1994"/>
                  <a:pt x="2640" y="1945"/>
                  <a:pt x="2669" y="1905"/>
                </a:cubicBezTo>
                <a:cubicBezTo>
                  <a:pt x="2684" y="1877"/>
                  <a:pt x="2718" y="1854"/>
                  <a:pt x="2747" y="1854"/>
                </a:cubicBezTo>
                <a:cubicBezTo>
                  <a:pt x="2758" y="1854"/>
                  <a:pt x="2769" y="1858"/>
                  <a:pt x="2777" y="1866"/>
                </a:cubicBezTo>
                <a:cubicBezTo>
                  <a:pt x="2757" y="2003"/>
                  <a:pt x="2866" y="2131"/>
                  <a:pt x="3003" y="2171"/>
                </a:cubicBezTo>
                <a:cubicBezTo>
                  <a:pt x="3037" y="2181"/>
                  <a:pt x="3071" y="2186"/>
                  <a:pt x="3107" y="2186"/>
                </a:cubicBezTo>
                <a:cubicBezTo>
                  <a:pt x="3205" y="2186"/>
                  <a:pt x="3306" y="2147"/>
                  <a:pt x="3385" y="2082"/>
                </a:cubicBezTo>
                <a:cubicBezTo>
                  <a:pt x="3455" y="2014"/>
                  <a:pt x="3513" y="1935"/>
                  <a:pt x="3553" y="1846"/>
                </a:cubicBezTo>
                <a:cubicBezTo>
                  <a:pt x="3798" y="2141"/>
                  <a:pt x="4151" y="2544"/>
                  <a:pt x="4495" y="2749"/>
                </a:cubicBezTo>
                <a:lnTo>
                  <a:pt x="4681" y="4241"/>
                </a:lnTo>
                <a:lnTo>
                  <a:pt x="4554" y="2788"/>
                </a:lnTo>
                <a:lnTo>
                  <a:pt x="4554" y="2788"/>
                </a:lnTo>
                <a:cubicBezTo>
                  <a:pt x="4622" y="2828"/>
                  <a:pt x="4681" y="2858"/>
                  <a:pt x="4740" y="2877"/>
                </a:cubicBezTo>
                <a:cubicBezTo>
                  <a:pt x="4909" y="2926"/>
                  <a:pt x="5046" y="2946"/>
                  <a:pt x="5160" y="2946"/>
                </a:cubicBezTo>
                <a:cubicBezTo>
                  <a:pt x="5502" y="2946"/>
                  <a:pt x="5633" y="2769"/>
                  <a:pt x="5780" y="2681"/>
                </a:cubicBezTo>
                <a:lnTo>
                  <a:pt x="5869" y="3220"/>
                </a:lnTo>
                <a:lnTo>
                  <a:pt x="6918" y="4673"/>
                </a:lnTo>
                <a:lnTo>
                  <a:pt x="6918" y="4673"/>
                </a:lnTo>
                <a:lnTo>
                  <a:pt x="5947" y="3201"/>
                </a:lnTo>
                <a:lnTo>
                  <a:pt x="5878" y="2631"/>
                </a:lnTo>
                <a:cubicBezTo>
                  <a:pt x="5904" y="2623"/>
                  <a:pt x="5935" y="2618"/>
                  <a:pt x="5968" y="2618"/>
                </a:cubicBezTo>
                <a:cubicBezTo>
                  <a:pt x="6009" y="2618"/>
                  <a:pt x="6055" y="2625"/>
                  <a:pt x="6104" y="2642"/>
                </a:cubicBezTo>
                <a:lnTo>
                  <a:pt x="6124" y="2759"/>
                </a:lnTo>
                <a:lnTo>
                  <a:pt x="7184" y="4437"/>
                </a:lnTo>
                <a:lnTo>
                  <a:pt x="6202" y="2740"/>
                </a:lnTo>
                <a:lnTo>
                  <a:pt x="6202" y="2671"/>
                </a:lnTo>
                <a:cubicBezTo>
                  <a:pt x="6261" y="2701"/>
                  <a:pt x="6320" y="2730"/>
                  <a:pt x="6388" y="2779"/>
                </a:cubicBezTo>
                <a:cubicBezTo>
                  <a:pt x="6401" y="2786"/>
                  <a:pt x="6414" y="2790"/>
                  <a:pt x="6426" y="2790"/>
                </a:cubicBezTo>
                <a:cubicBezTo>
                  <a:pt x="6479" y="2790"/>
                  <a:pt x="6517" y="2729"/>
                  <a:pt x="6477" y="2681"/>
                </a:cubicBezTo>
                <a:cubicBezTo>
                  <a:pt x="6388" y="2563"/>
                  <a:pt x="6281" y="2445"/>
                  <a:pt x="6172" y="2337"/>
                </a:cubicBezTo>
                <a:lnTo>
                  <a:pt x="6133" y="1778"/>
                </a:lnTo>
                <a:lnTo>
                  <a:pt x="6133" y="1778"/>
                </a:lnTo>
                <a:cubicBezTo>
                  <a:pt x="6340" y="1817"/>
                  <a:pt x="6545" y="1866"/>
                  <a:pt x="6761" y="1905"/>
                </a:cubicBezTo>
                <a:cubicBezTo>
                  <a:pt x="6777" y="1908"/>
                  <a:pt x="6793" y="1911"/>
                  <a:pt x="6808" y="1911"/>
                </a:cubicBezTo>
                <a:cubicBezTo>
                  <a:pt x="6843" y="1911"/>
                  <a:pt x="6872" y="1900"/>
                  <a:pt x="6879" y="1866"/>
                </a:cubicBezTo>
                <a:cubicBezTo>
                  <a:pt x="6889" y="1827"/>
                  <a:pt x="6840" y="1798"/>
                  <a:pt x="6800" y="1778"/>
                </a:cubicBezTo>
                <a:cubicBezTo>
                  <a:pt x="6575" y="1689"/>
                  <a:pt x="6340" y="1621"/>
                  <a:pt x="6114" y="1543"/>
                </a:cubicBezTo>
                <a:lnTo>
                  <a:pt x="6084" y="1159"/>
                </a:lnTo>
                <a:cubicBezTo>
                  <a:pt x="6077" y="1109"/>
                  <a:pt x="6038" y="1080"/>
                  <a:pt x="5998" y="1080"/>
                </a:cubicBezTo>
                <a:cubicBezTo>
                  <a:pt x="5984" y="1080"/>
                  <a:pt x="5969" y="1083"/>
                  <a:pt x="5956" y="1091"/>
                </a:cubicBezTo>
                <a:cubicBezTo>
                  <a:pt x="5849" y="1170"/>
                  <a:pt x="5672" y="1277"/>
                  <a:pt x="5515" y="1375"/>
                </a:cubicBezTo>
                <a:cubicBezTo>
                  <a:pt x="5230" y="1307"/>
                  <a:pt x="4936" y="1248"/>
                  <a:pt x="4652" y="1189"/>
                </a:cubicBezTo>
                <a:lnTo>
                  <a:pt x="4966" y="100"/>
                </a:lnTo>
                <a:cubicBezTo>
                  <a:pt x="4984" y="46"/>
                  <a:pt x="4944" y="0"/>
                  <a:pt x="4899" y="0"/>
                </a:cubicBezTo>
                <a:close/>
              </a:path>
            </a:pathLst>
          </a:custGeom>
          <a:solidFill>
            <a:srgbClr val="E0D7D3">
              <a:alpha val="6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A9D27F-3FC1-E883-09F2-03BA77AA9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8" y="1834435"/>
            <a:ext cx="6263640" cy="403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4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651C56E-B03B-288F-7445-9088998EC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719441"/>
            <a:ext cx="10689336" cy="798451"/>
          </a:xfrm>
        </p:spPr>
        <p:txBody>
          <a:bodyPr/>
          <a:lstStyle/>
          <a:p>
            <a:r>
              <a:rPr lang="en-US" dirty="0"/>
              <a:t>Autocorrel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tion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ACF0181-3D5E-6B9D-AE3E-210F6C503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1279270"/>
          </a:xfrm>
        </p:spPr>
        <p:txBody>
          <a:bodyPr>
            <a:no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Strong short-term dependence</a:t>
            </a:r>
            <a:r>
              <a:rPr lang="en-US" sz="1100" b="0" dirty="0"/>
              <a:t>: Malaria cases show high autocorrelation at lags 1–4 weeks, especially at lag 1 (r ≈ 0.89), indicating persistence in weekly transmission.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Annual seasonality detected</a:t>
            </a:r>
            <a:r>
              <a:rPr lang="en-US" sz="1100" b="0" dirty="0"/>
              <a:t>: A significant peak at lag 52 confirms yearly cycles, likely driven by seasonal weather patterns.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Mid-year dip pattern</a:t>
            </a:r>
            <a:r>
              <a:rPr lang="en-US" sz="1100" b="0" dirty="0"/>
              <a:t>: Negative autocorrelations around lag 22 suggest a temporary decline in cases before seasonal peaks resume.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8B71EC-19DA-4F79-025A-FE997DB32A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4850" y="3357756"/>
            <a:ext cx="5211763" cy="1690301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01AE2C02-6114-C19C-2DBE-74EA435703B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181725" y="1602467"/>
            <a:ext cx="5306187" cy="1586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Strong short-term autoregression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Dominated by a large spike at lag 1 (≈0.89) and notable spikes at lags 2, 6, and 7.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direct seasonal AR effect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Most coefficients beyond lag 8 fall within the 95% confidence band; weak signals near lags 45–47.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implication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Suggests a low-order autoregressive component, suitable for models like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ARIMA with p ≈ 1–2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7271D8C-9DA5-3C7E-45CA-D2AD31ADB48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181725" y="3357756"/>
            <a:ext cx="5211763" cy="1690301"/>
          </a:xfrm>
          <a:prstGeom prst="rect">
            <a:avLst/>
          </a:prstGeom>
        </p:spPr>
      </p:pic>
      <p:sp>
        <p:nvSpPr>
          <p:cNvPr id="14" name="Google Shape;265;p30">
            <a:extLst>
              <a:ext uri="{FF2B5EF4-FFF2-40B4-BE49-F238E27FC236}">
                <a16:creationId xmlns:a16="http://schemas.microsoft.com/office/drawing/2014/main" id="{53E21F52-D19C-D8A4-4102-CB6EA04F8156}"/>
              </a:ext>
            </a:extLst>
          </p:cNvPr>
          <p:cNvSpPr/>
          <p:nvPr/>
        </p:nvSpPr>
        <p:spPr>
          <a:xfrm>
            <a:off x="3638508" y="482917"/>
            <a:ext cx="727236" cy="473048"/>
          </a:xfrm>
          <a:custGeom>
            <a:avLst/>
            <a:gdLst/>
            <a:ahLst/>
            <a:cxnLst/>
            <a:rect l="l" t="t" r="r" b="b"/>
            <a:pathLst>
              <a:path w="7184" h="4673" extrusionOk="0">
                <a:moveTo>
                  <a:pt x="3808" y="954"/>
                </a:moveTo>
                <a:lnTo>
                  <a:pt x="3769" y="993"/>
                </a:lnTo>
                <a:cubicBezTo>
                  <a:pt x="3749" y="983"/>
                  <a:pt x="3729" y="983"/>
                  <a:pt x="3710" y="973"/>
                </a:cubicBezTo>
                <a:cubicBezTo>
                  <a:pt x="3739" y="963"/>
                  <a:pt x="3769" y="963"/>
                  <a:pt x="3808" y="954"/>
                </a:cubicBezTo>
                <a:close/>
                <a:moveTo>
                  <a:pt x="4809" y="188"/>
                </a:moveTo>
                <a:cubicBezTo>
                  <a:pt x="4818" y="188"/>
                  <a:pt x="4818" y="188"/>
                  <a:pt x="4818" y="198"/>
                </a:cubicBezTo>
                <a:lnTo>
                  <a:pt x="4543" y="1170"/>
                </a:lnTo>
                <a:lnTo>
                  <a:pt x="4338" y="1140"/>
                </a:lnTo>
                <a:cubicBezTo>
                  <a:pt x="4171" y="1111"/>
                  <a:pt x="4004" y="1091"/>
                  <a:pt x="3837" y="1061"/>
                </a:cubicBezTo>
                <a:lnTo>
                  <a:pt x="3856" y="1052"/>
                </a:lnTo>
                <a:cubicBezTo>
                  <a:pt x="3876" y="1052"/>
                  <a:pt x="3886" y="1042"/>
                  <a:pt x="3906" y="1042"/>
                </a:cubicBezTo>
                <a:cubicBezTo>
                  <a:pt x="3896" y="1042"/>
                  <a:pt x="3886" y="1032"/>
                  <a:pt x="3876" y="1032"/>
                </a:cubicBezTo>
                <a:lnTo>
                  <a:pt x="4809" y="188"/>
                </a:lnTo>
                <a:close/>
                <a:moveTo>
                  <a:pt x="5956" y="1307"/>
                </a:moveTo>
                <a:cubicBezTo>
                  <a:pt x="5956" y="1307"/>
                  <a:pt x="5967" y="1307"/>
                  <a:pt x="5967" y="1317"/>
                </a:cubicBezTo>
                <a:lnTo>
                  <a:pt x="5986" y="1503"/>
                </a:lnTo>
                <a:cubicBezTo>
                  <a:pt x="5967" y="1503"/>
                  <a:pt x="5956" y="1503"/>
                  <a:pt x="5947" y="1493"/>
                </a:cubicBezTo>
                <a:cubicBezTo>
                  <a:pt x="5878" y="1474"/>
                  <a:pt x="5819" y="1464"/>
                  <a:pt x="5760" y="1444"/>
                </a:cubicBezTo>
                <a:lnTo>
                  <a:pt x="5956" y="1307"/>
                </a:lnTo>
                <a:close/>
                <a:moveTo>
                  <a:pt x="5456" y="1641"/>
                </a:moveTo>
                <a:cubicBezTo>
                  <a:pt x="5642" y="1680"/>
                  <a:pt x="5829" y="1719"/>
                  <a:pt x="6006" y="1758"/>
                </a:cubicBezTo>
                <a:lnTo>
                  <a:pt x="6065" y="2230"/>
                </a:lnTo>
                <a:cubicBezTo>
                  <a:pt x="5967" y="2141"/>
                  <a:pt x="5869" y="2053"/>
                  <a:pt x="5790" y="1994"/>
                </a:cubicBezTo>
                <a:lnTo>
                  <a:pt x="5760" y="1778"/>
                </a:lnTo>
                <a:cubicBezTo>
                  <a:pt x="5754" y="1738"/>
                  <a:pt x="5724" y="1711"/>
                  <a:pt x="5690" y="1711"/>
                </a:cubicBezTo>
                <a:cubicBezTo>
                  <a:pt x="5674" y="1711"/>
                  <a:pt x="5658" y="1716"/>
                  <a:pt x="5642" y="1729"/>
                </a:cubicBezTo>
                <a:cubicBezTo>
                  <a:pt x="5613" y="1748"/>
                  <a:pt x="5574" y="1778"/>
                  <a:pt x="5525" y="1807"/>
                </a:cubicBezTo>
                <a:cubicBezTo>
                  <a:pt x="5476" y="1778"/>
                  <a:pt x="5417" y="1739"/>
                  <a:pt x="5358" y="1709"/>
                </a:cubicBezTo>
                <a:lnTo>
                  <a:pt x="5456" y="1641"/>
                </a:lnTo>
                <a:close/>
                <a:moveTo>
                  <a:pt x="4899" y="0"/>
                </a:moveTo>
                <a:cubicBezTo>
                  <a:pt x="4895" y="0"/>
                  <a:pt x="4891" y="1"/>
                  <a:pt x="4887" y="2"/>
                </a:cubicBezTo>
                <a:cubicBezTo>
                  <a:pt x="4711" y="41"/>
                  <a:pt x="4210" y="551"/>
                  <a:pt x="3847" y="915"/>
                </a:cubicBezTo>
                <a:cubicBezTo>
                  <a:pt x="3788" y="895"/>
                  <a:pt x="3729" y="885"/>
                  <a:pt x="3670" y="885"/>
                </a:cubicBezTo>
                <a:cubicBezTo>
                  <a:pt x="3729" y="856"/>
                  <a:pt x="3798" y="836"/>
                  <a:pt x="3867" y="836"/>
                </a:cubicBezTo>
                <a:cubicBezTo>
                  <a:pt x="3769" y="806"/>
                  <a:pt x="3665" y="792"/>
                  <a:pt x="3561" y="792"/>
                </a:cubicBezTo>
                <a:cubicBezTo>
                  <a:pt x="3320" y="792"/>
                  <a:pt x="3074" y="869"/>
                  <a:pt x="2875" y="1013"/>
                </a:cubicBezTo>
                <a:cubicBezTo>
                  <a:pt x="2925" y="954"/>
                  <a:pt x="2973" y="895"/>
                  <a:pt x="3013" y="836"/>
                </a:cubicBezTo>
                <a:lnTo>
                  <a:pt x="3013" y="836"/>
                </a:lnTo>
                <a:cubicBezTo>
                  <a:pt x="2895" y="904"/>
                  <a:pt x="2787" y="1002"/>
                  <a:pt x="2699" y="1111"/>
                </a:cubicBezTo>
                <a:cubicBezTo>
                  <a:pt x="2552" y="934"/>
                  <a:pt x="2365" y="699"/>
                  <a:pt x="2267" y="561"/>
                </a:cubicBezTo>
                <a:cubicBezTo>
                  <a:pt x="2249" y="539"/>
                  <a:pt x="2223" y="529"/>
                  <a:pt x="2198" y="529"/>
                </a:cubicBezTo>
                <a:cubicBezTo>
                  <a:pt x="2167" y="529"/>
                  <a:pt x="2136" y="544"/>
                  <a:pt x="2120" y="571"/>
                </a:cubicBezTo>
                <a:lnTo>
                  <a:pt x="1482" y="2033"/>
                </a:lnTo>
                <a:lnTo>
                  <a:pt x="0" y="3309"/>
                </a:lnTo>
                <a:lnTo>
                  <a:pt x="0" y="3309"/>
                </a:lnTo>
                <a:lnTo>
                  <a:pt x="1560" y="2073"/>
                </a:lnTo>
                <a:lnTo>
                  <a:pt x="2179" y="767"/>
                </a:lnTo>
                <a:cubicBezTo>
                  <a:pt x="2179" y="762"/>
                  <a:pt x="2181" y="760"/>
                  <a:pt x="2184" y="760"/>
                </a:cubicBezTo>
                <a:cubicBezTo>
                  <a:pt x="2186" y="760"/>
                  <a:pt x="2188" y="762"/>
                  <a:pt x="2188" y="767"/>
                </a:cubicBezTo>
                <a:lnTo>
                  <a:pt x="2581" y="1277"/>
                </a:lnTo>
                <a:cubicBezTo>
                  <a:pt x="2571" y="1307"/>
                  <a:pt x="2552" y="1336"/>
                  <a:pt x="2542" y="1356"/>
                </a:cubicBezTo>
                <a:cubicBezTo>
                  <a:pt x="2532" y="1307"/>
                  <a:pt x="2512" y="1258"/>
                  <a:pt x="2502" y="1209"/>
                </a:cubicBezTo>
                <a:cubicBezTo>
                  <a:pt x="2454" y="1277"/>
                  <a:pt x="2443" y="1366"/>
                  <a:pt x="2473" y="1434"/>
                </a:cubicBezTo>
                <a:cubicBezTo>
                  <a:pt x="2493" y="1493"/>
                  <a:pt x="2532" y="1543"/>
                  <a:pt x="2591" y="1562"/>
                </a:cubicBezTo>
                <a:cubicBezTo>
                  <a:pt x="2576" y="1559"/>
                  <a:pt x="2561" y="1558"/>
                  <a:pt x="2546" y="1558"/>
                </a:cubicBezTo>
                <a:cubicBezTo>
                  <a:pt x="2464" y="1558"/>
                  <a:pt x="2384" y="1602"/>
                  <a:pt x="2326" y="1660"/>
                </a:cubicBezTo>
                <a:cubicBezTo>
                  <a:pt x="2257" y="1748"/>
                  <a:pt x="2228" y="1866"/>
                  <a:pt x="2198" y="1974"/>
                </a:cubicBezTo>
                <a:cubicBezTo>
                  <a:pt x="2179" y="2073"/>
                  <a:pt x="2149" y="2180"/>
                  <a:pt x="2129" y="2278"/>
                </a:cubicBezTo>
                <a:lnTo>
                  <a:pt x="2140" y="2278"/>
                </a:lnTo>
                <a:lnTo>
                  <a:pt x="2090" y="2661"/>
                </a:lnTo>
                <a:cubicBezTo>
                  <a:pt x="2090" y="2661"/>
                  <a:pt x="1913" y="2975"/>
                  <a:pt x="1884" y="3034"/>
                </a:cubicBezTo>
                <a:cubicBezTo>
                  <a:pt x="1865" y="3102"/>
                  <a:pt x="1305" y="4506"/>
                  <a:pt x="1305" y="4506"/>
                </a:cubicBezTo>
                <a:lnTo>
                  <a:pt x="1364" y="4506"/>
                </a:lnTo>
                <a:cubicBezTo>
                  <a:pt x="1364" y="4506"/>
                  <a:pt x="1904" y="3142"/>
                  <a:pt x="1933" y="3122"/>
                </a:cubicBezTo>
                <a:cubicBezTo>
                  <a:pt x="1972" y="3102"/>
                  <a:pt x="2198" y="2740"/>
                  <a:pt x="2198" y="2740"/>
                </a:cubicBezTo>
                <a:lnTo>
                  <a:pt x="2345" y="2249"/>
                </a:lnTo>
                <a:cubicBezTo>
                  <a:pt x="2365" y="2249"/>
                  <a:pt x="2395" y="2239"/>
                  <a:pt x="2414" y="2230"/>
                </a:cubicBezTo>
                <a:cubicBezTo>
                  <a:pt x="2512" y="2190"/>
                  <a:pt x="2591" y="2131"/>
                  <a:pt x="2620" y="2033"/>
                </a:cubicBezTo>
                <a:cubicBezTo>
                  <a:pt x="2640" y="1994"/>
                  <a:pt x="2640" y="1945"/>
                  <a:pt x="2669" y="1905"/>
                </a:cubicBezTo>
                <a:cubicBezTo>
                  <a:pt x="2684" y="1877"/>
                  <a:pt x="2718" y="1854"/>
                  <a:pt x="2747" y="1854"/>
                </a:cubicBezTo>
                <a:cubicBezTo>
                  <a:pt x="2758" y="1854"/>
                  <a:pt x="2769" y="1858"/>
                  <a:pt x="2777" y="1866"/>
                </a:cubicBezTo>
                <a:cubicBezTo>
                  <a:pt x="2757" y="2003"/>
                  <a:pt x="2866" y="2131"/>
                  <a:pt x="3003" y="2171"/>
                </a:cubicBezTo>
                <a:cubicBezTo>
                  <a:pt x="3037" y="2181"/>
                  <a:pt x="3071" y="2186"/>
                  <a:pt x="3107" y="2186"/>
                </a:cubicBezTo>
                <a:cubicBezTo>
                  <a:pt x="3205" y="2186"/>
                  <a:pt x="3306" y="2147"/>
                  <a:pt x="3385" y="2082"/>
                </a:cubicBezTo>
                <a:cubicBezTo>
                  <a:pt x="3455" y="2014"/>
                  <a:pt x="3513" y="1935"/>
                  <a:pt x="3553" y="1846"/>
                </a:cubicBezTo>
                <a:cubicBezTo>
                  <a:pt x="3798" y="2141"/>
                  <a:pt x="4151" y="2544"/>
                  <a:pt x="4495" y="2749"/>
                </a:cubicBezTo>
                <a:lnTo>
                  <a:pt x="4681" y="4241"/>
                </a:lnTo>
                <a:lnTo>
                  <a:pt x="4554" y="2788"/>
                </a:lnTo>
                <a:lnTo>
                  <a:pt x="4554" y="2788"/>
                </a:lnTo>
                <a:cubicBezTo>
                  <a:pt x="4622" y="2828"/>
                  <a:pt x="4681" y="2858"/>
                  <a:pt x="4740" y="2877"/>
                </a:cubicBezTo>
                <a:cubicBezTo>
                  <a:pt x="4909" y="2926"/>
                  <a:pt x="5046" y="2946"/>
                  <a:pt x="5160" y="2946"/>
                </a:cubicBezTo>
                <a:cubicBezTo>
                  <a:pt x="5502" y="2946"/>
                  <a:pt x="5633" y="2769"/>
                  <a:pt x="5780" y="2681"/>
                </a:cubicBezTo>
                <a:lnTo>
                  <a:pt x="5869" y="3220"/>
                </a:lnTo>
                <a:lnTo>
                  <a:pt x="6918" y="4673"/>
                </a:lnTo>
                <a:lnTo>
                  <a:pt x="6918" y="4673"/>
                </a:lnTo>
                <a:lnTo>
                  <a:pt x="5947" y="3201"/>
                </a:lnTo>
                <a:lnTo>
                  <a:pt x="5878" y="2631"/>
                </a:lnTo>
                <a:cubicBezTo>
                  <a:pt x="5904" y="2623"/>
                  <a:pt x="5935" y="2618"/>
                  <a:pt x="5968" y="2618"/>
                </a:cubicBezTo>
                <a:cubicBezTo>
                  <a:pt x="6009" y="2618"/>
                  <a:pt x="6055" y="2625"/>
                  <a:pt x="6104" y="2642"/>
                </a:cubicBezTo>
                <a:lnTo>
                  <a:pt x="6124" y="2759"/>
                </a:lnTo>
                <a:lnTo>
                  <a:pt x="7184" y="4437"/>
                </a:lnTo>
                <a:lnTo>
                  <a:pt x="6202" y="2740"/>
                </a:lnTo>
                <a:lnTo>
                  <a:pt x="6202" y="2671"/>
                </a:lnTo>
                <a:cubicBezTo>
                  <a:pt x="6261" y="2701"/>
                  <a:pt x="6320" y="2730"/>
                  <a:pt x="6388" y="2779"/>
                </a:cubicBezTo>
                <a:cubicBezTo>
                  <a:pt x="6401" y="2786"/>
                  <a:pt x="6414" y="2790"/>
                  <a:pt x="6426" y="2790"/>
                </a:cubicBezTo>
                <a:cubicBezTo>
                  <a:pt x="6479" y="2790"/>
                  <a:pt x="6517" y="2729"/>
                  <a:pt x="6477" y="2681"/>
                </a:cubicBezTo>
                <a:cubicBezTo>
                  <a:pt x="6388" y="2563"/>
                  <a:pt x="6281" y="2445"/>
                  <a:pt x="6172" y="2337"/>
                </a:cubicBezTo>
                <a:lnTo>
                  <a:pt x="6133" y="1778"/>
                </a:lnTo>
                <a:lnTo>
                  <a:pt x="6133" y="1778"/>
                </a:lnTo>
                <a:cubicBezTo>
                  <a:pt x="6340" y="1817"/>
                  <a:pt x="6545" y="1866"/>
                  <a:pt x="6761" y="1905"/>
                </a:cubicBezTo>
                <a:cubicBezTo>
                  <a:pt x="6777" y="1908"/>
                  <a:pt x="6793" y="1911"/>
                  <a:pt x="6808" y="1911"/>
                </a:cubicBezTo>
                <a:cubicBezTo>
                  <a:pt x="6843" y="1911"/>
                  <a:pt x="6872" y="1900"/>
                  <a:pt x="6879" y="1866"/>
                </a:cubicBezTo>
                <a:cubicBezTo>
                  <a:pt x="6889" y="1827"/>
                  <a:pt x="6840" y="1798"/>
                  <a:pt x="6800" y="1778"/>
                </a:cubicBezTo>
                <a:cubicBezTo>
                  <a:pt x="6575" y="1689"/>
                  <a:pt x="6340" y="1621"/>
                  <a:pt x="6114" y="1543"/>
                </a:cubicBezTo>
                <a:lnTo>
                  <a:pt x="6084" y="1159"/>
                </a:lnTo>
                <a:cubicBezTo>
                  <a:pt x="6077" y="1109"/>
                  <a:pt x="6038" y="1080"/>
                  <a:pt x="5998" y="1080"/>
                </a:cubicBezTo>
                <a:cubicBezTo>
                  <a:pt x="5984" y="1080"/>
                  <a:pt x="5969" y="1083"/>
                  <a:pt x="5956" y="1091"/>
                </a:cubicBezTo>
                <a:cubicBezTo>
                  <a:pt x="5849" y="1170"/>
                  <a:pt x="5672" y="1277"/>
                  <a:pt x="5515" y="1375"/>
                </a:cubicBezTo>
                <a:cubicBezTo>
                  <a:pt x="5230" y="1307"/>
                  <a:pt x="4936" y="1248"/>
                  <a:pt x="4652" y="1189"/>
                </a:cubicBezTo>
                <a:lnTo>
                  <a:pt x="4966" y="100"/>
                </a:lnTo>
                <a:cubicBezTo>
                  <a:pt x="4984" y="46"/>
                  <a:pt x="4944" y="0"/>
                  <a:pt x="4899" y="0"/>
                </a:cubicBezTo>
                <a:close/>
              </a:path>
            </a:pathLst>
          </a:custGeom>
          <a:solidFill>
            <a:srgbClr val="E0D7D3">
              <a:alpha val="6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0427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9CF5770-8403-05F3-1C5C-27CF51AC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Season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l decomposition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635CDDE2-DFDE-66BD-CC96-C127D42E4E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4088" y="1446516"/>
            <a:ext cx="5212080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Additive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Clear trend and seasonality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Malaria cases show a rising long-term trend and a stable annual seasonal cycle.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Residuals reveal shocks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Large spikes in residuals around 2020–2021 and 2023 suggest episodic outbreaks.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Modeling implication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Most systematic variation is captured by trend and seasonality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B85247-7FFE-718E-9EC9-349C2795CA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47730" y="2723789"/>
            <a:ext cx="4724790" cy="3519487"/>
          </a:xfrm>
          <a:prstGeom prst="rect">
            <a:avLst/>
          </a:prstGeom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A9CC29B8-8E66-85D5-085F-32958B0EA59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181344" y="1531155"/>
            <a:ext cx="546773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100" dirty="0"/>
              <a:t>Multiplicative 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Seasonality scales with level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Malaria peaks are 2–3× higher than baseline during seasonal highs, indicating multiplicative seasonality.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Trend shows long-run increase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Rising baseline from 2020 to 2025 suggests growing transmission risk over time.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Residuals are minimal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Most variation is explained by trend and seasonality.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3D0E5D8-ADD7-E5B2-F17A-8F7B10D1CE6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19480" y="2723789"/>
            <a:ext cx="4724790" cy="3519487"/>
          </a:xfrm>
          <a:prstGeom prst="rect">
            <a:avLst/>
          </a:prstGeom>
        </p:spPr>
      </p:pic>
      <p:sp>
        <p:nvSpPr>
          <p:cNvPr id="17" name="Google Shape;265;p30">
            <a:extLst>
              <a:ext uri="{FF2B5EF4-FFF2-40B4-BE49-F238E27FC236}">
                <a16:creationId xmlns:a16="http://schemas.microsoft.com/office/drawing/2014/main" id="{12D718F8-8593-BE30-437C-5D7767B8F639}"/>
              </a:ext>
            </a:extLst>
          </p:cNvPr>
          <p:cNvSpPr/>
          <p:nvPr/>
        </p:nvSpPr>
        <p:spPr>
          <a:xfrm>
            <a:off x="2582889" y="714784"/>
            <a:ext cx="727236" cy="473048"/>
          </a:xfrm>
          <a:custGeom>
            <a:avLst/>
            <a:gdLst/>
            <a:ahLst/>
            <a:cxnLst/>
            <a:rect l="l" t="t" r="r" b="b"/>
            <a:pathLst>
              <a:path w="7184" h="4673" extrusionOk="0">
                <a:moveTo>
                  <a:pt x="3808" y="954"/>
                </a:moveTo>
                <a:lnTo>
                  <a:pt x="3769" y="993"/>
                </a:lnTo>
                <a:cubicBezTo>
                  <a:pt x="3749" y="983"/>
                  <a:pt x="3729" y="983"/>
                  <a:pt x="3710" y="973"/>
                </a:cubicBezTo>
                <a:cubicBezTo>
                  <a:pt x="3739" y="963"/>
                  <a:pt x="3769" y="963"/>
                  <a:pt x="3808" y="954"/>
                </a:cubicBezTo>
                <a:close/>
                <a:moveTo>
                  <a:pt x="4809" y="188"/>
                </a:moveTo>
                <a:cubicBezTo>
                  <a:pt x="4818" y="188"/>
                  <a:pt x="4818" y="188"/>
                  <a:pt x="4818" y="198"/>
                </a:cubicBezTo>
                <a:lnTo>
                  <a:pt x="4543" y="1170"/>
                </a:lnTo>
                <a:lnTo>
                  <a:pt x="4338" y="1140"/>
                </a:lnTo>
                <a:cubicBezTo>
                  <a:pt x="4171" y="1111"/>
                  <a:pt x="4004" y="1091"/>
                  <a:pt x="3837" y="1061"/>
                </a:cubicBezTo>
                <a:lnTo>
                  <a:pt x="3856" y="1052"/>
                </a:lnTo>
                <a:cubicBezTo>
                  <a:pt x="3876" y="1052"/>
                  <a:pt x="3886" y="1042"/>
                  <a:pt x="3906" y="1042"/>
                </a:cubicBezTo>
                <a:cubicBezTo>
                  <a:pt x="3896" y="1042"/>
                  <a:pt x="3886" y="1032"/>
                  <a:pt x="3876" y="1032"/>
                </a:cubicBezTo>
                <a:lnTo>
                  <a:pt x="4809" y="188"/>
                </a:lnTo>
                <a:close/>
                <a:moveTo>
                  <a:pt x="5956" y="1307"/>
                </a:moveTo>
                <a:cubicBezTo>
                  <a:pt x="5956" y="1307"/>
                  <a:pt x="5967" y="1307"/>
                  <a:pt x="5967" y="1317"/>
                </a:cubicBezTo>
                <a:lnTo>
                  <a:pt x="5986" y="1503"/>
                </a:lnTo>
                <a:cubicBezTo>
                  <a:pt x="5967" y="1503"/>
                  <a:pt x="5956" y="1503"/>
                  <a:pt x="5947" y="1493"/>
                </a:cubicBezTo>
                <a:cubicBezTo>
                  <a:pt x="5878" y="1474"/>
                  <a:pt x="5819" y="1464"/>
                  <a:pt x="5760" y="1444"/>
                </a:cubicBezTo>
                <a:lnTo>
                  <a:pt x="5956" y="1307"/>
                </a:lnTo>
                <a:close/>
                <a:moveTo>
                  <a:pt x="5456" y="1641"/>
                </a:moveTo>
                <a:cubicBezTo>
                  <a:pt x="5642" y="1680"/>
                  <a:pt x="5829" y="1719"/>
                  <a:pt x="6006" y="1758"/>
                </a:cubicBezTo>
                <a:lnTo>
                  <a:pt x="6065" y="2230"/>
                </a:lnTo>
                <a:cubicBezTo>
                  <a:pt x="5967" y="2141"/>
                  <a:pt x="5869" y="2053"/>
                  <a:pt x="5790" y="1994"/>
                </a:cubicBezTo>
                <a:lnTo>
                  <a:pt x="5760" y="1778"/>
                </a:lnTo>
                <a:cubicBezTo>
                  <a:pt x="5754" y="1738"/>
                  <a:pt x="5724" y="1711"/>
                  <a:pt x="5690" y="1711"/>
                </a:cubicBezTo>
                <a:cubicBezTo>
                  <a:pt x="5674" y="1711"/>
                  <a:pt x="5658" y="1716"/>
                  <a:pt x="5642" y="1729"/>
                </a:cubicBezTo>
                <a:cubicBezTo>
                  <a:pt x="5613" y="1748"/>
                  <a:pt x="5574" y="1778"/>
                  <a:pt x="5525" y="1807"/>
                </a:cubicBezTo>
                <a:cubicBezTo>
                  <a:pt x="5476" y="1778"/>
                  <a:pt x="5417" y="1739"/>
                  <a:pt x="5358" y="1709"/>
                </a:cubicBezTo>
                <a:lnTo>
                  <a:pt x="5456" y="1641"/>
                </a:lnTo>
                <a:close/>
                <a:moveTo>
                  <a:pt x="4899" y="0"/>
                </a:moveTo>
                <a:cubicBezTo>
                  <a:pt x="4895" y="0"/>
                  <a:pt x="4891" y="1"/>
                  <a:pt x="4887" y="2"/>
                </a:cubicBezTo>
                <a:cubicBezTo>
                  <a:pt x="4711" y="41"/>
                  <a:pt x="4210" y="551"/>
                  <a:pt x="3847" y="915"/>
                </a:cubicBezTo>
                <a:cubicBezTo>
                  <a:pt x="3788" y="895"/>
                  <a:pt x="3729" y="885"/>
                  <a:pt x="3670" y="885"/>
                </a:cubicBezTo>
                <a:cubicBezTo>
                  <a:pt x="3729" y="856"/>
                  <a:pt x="3798" y="836"/>
                  <a:pt x="3867" y="836"/>
                </a:cubicBezTo>
                <a:cubicBezTo>
                  <a:pt x="3769" y="806"/>
                  <a:pt x="3665" y="792"/>
                  <a:pt x="3561" y="792"/>
                </a:cubicBezTo>
                <a:cubicBezTo>
                  <a:pt x="3320" y="792"/>
                  <a:pt x="3074" y="869"/>
                  <a:pt x="2875" y="1013"/>
                </a:cubicBezTo>
                <a:cubicBezTo>
                  <a:pt x="2925" y="954"/>
                  <a:pt x="2973" y="895"/>
                  <a:pt x="3013" y="836"/>
                </a:cubicBezTo>
                <a:lnTo>
                  <a:pt x="3013" y="836"/>
                </a:lnTo>
                <a:cubicBezTo>
                  <a:pt x="2895" y="904"/>
                  <a:pt x="2787" y="1002"/>
                  <a:pt x="2699" y="1111"/>
                </a:cubicBezTo>
                <a:cubicBezTo>
                  <a:pt x="2552" y="934"/>
                  <a:pt x="2365" y="699"/>
                  <a:pt x="2267" y="561"/>
                </a:cubicBezTo>
                <a:cubicBezTo>
                  <a:pt x="2249" y="539"/>
                  <a:pt x="2223" y="529"/>
                  <a:pt x="2198" y="529"/>
                </a:cubicBezTo>
                <a:cubicBezTo>
                  <a:pt x="2167" y="529"/>
                  <a:pt x="2136" y="544"/>
                  <a:pt x="2120" y="571"/>
                </a:cubicBezTo>
                <a:lnTo>
                  <a:pt x="1482" y="2033"/>
                </a:lnTo>
                <a:lnTo>
                  <a:pt x="0" y="3309"/>
                </a:lnTo>
                <a:lnTo>
                  <a:pt x="0" y="3309"/>
                </a:lnTo>
                <a:lnTo>
                  <a:pt x="1560" y="2073"/>
                </a:lnTo>
                <a:lnTo>
                  <a:pt x="2179" y="767"/>
                </a:lnTo>
                <a:cubicBezTo>
                  <a:pt x="2179" y="762"/>
                  <a:pt x="2181" y="760"/>
                  <a:pt x="2184" y="760"/>
                </a:cubicBezTo>
                <a:cubicBezTo>
                  <a:pt x="2186" y="760"/>
                  <a:pt x="2188" y="762"/>
                  <a:pt x="2188" y="767"/>
                </a:cubicBezTo>
                <a:lnTo>
                  <a:pt x="2581" y="1277"/>
                </a:lnTo>
                <a:cubicBezTo>
                  <a:pt x="2571" y="1307"/>
                  <a:pt x="2552" y="1336"/>
                  <a:pt x="2542" y="1356"/>
                </a:cubicBezTo>
                <a:cubicBezTo>
                  <a:pt x="2532" y="1307"/>
                  <a:pt x="2512" y="1258"/>
                  <a:pt x="2502" y="1209"/>
                </a:cubicBezTo>
                <a:cubicBezTo>
                  <a:pt x="2454" y="1277"/>
                  <a:pt x="2443" y="1366"/>
                  <a:pt x="2473" y="1434"/>
                </a:cubicBezTo>
                <a:cubicBezTo>
                  <a:pt x="2493" y="1493"/>
                  <a:pt x="2532" y="1543"/>
                  <a:pt x="2591" y="1562"/>
                </a:cubicBezTo>
                <a:cubicBezTo>
                  <a:pt x="2576" y="1559"/>
                  <a:pt x="2561" y="1558"/>
                  <a:pt x="2546" y="1558"/>
                </a:cubicBezTo>
                <a:cubicBezTo>
                  <a:pt x="2464" y="1558"/>
                  <a:pt x="2384" y="1602"/>
                  <a:pt x="2326" y="1660"/>
                </a:cubicBezTo>
                <a:cubicBezTo>
                  <a:pt x="2257" y="1748"/>
                  <a:pt x="2228" y="1866"/>
                  <a:pt x="2198" y="1974"/>
                </a:cubicBezTo>
                <a:cubicBezTo>
                  <a:pt x="2179" y="2073"/>
                  <a:pt x="2149" y="2180"/>
                  <a:pt x="2129" y="2278"/>
                </a:cubicBezTo>
                <a:lnTo>
                  <a:pt x="2140" y="2278"/>
                </a:lnTo>
                <a:lnTo>
                  <a:pt x="2090" y="2661"/>
                </a:lnTo>
                <a:cubicBezTo>
                  <a:pt x="2090" y="2661"/>
                  <a:pt x="1913" y="2975"/>
                  <a:pt x="1884" y="3034"/>
                </a:cubicBezTo>
                <a:cubicBezTo>
                  <a:pt x="1865" y="3102"/>
                  <a:pt x="1305" y="4506"/>
                  <a:pt x="1305" y="4506"/>
                </a:cubicBezTo>
                <a:lnTo>
                  <a:pt x="1364" y="4506"/>
                </a:lnTo>
                <a:cubicBezTo>
                  <a:pt x="1364" y="4506"/>
                  <a:pt x="1904" y="3142"/>
                  <a:pt x="1933" y="3122"/>
                </a:cubicBezTo>
                <a:cubicBezTo>
                  <a:pt x="1972" y="3102"/>
                  <a:pt x="2198" y="2740"/>
                  <a:pt x="2198" y="2740"/>
                </a:cubicBezTo>
                <a:lnTo>
                  <a:pt x="2345" y="2249"/>
                </a:lnTo>
                <a:cubicBezTo>
                  <a:pt x="2365" y="2249"/>
                  <a:pt x="2395" y="2239"/>
                  <a:pt x="2414" y="2230"/>
                </a:cubicBezTo>
                <a:cubicBezTo>
                  <a:pt x="2512" y="2190"/>
                  <a:pt x="2591" y="2131"/>
                  <a:pt x="2620" y="2033"/>
                </a:cubicBezTo>
                <a:cubicBezTo>
                  <a:pt x="2640" y="1994"/>
                  <a:pt x="2640" y="1945"/>
                  <a:pt x="2669" y="1905"/>
                </a:cubicBezTo>
                <a:cubicBezTo>
                  <a:pt x="2684" y="1877"/>
                  <a:pt x="2718" y="1854"/>
                  <a:pt x="2747" y="1854"/>
                </a:cubicBezTo>
                <a:cubicBezTo>
                  <a:pt x="2758" y="1854"/>
                  <a:pt x="2769" y="1858"/>
                  <a:pt x="2777" y="1866"/>
                </a:cubicBezTo>
                <a:cubicBezTo>
                  <a:pt x="2757" y="2003"/>
                  <a:pt x="2866" y="2131"/>
                  <a:pt x="3003" y="2171"/>
                </a:cubicBezTo>
                <a:cubicBezTo>
                  <a:pt x="3037" y="2181"/>
                  <a:pt x="3071" y="2186"/>
                  <a:pt x="3107" y="2186"/>
                </a:cubicBezTo>
                <a:cubicBezTo>
                  <a:pt x="3205" y="2186"/>
                  <a:pt x="3306" y="2147"/>
                  <a:pt x="3385" y="2082"/>
                </a:cubicBezTo>
                <a:cubicBezTo>
                  <a:pt x="3455" y="2014"/>
                  <a:pt x="3513" y="1935"/>
                  <a:pt x="3553" y="1846"/>
                </a:cubicBezTo>
                <a:cubicBezTo>
                  <a:pt x="3798" y="2141"/>
                  <a:pt x="4151" y="2544"/>
                  <a:pt x="4495" y="2749"/>
                </a:cubicBezTo>
                <a:lnTo>
                  <a:pt x="4681" y="4241"/>
                </a:lnTo>
                <a:lnTo>
                  <a:pt x="4554" y="2788"/>
                </a:lnTo>
                <a:lnTo>
                  <a:pt x="4554" y="2788"/>
                </a:lnTo>
                <a:cubicBezTo>
                  <a:pt x="4622" y="2828"/>
                  <a:pt x="4681" y="2858"/>
                  <a:pt x="4740" y="2877"/>
                </a:cubicBezTo>
                <a:cubicBezTo>
                  <a:pt x="4909" y="2926"/>
                  <a:pt x="5046" y="2946"/>
                  <a:pt x="5160" y="2946"/>
                </a:cubicBezTo>
                <a:cubicBezTo>
                  <a:pt x="5502" y="2946"/>
                  <a:pt x="5633" y="2769"/>
                  <a:pt x="5780" y="2681"/>
                </a:cubicBezTo>
                <a:lnTo>
                  <a:pt x="5869" y="3220"/>
                </a:lnTo>
                <a:lnTo>
                  <a:pt x="6918" y="4673"/>
                </a:lnTo>
                <a:lnTo>
                  <a:pt x="6918" y="4673"/>
                </a:lnTo>
                <a:lnTo>
                  <a:pt x="5947" y="3201"/>
                </a:lnTo>
                <a:lnTo>
                  <a:pt x="5878" y="2631"/>
                </a:lnTo>
                <a:cubicBezTo>
                  <a:pt x="5904" y="2623"/>
                  <a:pt x="5935" y="2618"/>
                  <a:pt x="5968" y="2618"/>
                </a:cubicBezTo>
                <a:cubicBezTo>
                  <a:pt x="6009" y="2618"/>
                  <a:pt x="6055" y="2625"/>
                  <a:pt x="6104" y="2642"/>
                </a:cubicBezTo>
                <a:lnTo>
                  <a:pt x="6124" y="2759"/>
                </a:lnTo>
                <a:lnTo>
                  <a:pt x="7184" y="4437"/>
                </a:lnTo>
                <a:lnTo>
                  <a:pt x="6202" y="2740"/>
                </a:lnTo>
                <a:lnTo>
                  <a:pt x="6202" y="2671"/>
                </a:lnTo>
                <a:cubicBezTo>
                  <a:pt x="6261" y="2701"/>
                  <a:pt x="6320" y="2730"/>
                  <a:pt x="6388" y="2779"/>
                </a:cubicBezTo>
                <a:cubicBezTo>
                  <a:pt x="6401" y="2786"/>
                  <a:pt x="6414" y="2790"/>
                  <a:pt x="6426" y="2790"/>
                </a:cubicBezTo>
                <a:cubicBezTo>
                  <a:pt x="6479" y="2790"/>
                  <a:pt x="6517" y="2729"/>
                  <a:pt x="6477" y="2681"/>
                </a:cubicBezTo>
                <a:cubicBezTo>
                  <a:pt x="6388" y="2563"/>
                  <a:pt x="6281" y="2445"/>
                  <a:pt x="6172" y="2337"/>
                </a:cubicBezTo>
                <a:lnTo>
                  <a:pt x="6133" y="1778"/>
                </a:lnTo>
                <a:lnTo>
                  <a:pt x="6133" y="1778"/>
                </a:lnTo>
                <a:cubicBezTo>
                  <a:pt x="6340" y="1817"/>
                  <a:pt x="6545" y="1866"/>
                  <a:pt x="6761" y="1905"/>
                </a:cubicBezTo>
                <a:cubicBezTo>
                  <a:pt x="6777" y="1908"/>
                  <a:pt x="6793" y="1911"/>
                  <a:pt x="6808" y="1911"/>
                </a:cubicBezTo>
                <a:cubicBezTo>
                  <a:pt x="6843" y="1911"/>
                  <a:pt x="6872" y="1900"/>
                  <a:pt x="6879" y="1866"/>
                </a:cubicBezTo>
                <a:cubicBezTo>
                  <a:pt x="6889" y="1827"/>
                  <a:pt x="6840" y="1798"/>
                  <a:pt x="6800" y="1778"/>
                </a:cubicBezTo>
                <a:cubicBezTo>
                  <a:pt x="6575" y="1689"/>
                  <a:pt x="6340" y="1621"/>
                  <a:pt x="6114" y="1543"/>
                </a:cubicBezTo>
                <a:lnTo>
                  <a:pt x="6084" y="1159"/>
                </a:lnTo>
                <a:cubicBezTo>
                  <a:pt x="6077" y="1109"/>
                  <a:pt x="6038" y="1080"/>
                  <a:pt x="5998" y="1080"/>
                </a:cubicBezTo>
                <a:cubicBezTo>
                  <a:pt x="5984" y="1080"/>
                  <a:pt x="5969" y="1083"/>
                  <a:pt x="5956" y="1091"/>
                </a:cubicBezTo>
                <a:cubicBezTo>
                  <a:pt x="5849" y="1170"/>
                  <a:pt x="5672" y="1277"/>
                  <a:pt x="5515" y="1375"/>
                </a:cubicBezTo>
                <a:cubicBezTo>
                  <a:pt x="5230" y="1307"/>
                  <a:pt x="4936" y="1248"/>
                  <a:pt x="4652" y="1189"/>
                </a:cubicBezTo>
                <a:lnTo>
                  <a:pt x="4966" y="100"/>
                </a:lnTo>
                <a:cubicBezTo>
                  <a:pt x="4984" y="46"/>
                  <a:pt x="4944" y="0"/>
                  <a:pt x="4899" y="0"/>
                </a:cubicBezTo>
                <a:close/>
              </a:path>
            </a:pathLst>
          </a:custGeom>
          <a:solidFill>
            <a:srgbClr val="E0D7D3">
              <a:alpha val="635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7424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B363-B942-B02C-44B9-7E4142DE0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and tuning</a:t>
            </a:r>
          </a:p>
        </p:txBody>
      </p:sp>
    </p:spTree>
    <p:extLst>
      <p:ext uri="{BB962C8B-B14F-4D97-AF65-F5344CB8AC3E}">
        <p14:creationId xmlns:p14="http://schemas.microsoft.com/office/powerpoint/2010/main" val="3695800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8CD8C-5681-B336-793D-C840BD92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97F76A-A0F3-48AD-34C7-5108293D2F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7782729"/>
              </p:ext>
            </p:extLst>
          </p:nvPr>
        </p:nvGraphicFramePr>
        <p:xfrm>
          <a:off x="700088" y="-365760"/>
          <a:ext cx="10885360" cy="7114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Arrow: Down 4">
            <a:extLst>
              <a:ext uri="{FF2B5EF4-FFF2-40B4-BE49-F238E27FC236}">
                <a16:creationId xmlns:a16="http://schemas.microsoft.com/office/drawing/2014/main" id="{79A24692-FA2A-22E1-4A56-189FC09F66BA}"/>
              </a:ext>
            </a:extLst>
          </p:cNvPr>
          <p:cNvSpPr/>
          <p:nvPr/>
        </p:nvSpPr>
        <p:spPr>
          <a:xfrm>
            <a:off x="2039112" y="1353312"/>
            <a:ext cx="237744" cy="429768"/>
          </a:xfrm>
          <a:prstGeom prst="down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43EA233-22C7-173B-3E61-D5D8622653B3}"/>
              </a:ext>
            </a:extLst>
          </p:cNvPr>
          <p:cNvSpPr/>
          <p:nvPr/>
        </p:nvSpPr>
        <p:spPr>
          <a:xfrm>
            <a:off x="6102096" y="1353312"/>
            <a:ext cx="237744" cy="429768"/>
          </a:xfrm>
          <a:prstGeom prst="down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E12232D-8DDA-4868-008D-A9B6587CE2FF}"/>
              </a:ext>
            </a:extLst>
          </p:cNvPr>
          <p:cNvSpPr/>
          <p:nvPr/>
        </p:nvSpPr>
        <p:spPr>
          <a:xfrm>
            <a:off x="9709404" y="1353312"/>
            <a:ext cx="295656" cy="429768"/>
          </a:xfrm>
          <a:prstGeom prst="down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282B2A1-627C-869B-3194-C8A864D612E0}"/>
              </a:ext>
            </a:extLst>
          </p:cNvPr>
          <p:cNvSpPr/>
          <p:nvPr/>
        </p:nvSpPr>
        <p:spPr>
          <a:xfrm>
            <a:off x="1764792" y="2697480"/>
            <a:ext cx="274320" cy="493776"/>
          </a:xfrm>
          <a:prstGeom prst="down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6F2A58A-AB09-EA11-B46F-15B573416E72}"/>
              </a:ext>
            </a:extLst>
          </p:cNvPr>
          <p:cNvSpPr/>
          <p:nvPr/>
        </p:nvSpPr>
        <p:spPr>
          <a:xfrm>
            <a:off x="4498848" y="2697480"/>
            <a:ext cx="274320" cy="493776"/>
          </a:xfrm>
          <a:prstGeom prst="down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4568D73-5ED6-EB05-A6DB-4DAB1D78CB8A}"/>
              </a:ext>
            </a:extLst>
          </p:cNvPr>
          <p:cNvSpPr/>
          <p:nvPr/>
        </p:nvSpPr>
        <p:spPr>
          <a:xfrm>
            <a:off x="7232904" y="2697480"/>
            <a:ext cx="274320" cy="493776"/>
          </a:xfrm>
          <a:prstGeom prst="down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EAFC686-9DA4-F289-637F-2DC177C8AEC2}"/>
              </a:ext>
            </a:extLst>
          </p:cNvPr>
          <p:cNvSpPr/>
          <p:nvPr/>
        </p:nvSpPr>
        <p:spPr>
          <a:xfrm>
            <a:off x="9886188" y="2697480"/>
            <a:ext cx="295656" cy="493776"/>
          </a:xfrm>
          <a:prstGeom prst="down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8CE5214-EC28-D9F7-370E-CCF517E4B6E7}"/>
              </a:ext>
            </a:extLst>
          </p:cNvPr>
          <p:cNvSpPr/>
          <p:nvPr/>
        </p:nvSpPr>
        <p:spPr>
          <a:xfrm>
            <a:off x="5321808" y="4288536"/>
            <a:ext cx="365760" cy="347473"/>
          </a:xfrm>
          <a:prstGeom prst="down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D8C4898-362F-549D-EC72-DA084D14AFC8}"/>
              </a:ext>
            </a:extLst>
          </p:cNvPr>
          <p:cNvSpPr/>
          <p:nvPr/>
        </p:nvSpPr>
        <p:spPr>
          <a:xfrm>
            <a:off x="5321808" y="5696712"/>
            <a:ext cx="365760" cy="347473"/>
          </a:xfrm>
          <a:prstGeom prst="down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3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41B18-5F64-EE79-E7C4-56034298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2E3B5E-C6B7-C3B1-5C11-4FAEA515E6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1089612"/>
              </p:ext>
            </p:extLst>
          </p:nvPr>
        </p:nvGraphicFramePr>
        <p:xfrm>
          <a:off x="594360" y="1856740"/>
          <a:ext cx="1071524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400">
                  <a:extLst>
                    <a:ext uri="{9D8B030D-6E8A-4147-A177-3AD203B41FA5}">
                      <a16:colId xmlns:a16="http://schemas.microsoft.com/office/drawing/2014/main" val="3104219700"/>
                    </a:ext>
                  </a:extLst>
                </a:gridCol>
                <a:gridCol w="1781968">
                  <a:extLst>
                    <a:ext uri="{9D8B030D-6E8A-4147-A177-3AD203B41FA5}">
                      <a16:colId xmlns:a16="http://schemas.microsoft.com/office/drawing/2014/main" val="3396131138"/>
                    </a:ext>
                  </a:extLst>
                </a:gridCol>
                <a:gridCol w="1781968">
                  <a:extLst>
                    <a:ext uri="{9D8B030D-6E8A-4147-A177-3AD203B41FA5}">
                      <a16:colId xmlns:a16="http://schemas.microsoft.com/office/drawing/2014/main" val="2011984002"/>
                    </a:ext>
                  </a:extLst>
                </a:gridCol>
                <a:gridCol w="1781968">
                  <a:extLst>
                    <a:ext uri="{9D8B030D-6E8A-4147-A177-3AD203B41FA5}">
                      <a16:colId xmlns:a16="http://schemas.microsoft.com/office/drawing/2014/main" val="2419500633"/>
                    </a:ext>
                  </a:extLst>
                </a:gridCol>
                <a:gridCol w="1781968">
                  <a:extLst>
                    <a:ext uri="{9D8B030D-6E8A-4147-A177-3AD203B41FA5}">
                      <a16:colId xmlns:a16="http://schemas.microsoft.com/office/drawing/2014/main" val="617070298"/>
                    </a:ext>
                  </a:extLst>
                </a:gridCol>
                <a:gridCol w="1781968">
                  <a:extLst>
                    <a:ext uri="{9D8B030D-6E8A-4147-A177-3AD203B41FA5}">
                      <a16:colId xmlns:a16="http://schemas.microsoft.com/office/drawing/2014/main" val="4768367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R*2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ROC-AUC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979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Light 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192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682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940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933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82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73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697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2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Test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396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Radom Forest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474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03251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2583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645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1987-D003-3615-0F3B-19155FB48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Model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CEDBB1-33D8-C59E-2CA2-0EC39EEC3A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8376561"/>
              </p:ext>
            </p:extLst>
          </p:nvPr>
        </p:nvGraphicFramePr>
        <p:xfrm>
          <a:off x="700088" y="2222500"/>
          <a:ext cx="1069180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476">
                  <a:extLst>
                    <a:ext uri="{9D8B030D-6E8A-4147-A177-3AD203B41FA5}">
                      <a16:colId xmlns:a16="http://schemas.microsoft.com/office/drawing/2014/main" val="1006598685"/>
                    </a:ext>
                  </a:extLst>
                </a:gridCol>
                <a:gridCol w="1336476">
                  <a:extLst>
                    <a:ext uri="{9D8B030D-6E8A-4147-A177-3AD203B41FA5}">
                      <a16:colId xmlns:a16="http://schemas.microsoft.com/office/drawing/2014/main" val="724499371"/>
                    </a:ext>
                  </a:extLst>
                </a:gridCol>
                <a:gridCol w="1336476">
                  <a:extLst>
                    <a:ext uri="{9D8B030D-6E8A-4147-A177-3AD203B41FA5}">
                      <a16:colId xmlns:a16="http://schemas.microsoft.com/office/drawing/2014/main" val="515571279"/>
                    </a:ext>
                  </a:extLst>
                </a:gridCol>
                <a:gridCol w="1336476">
                  <a:extLst>
                    <a:ext uri="{9D8B030D-6E8A-4147-A177-3AD203B41FA5}">
                      <a16:colId xmlns:a16="http://schemas.microsoft.com/office/drawing/2014/main" val="2413548224"/>
                    </a:ext>
                  </a:extLst>
                </a:gridCol>
                <a:gridCol w="1336476">
                  <a:extLst>
                    <a:ext uri="{9D8B030D-6E8A-4147-A177-3AD203B41FA5}">
                      <a16:colId xmlns:a16="http://schemas.microsoft.com/office/drawing/2014/main" val="4040183033"/>
                    </a:ext>
                  </a:extLst>
                </a:gridCol>
                <a:gridCol w="1336476">
                  <a:extLst>
                    <a:ext uri="{9D8B030D-6E8A-4147-A177-3AD203B41FA5}">
                      <a16:colId xmlns:a16="http://schemas.microsoft.com/office/drawing/2014/main" val="1508856581"/>
                    </a:ext>
                  </a:extLst>
                </a:gridCol>
                <a:gridCol w="1336476">
                  <a:extLst>
                    <a:ext uri="{9D8B030D-6E8A-4147-A177-3AD203B41FA5}">
                      <a16:colId xmlns:a16="http://schemas.microsoft.com/office/drawing/2014/main" val="4276838079"/>
                    </a:ext>
                  </a:extLst>
                </a:gridCol>
                <a:gridCol w="1336476">
                  <a:extLst>
                    <a:ext uri="{9D8B030D-6E8A-4147-A177-3AD203B41FA5}">
                      <a16:colId xmlns:a16="http://schemas.microsoft.com/office/drawing/2014/main" val="1136161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Radom Forest (Final)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R*2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ROC-AUC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977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Test (Regression)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526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Test (Classification)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185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067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15DA-6FBE-0A47-B96F-9226627A7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 fontScale="90000"/>
          </a:bodyPr>
          <a:lstStyle/>
          <a:p>
            <a:r>
              <a:rPr lang="en-US" dirty="0"/>
              <a:t>Time-Series: Actual vs. Predicted - </a:t>
            </a:r>
            <a:r>
              <a:rPr lang="en-US" dirty="0" err="1"/>
              <a:t>RandomForest</a:t>
            </a:r>
            <a:r>
              <a:rPr lang="en-US" dirty="0"/>
              <a:t>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7FF056-5AAD-9C5C-2A0A-CE7DDDC38F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4088" y="2393687"/>
            <a:ext cx="373259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 Accuracy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Predicted values closely match actual data, indicating strong model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Predictive Utility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Reliable forecasts support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 for health interventions and resource allocation.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8FBA4-4E75-4B99-6FB0-0E968F066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79" y="1828799"/>
            <a:ext cx="8035833" cy="482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5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0754-19AD-2911-554F-BBDD789E2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/>
              <a:t>Confusion matrix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FF0CD86-A838-E32E-F513-5D917F26A2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High True Negative Rate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Majority of negative cases correctly identified (41 out of 50).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Low False Negative Count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Only 2 actual positives missed, indicating good sensitivity.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Balanced Performance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Model shows reasonable precision and recall, suitable for deployment with minor tuning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ACF712-7E67-880E-6381-1FA217EFC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183585"/>
            <a:ext cx="6072188" cy="382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1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75B367F-F288-CB18-B42F-26A9AC15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1069848"/>
            <a:ext cx="5183188" cy="479120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Business utility (for the health facility management): </a:t>
            </a:r>
          </a:p>
          <a:p>
            <a:pPr marL="1371600" lvl="2" indent="-457200">
              <a:buFont typeface="+mj-lt"/>
              <a:buAutoNum type="romanUcPeriod"/>
            </a:pPr>
            <a:r>
              <a:rPr lang="en-US" dirty="0"/>
              <a:t>Resource allocation. This include things like drugs, test kits and nets</a:t>
            </a:r>
          </a:p>
          <a:p>
            <a:pPr marL="1371600" lvl="2" indent="-457200">
              <a:buFont typeface="+mj-lt"/>
              <a:buAutoNum type="romanUcPeriod"/>
            </a:pPr>
            <a:r>
              <a:rPr lang="en-US" dirty="0"/>
              <a:t>Prepositioning of response supplies ahead of an outbreak or upsurge in cases</a:t>
            </a:r>
          </a:p>
          <a:p>
            <a:pPr marL="1371600" lvl="2" indent="-457200">
              <a:buFont typeface="+mj-lt"/>
              <a:buAutoNum type="romanUcPeriod"/>
            </a:pPr>
            <a:r>
              <a:rPr lang="en-US" dirty="0"/>
              <a:t>Timing  of interventions such as insecticide spraying and net distribution. </a:t>
            </a:r>
          </a:p>
          <a:p>
            <a:pPr marL="1371600" lvl="2" indent="-457200">
              <a:buFont typeface="+mj-lt"/>
              <a:buAutoNum type="romanUcPeriod"/>
            </a:pPr>
            <a:r>
              <a:rPr lang="en-US" dirty="0"/>
              <a:t>Evaluate impact of interventions in averting high morbidity. </a:t>
            </a:r>
          </a:p>
          <a:p>
            <a:pPr marL="1371600" lvl="2" indent="-457200">
              <a:buFont typeface="+mj-lt"/>
              <a:buAutoNum type="romanUcPeriod"/>
            </a:pPr>
            <a:r>
              <a:rPr lang="en-US" dirty="0"/>
              <a:t>Operational logistics: Human resources, vehicles, fuel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40881F-B152-7F0A-B723-8D63A5773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6950"/>
            <a:ext cx="6172200" cy="510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842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923CD-2B56-8DA4-4F84-0BC39156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E5B6D-E713-3EAE-D2E2-25BC701EB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56232"/>
            <a:ext cx="10691265" cy="37398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1. Invest in Electronic Medical Records (EMRs)</a:t>
            </a:r>
          </a:p>
          <a:p>
            <a:pPr lvl="1"/>
            <a:r>
              <a:rPr lang="en-US" b="1" dirty="0"/>
              <a:t>Why</a:t>
            </a:r>
            <a:r>
              <a:rPr lang="en-US" dirty="0"/>
              <a:t>: Real-time malaria case counts are essential for accurate forecasting and timely alerts.</a:t>
            </a:r>
          </a:p>
          <a:p>
            <a:pPr lvl="1"/>
            <a:r>
              <a:rPr lang="en-US" b="1" dirty="0"/>
              <a:t>Recommendation</a:t>
            </a:r>
            <a:r>
              <a:rPr lang="en-US" dirty="0"/>
              <a:t>: Deploy EMRs in high-burden facilities starting with Kakuma, integrated with DHIS2 and the predictive model.</a:t>
            </a:r>
          </a:p>
          <a:p>
            <a:pPr lvl="1"/>
            <a:r>
              <a:rPr lang="en-US" b="1" dirty="0"/>
              <a:t>Impact</a:t>
            </a:r>
            <a:r>
              <a:rPr lang="en-US" dirty="0"/>
              <a:t>: Enables automated data ingestion, reduces reporting delays, and improves model responsiveness.</a:t>
            </a:r>
          </a:p>
          <a:p>
            <a:pPr marL="0" indent="0">
              <a:buNone/>
            </a:pPr>
            <a:r>
              <a:rPr lang="en-US" b="1" dirty="0"/>
              <a:t>2. Upgrade to Deep Learning Models</a:t>
            </a:r>
          </a:p>
          <a:p>
            <a:pPr lvl="1"/>
            <a:r>
              <a:rPr lang="en-US" b="1" dirty="0"/>
              <a:t>Why</a:t>
            </a:r>
            <a:r>
              <a:rPr lang="en-US" dirty="0"/>
              <a:t>: Daily case counts allow for finer-grained predictions and anomaly detection.</a:t>
            </a:r>
          </a:p>
          <a:p>
            <a:pPr lvl="1"/>
            <a:r>
              <a:rPr lang="en-US" b="1" dirty="0"/>
              <a:t>Recommendation</a:t>
            </a:r>
            <a:r>
              <a:rPr lang="en-US" dirty="0"/>
              <a:t>: Experiment with LSTM or Temporal Fusion Transformers for time-series forecasting.</a:t>
            </a:r>
          </a:p>
          <a:p>
            <a:pPr lvl="1"/>
            <a:r>
              <a:rPr lang="en-US" b="1" dirty="0"/>
              <a:t>Impact</a:t>
            </a:r>
            <a:r>
              <a:rPr lang="en-US" dirty="0"/>
              <a:t>: Captures complex temporal patterns and improves early warning accuracy.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914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173BC-2617-5DBC-C2E0-44A0667F7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731520"/>
            <a:ext cx="10691265" cy="5449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Strengthen Multiagency Collaboration</a:t>
            </a:r>
          </a:p>
          <a:p>
            <a:pPr lvl="1"/>
            <a:r>
              <a:rPr lang="en-US" b="1" dirty="0"/>
              <a:t>Why</a:t>
            </a:r>
            <a:r>
              <a:rPr lang="en-US" dirty="0"/>
              <a:t>: Weather and environmental data are critical predictors.</a:t>
            </a:r>
          </a:p>
          <a:p>
            <a:pPr lvl="1"/>
            <a:r>
              <a:rPr lang="en-US" b="1" dirty="0"/>
              <a:t>Recommendation</a:t>
            </a:r>
            <a:r>
              <a:rPr lang="en-US" dirty="0"/>
              <a:t>: Formalize data-sharing agreements with: </a:t>
            </a:r>
          </a:p>
          <a:p>
            <a:pPr lvl="2"/>
            <a:r>
              <a:rPr lang="en-US" b="1" dirty="0"/>
              <a:t>Kenya Meteorological Department</a:t>
            </a:r>
            <a:r>
              <a:rPr lang="en-US" dirty="0"/>
              <a:t> (real-time weather)</a:t>
            </a:r>
          </a:p>
          <a:p>
            <a:pPr lvl="2"/>
            <a:r>
              <a:rPr lang="en-US" b="1" dirty="0"/>
              <a:t>Kenya Space Agency</a:t>
            </a:r>
            <a:r>
              <a:rPr lang="en-US" dirty="0"/>
              <a:t> (satellite imagery, vegetation indices)</a:t>
            </a:r>
          </a:p>
          <a:p>
            <a:pPr lvl="1"/>
            <a:r>
              <a:rPr lang="en-US" b="1" dirty="0"/>
              <a:t>Impact</a:t>
            </a:r>
            <a:r>
              <a:rPr lang="en-US" dirty="0"/>
              <a:t>: Enhances model inputs and supports geospatial risk mapping.</a:t>
            </a:r>
          </a:p>
          <a:p>
            <a:pPr marL="0" indent="0">
              <a:buNone/>
            </a:pPr>
            <a:r>
              <a:rPr lang="en-US" b="1" dirty="0"/>
              <a:t>4. Add Geospatial Visualization</a:t>
            </a:r>
          </a:p>
          <a:p>
            <a:pPr lvl="1"/>
            <a:r>
              <a:rPr lang="en-US" b="1" dirty="0"/>
              <a:t>Why</a:t>
            </a:r>
            <a:r>
              <a:rPr lang="en-US" dirty="0"/>
              <a:t>: Maps help localize outbreaks and guide targeted interventions.</a:t>
            </a:r>
          </a:p>
          <a:p>
            <a:pPr lvl="1"/>
            <a:r>
              <a:rPr lang="en-US" b="1" dirty="0"/>
              <a:t>Recommendation</a:t>
            </a:r>
            <a:r>
              <a:rPr lang="en-US" dirty="0"/>
              <a:t>: Integrate GIS tools to display predicted hotspots by ward or village.</a:t>
            </a:r>
          </a:p>
          <a:p>
            <a:pPr lvl="1"/>
            <a:r>
              <a:rPr lang="en-US" b="1" dirty="0"/>
              <a:t>Impact</a:t>
            </a:r>
            <a:r>
              <a:rPr lang="en-US" dirty="0"/>
              <a:t>: Improves decision-making for vector control and resource deployment.</a:t>
            </a:r>
          </a:p>
          <a:p>
            <a:pPr marL="0" indent="0">
              <a:buNone/>
            </a:pPr>
            <a:r>
              <a:rPr lang="en-US" b="1" dirty="0"/>
              <a:t>5. Incorporate Satellite Imagery</a:t>
            </a:r>
          </a:p>
          <a:p>
            <a:pPr lvl="1"/>
            <a:r>
              <a:rPr lang="en-US" b="1" dirty="0"/>
              <a:t>Why</a:t>
            </a:r>
            <a:r>
              <a:rPr lang="en-US" dirty="0"/>
              <a:t>: Vegetation indices (e.g., NDVI) correlate with mosquito habitats.</a:t>
            </a:r>
          </a:p>
          <a:p>
            <a:pPr lvl="1"/>
            <a:r>
              <a:rPr lang="en-US" b="1" dirty="0"/>
              <a:t>Recommendation</a:t>
            </a:r>
            <a:r>
              <a:rPr lang="en-US" dirty="0"/>
              <a:t>: Use open satellite data (e.g., Sentinel, MODIS) to enrich environmental features.</a:t>
            </a:r>
          </a:p>
          <a:p>
            <a:pPr lvl="1"/>
            <a:r>
              <a:rPr lang="en-US" b="1" dirty="0"/>
              <a:t>Impact</a:t>
            </a:r>
            <a:r>
              <a:rPr lang="en-US" dirty="0"/>
              <a:t>: Adds spatial depth to predictions and supports proactive planning.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025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8E022-37B4-0623-D37B-A998D8E44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777240"/>
            <a:ext cx="10691265" cy="53949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6. Build an Alert System</a:t>
            </a:r>
          </a:p>
          <a:p>
            <a:pPr lvl="1"/>
            <a:r>
              <a:rPr lang="en-US" b="1" dirty="0"/>
              <a:t>Why</a:t>
            </a:r>
            <a:r>
              <a:rPr lang="en-US" dirty="0"/>
              <a:t>: Timely alerts enable rapid response.</a:t>
            </a:r>
          </a:p>
          <a:p>
            <a:pPr lvl="1"/>
            <a:r>
              <a:rPr lang="en-US" b="1" dirty="0"/>
              <a:t>Recommendation</a:t>
            </a:r>
            <a:r>
              <a:rPr lang="en-US" dirty="0"/>
              <a:t>: Develop an SMS/email alert system linked to model outputs.</a:t>
            </a:r>
          </a:p>
          <a:p>
            <a:pPr lvl="1"/>
            <a:r>
              <a:rPr lang="en-US" b="1" dirty="0"/>
              <a:t>Impact</a:t>
            </a:r>
            <a:r>
              <a:rPr lang="en-US" dirty="0"/>
              <a:t>: Notifies health managers and CHWs of predicted spikes for early action.</a:t>
            </a:r>
          </a:p>
          <a:p>
            <a:pPr marL="0" indent="0">
              <a:buNone/>
            </a:pPr>
            <a:r>
              <a:rPr lang="en-US" b="1" dirty="0"/>
              <a:t>7. Draft Operational SOPs</a:t>
            </a:r>
          </a:p>
          <a:p>
            <a:pPr lvl="1"/>
            <a:r>
              <a:rPr lang="en-US" b="1" dirty="0"/>
              <a:t>Why</a:t>
            </a:r>
            <a:r>
              <a:rPr lang="en-US" dirty="0"/>
              <a:t>: Alerts must trigger structured responses.</a:t>
            </a:r>
          </a:p>
          <a:p>
            <a:pPr lvl="1"/>
            <a:r>
              <a:rPr lang="en-US" b="1" dirty="0"/>
              <a:t>Recommendation</a:t>
            </a:r>
            <a:r>
              <a:rPr lang="en-US" dirty="0"/>
              <a:t>: Create SOPs for: </a:t>
            </a:r>
          </a:p>
          <a:p>
            <a:pPr lvl="2"/>
            <a:r>
              <a:rPr lang="en-US" dirty="0"/>
              <a:t>Resource prepositioning</a:t>
            </a:r>
          </a:p>
          <a:p>
            <a:pPr lvl="2"/>
            <a:r>
              <a:rPr lang="en-US" dirty="0"/>
              <a:t>CHW mobilization</a:t>
            </a:r>
          </a:p>
          <a:p>
            <a:pPr lvl="2"/>
            <a:r>
              <a:rPr lang="en-US" dirty="0"/>
              <a:t>Outbreak response protocols</a:t>
            </a:r>
          </a:p>
          <a:p>
            <a:pPr lvl="1"/>
            <a:r>
              <a:rPr lang="en-US" b="1" dirty="0"/>
              <a:t>Impact</a:t>
            </a:r>
            <a:r>
              <a:rPr lang="en-US" dirty="0"/>
              <a:t>: Ensures consistency and accountability in response efforts.</a:t>
            </a:r>
          </a:p>
          <a:p>
            <a:pPr marL="0" indent="0">
              <a:buNone/>
            </a:pPr>
            <a:r>
              <a:rPr lang="en-US" b="1" dirty="0"/>
              <a:t>8. Translate Insights for CHWs</a:t>
            </a:r>
          </a:p>
          <a:p>
            <a:pPr lvl="1"/>
            <a:r>
              <a:rPr lang="en-US" b="1" dirty="0"/>
              <a:t>Why</a:t>
            </a:r>
            <a:r>
              <a:rPr lang="en-US" dirty="0"/>
              <a:t>: CHWs are frontline responders.</a:t>
            </a:r>
          </a:p>
          <a:p>
            <a:pPr lvl="1"/>
            <a:r>
              <a:rPr lang="en-US" b="1" dirty="0"/>
              <a:t>Recommendation</a:t>
            </a:r>
            <a:r>
              <a:rPr lang="en-US" dirty="0"/>
              <a:t>: Simplify model outputs into actionable messages (e.g., “Expect spike in week 21—prepare for outreach”).</a:t>
            </a:r>
          </a:p>
          <a:p>
            <a:pPr lvl="1"/>
            <a:r>
              <a:rPr lang="en-US" b="1" dirty="0"/>
              <a:t>Impact</a:t>
            </a:r>
            <a:r>
              <a:rPr lang="en-US" dirty="0"/>
              <a:t>: Empowers CHWs to act early and reduce morbidity.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259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CF4CA8-D7A5-C6A4-AA4E-BD2C115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en-US" sz="3600"/>
              <a:t>Thank you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61F25C-1991-F70A-2839-B454958DA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/>
              <a:t>Malaria does not have to be deadly. Timely interventions can reduce disease burden and mortality. Predictive disease models can help us intervene better.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sz="1400"/>
              <a:t>Collaborators: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1400"/>
              <a:t>Hezron </a:t>
            </a:r>
            <a:r>
              <a:rPr lang="en-US" sz="1400" err="1"/>
              <a:t>Rumenya</a:t>
            </a:r>
            <a:endParaRPr lang="en-US" sz="1400"/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1400"/>
              <a:t>Joackim </a:t>
            </a:r>
            <a:r>
              <a:rPr lang="en-US" sz="1400" err="1"/>
              <a:t>Kisienya</a:t>
            </a:r>
            <a:r>
              <a:rPr lang="en-US" sz="1400"/>
              <a:t> 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1400"/>
              <a:t>Eric </a:t>
            </a:r>
            <a:r>
              <a:rPr lang="en-US" sz="1400" err="1"/>
              <a:t>Ongau</a:t>
            </a:r>
            <a:endParaRPr lang="en-US" sz="1400"/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1400"/>
              <a:t>Lynn Kyalo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1400"/>
              <a:t>Newton Njeri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1400"/>
              <a:t>Joy Sila</a:t>
            </a:r>
          </a:p>
        </p:txBody>
      </p:sp>
      <p:pic>
        <p:nvPicPr>
          <p:cNvPr id="5" name="Content Placeholder 4" descr="A person holding a baby&#10;&#10;AI-generated content may be incorrect.">
            <a:extLst>
              <a:ext uri="{FF2B5EF4-FFF2-40B4-BE49-F238E27FC236}">
                <a16:creationId xmlns:a16="http://schemas.microsoft.com/office/drawing/2014/main" id="{54FFDE2F-41D7-7C57-B30F-D206B2977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9707" b="2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94038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</TotalTime>
  <Words>1625</Words>
  <Application>Microsoft Office PowerPoint</Application>
  <PresentationFormat>Widescreen</PresentationFormat>
  <Paragraphs>228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Calisto MT</vt:lpstr>
      <vt:lpstr>Univers Condensed</vt:lpstr>
      <vt:lpstr>ChronicleVTI</vt:lpstr>
      <vt:lpstr>Malaria Predictive model</vt:lpstr>
      <vt:lpstr>Business understanding</vt:lpstr>
      <vt:lpstr>Data understanding </vt:lpstr>
      <vt:lpstr>Data preparation</vt:lpstr>
      <vt:lpstr>Malaria trends</vt:lpstr>
      <vt:lpstr>Seasonal profile graph</vt:lpstr>
      <vt:lpstr>Anomaly heatmap</vt:lpstr>
      <vt:lpstr>Correlation analysis</vt:lpstr>
      <vt:lpstr>Autocorrelation </vt:lpstr>
      <vt:lpstr>Seasonal decomposition</vt:lpstr>
      <vt:lpstr>Feature engineering and tuning</vt:lpstr>
      <vt:lpstr>PowerPoint Presentation</vt:lpstr>
      <vt:lpstr>MODELS</vt:lpstr>
      <vt:lpstr>Final Model performance</vt:lpstr>
      <vt:lpstr>Time-Series: Actual vs. Predicted - RandomForest </vt:lpstr>
      <vt:lpstr>Confusion matrix</vt:lpstr>
      <vt:lpstr>PowerPoint Presentation</vt:lpstr>
      <vt:lpstr>Recommendations</vt:lpstr>
      <vt:lpstr>PowerPoint Presentation</vt:lpstr>
      <vt:lpstr>PowerPoint Presentation</vt:lpstr>
      <vt:lpstr>Thank you</vt:lpstr>
    </vt:vector>
  </TitlesOfParts>
  <Company>International Rescue Committee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Sila Monthe</dc:creator>
  <cp:lastModifiedBy>Sila Monthe</cp:lastModifiedBy>
  <cp:revision>6</cp:revision>
  <dcterms:created xsi:type="dcterms:W3CDTF">2025-10-02T12:06:56Z</dcterms:created>
  <dcterms:modified xsi:type="dcterms:W3CDTF">2025-10-07T07:32:13Z</dcterms:modified>
</cp:coreProperties>
</file>